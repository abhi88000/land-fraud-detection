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7"/>
  </p:notesMasterIdLst>
  <p:sldIdLst>
    <p:sldId id="2147472470" r:id="rId5"/>
    <p:sldId id="2147472465" r:id="rId6"/>
    <p:sldId id="2147472473" r:id="rId7"/>
    <p:sldId id="2147472480" r:id="rId8"/>
    <p:sldId id="2147472474" r:id="rId9"/>
    <p:sldId id="2147472481" r:id="rId10"/>
    <p:sldId id="2147472478" r:id="rId11"/>
    <p:sldId id="2147472472" r:id="rId12"/>
    <p:sldId id="2147472475" r:id="rId13"/>
    <p:sldId id="2147472479" r:id="rId14"/>
    <p:sldId id="2147472476" r:id="rId15"/>
    <p:sldId id="214747245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231F20"/>
    <a:srgbClr val="FFFFFF"/>
    <a:srgbClr val="00B290"/>
    <a:srgbClr val="A8D7CD"/>
    <a:srgbClr val="D9E7DA"/>
    <a:srgbClr val="0A311F"/>
    <a:srgbClr val="7E7E7E"/>
    <a:srgbClr val="97339C"/>
    <a:srgbClr val="DF99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6C0226-58D1-4F56-A0E0-AA8CCFF0B2B1}" v="1" dt="2026-04-16T08:30:09.237"/>
  </p1510:revLst>
</p1510:revInfo>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93" d="100"/>
          <a:sy n="93" d="100"/>
        </p:scale>
        <p:origin x="1236"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4FE3AF-F850-4C66-93E7-70DB69EDB487}" type="datetimeFigureOut">
              <a:rPr lang="en-US" smtClean="0"/>
              <a:t>5/17/2026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55CBFA-39D1-42DF-A1B2-39C35E935944}" type="slidenum">
              <a:rPr lang="en-US" smtClean="0"/>
              <a:t>‹#›</a:t>
            </a:fld>
            <a:endParaRPr lang="en-US"/>
          </a:p>
        </p:txBody>
      </p:sp>
    </p:spTree>
    <p:extLst>
      <p:ext uri="{BB962C8B-B14F-4D97-AF65-F5344CB8AC3E}">
        <p14:creationId xmlns:p14="http://schemas.microsoft.com/office/powerpoint/2010/main" val="2770852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55CBFA-39D1-42DF-A1B2-39C35E935944}" type="slidenum">
              <a:rPr lang="en-US" smtClean="0"/>
              <a:t>4</a:t>
            </a:fld>
            <a:endParaRPr lang="en-US"/>
          </a:p>
        </p:txBody>
      </p:sp>
    </p:spTree>
    <p:extLst>
      <p:ext uri="{BB962C8B-B14F-4D97-AF65-F5344CB8AC3E}">
        <p14:creationId xmlns:p14="http://schemas.microsoft.com/office/powerpoint/2010/main" val="904713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688B0907-4CBE-439B-8700-0D37AEB90FDF}"/>
              </a:ext>
            </a:extLst>
          </p:cNvPr>
          <p:cNvSpPr>
            <a:spLocks noGrp="1"/>
          </p:cNvSpPr>
          <p:nvPr>
            <p:ph type="body" sz="quarter" idx="10" hasCustomPrompt="1"/>
          </p:nvPr>
        </p:nvSpPr>
        <p:spPr>
          <a:xfrm>
            <a:off x="392275" y="392275"/>
            <a:ext cx="11407450" cy="466142"/>
          </a:xfrm>
          <a:prstGeom prst="rect">
            <a:avLst/>
          </a:prstGeom>
        </p:spPr>
        <p:txBody>
          <a:bodyPr anchor="b"/>
          <a:lstStyle>
            <a:lvl1pPr marL="0" indent="0">
              <a:buNone/>
              <a:defRPr sz="2400" b="1">
                <a:solidFill>
                  <a:schemeClr val="accent1"/>
                </a:solidFill>
              </a:defRPr>
            </a:lvl1pPr>
          </a:lstStyle>
          <a:p>
            <a:pPr lvl="0"/>
            <a:r>
              <a:rPr lang="en-US"/>
              <a:t>Lorem Ipsum</a:t>
            </a:r>
            <a:endParaRPr lang="en-US" sz="2400" b="1">
              <a:latin typeface="+mn-lt"/>
            </a:endParaRPr>
          </a:p>
        </p:txBody>
      </p:sp>
      <p:sp>
        <p:nvSpPr>
          <p:cNvPr id="11" name="Text Placeholder 9">
            <a:extLst>
              <a:ext uri="{FF2B5EF4-FFF2-40B4-BE49-F238E27FC236}">
                <a16:creationId xmlns:a16="http://schemas.microsoft.com/office/drawing/2014/main" id="{657BC288-75F7-4300-9EE1-798FF8AE08DB}"/>
              </a:ext>
            </a:extLst>
          </p:cNvPr>
          <p:cNvSpPr>
            <a:spLocks noGrp="1"/>
          </p:cNvSpPr>
          <p:nvPr>
            <p:ph type="body" sz="quarter" idx="11"/>
          </p:nvPr>
        </p:nvSpPr>
        <p:spPr>
          <a:xfrm>
            <a:off x="392113" y="858839"/>
            <a:ext cx="11407612" cy="354142"/>
          </a:xfrm>
          <a:prstGeom prst="rect">
            <a:avLst/>
          </a:prstGeom>
        </p:spPr>
        <p:txBody>
          <a:bodyPr/>
          <a:lstStyle>
            <a:lvl1pPr marL="0" indent="0">
              <a:buNone/>
              <a:defRPr sz="1200">
                <a:solidFill>
                  <a:schemeClr val="tx1"/>
                </a:solidFill>
              </a:defRPr>
            </a:lvl1pPr>
          </a:lstStyle>
          <a:p>
            <a:pPr lvl="0"/>
            <a:endParaRPr lang="en-US" sz="1200">
              <a:solidFill>
                <a:srgbClr val="FF0000"/>
              </a:solidFill>
              <a:latin typeface="+mn-lt"/>
            </a:endParaRPr>
          </a:p>
        </p:txBody>
      </p:sp>
      <p:sp>
        <p:nvSpPr>
          <p:cNvPr id="12" name="object 20">
            <a:extLst>
              <a:ext uri="{FF2B5EF4-FFF2-40B4-BE49-F238E27FC236}">
                <a16:creationId xmlns:a16="http://schemas.microsoft.com/office/drawing/2014/main" id="{399DCF9B-81F9-44F4-9056-80D387D5DC09}"/>
              </a:ext>
            </a:extLst>
          </p:cNvPr>
          <p:cNvSpPr/>
          <p:nvPr userDrawn="1"/>
        </p:nvSpPr>
        <p:spPr>
          <a:xfrm>
            <a:off x="12053065" y="2832016"/>
            <a:ext cx="138935" cy="1153909"/>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0C0"/>
          </a:solidFill>
        </p:spPr>
        <p:txBody>
          <a:bodyPr wrap="square" lIns="0" tIns="0" rIns="0" bIns="0" rtlCol="0"/>
          <a:lstStyle/>
          <a:p>
            <a:endParaRPr sz="2400"/>
          </a:p>
        </p:txBody>
      </p:sp>
      <p:sp>
        <p:nvSpPr>
          <p:cNvPr id="13" name="object 9">
            <a:extLst>
              <a:ext uri="{FF2B5EF4-FFF2-40B4-BE49-F238E27FC236}">
                <a16:creationId xmlns:a16="http://schemas.microsoft.com/office/drawing/2014/main" id="{50B0E59B-EE2C-46B0-A3CA-0265F30986DD}"/>
              </a:ext>
            </a:extLst>
          </p:cNvPr>
          <p:cNvSpPr/>
          <p:nvPr userDrawn="1"/>
        </p:nvSpPr>
        <p:spPr>
          <a:xfrm>
            <a:off x="-11893" y="2832016"/>
            <a:ext cx="138935" cy="1153909"/>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0C0"/>
          </a:solidFill>
        </p:spPr>
        <p:txBody>
          <a:bodyPr wrap="square" lIns="0" tIns="0" rIns="0" bIns="0" rtlCol="0"/>
          <a:lstStyle/>
          <a:p>
            <a:endParaRPr sz="2400"/>
          </a:p>
        </p:txBody>
      </p:sp>
    </p:spTree>
    <p:extLst>
      <p:ext uri="{BB962C8B-B14F-4D97-AF65-F5344CB8AC3E}">
        <p14:creationId xmlns:p14="http://schemas.microsoft.com/office/powerpoint/2010/main" val="4025990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harts1">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688B0907-4CBE-439B-8700-0D37AEB90FDF}"/>
              </a:ext>
            </a:extLst>
          </p:cNvPr>
          <p:cNvSpPr>
            <a:spLocks noGrp="1"/>
          </p:cNvSpPr>
          <p:nvPr>
            <p:ph type="body" sz="quarter" idx="10" hasCustomPrompt="1"/>
          </p:nvPr>
        </p:nvSpPr>
        <p:spPr>
          <a:xfrm>
            <a:off x="392275" y="392275"/>
            <a:ext cx="11407450" cy="466142"/>
          </a:xfrm>
          <a:prstGeom prst="rect">
            <a:avLst/>
          </a:prstGeom>
        </p:spPr>
        <p:txBody>
          <a:bodyPr anchor="b"/>
          <a:lstStyle>
            <a:lvl1pPr marL="0" indent="0">
              <a:buNone/>
              <a:defRPr sz="2400" b="1"/>
            </a:lvl1pPr>
          </a:lstStyle>
          <a:p>
            <a:pPr lvl="0"/>
            <a:r>
              <a:rPr lang="en-US"/>
              <a:t>Lorem Ipsum</a:t>
            </a:r>
            <a:endParaRPr lang="en-US" sz="2400" b="1">
              <a:latin typeface="+mn-lt"/>
            </a:endParaRPr>
          </a:p>
        </p:txBody>
      </p:sp>
      <p:sp>
        <p:nvSpPr>
          <p:cNvPr id="11" name="Text Placeholder 9">
            <a:extLst>
              <a:ext uri="{FF2B5EF4-FFF2-40B4-BE49-F238E27FC236}">
                <a16:creationId xmlns:a16="http://schemas.microsoft.com/office/drawing/2014/main" id="{657BC288-75F7-4300-9EE1-798FF8AE08DB}"/>
              </a:ext>
            </a:extLst>
          </p:cNvPr>
          <p:cNvSpPr>
            <a:spLocks noGrp="1"/>
          </p:cNvSpPr>
          <p:nvPr>
            <p:ph type="body" sz="quarter" idx="11"/>
          </p:nvPr>
        </p:nvSpPr>
        <p:spPr>
          <a:xfrm>
            <a:off x="392113" y="858839"/>
            <a:ext cx="11407612" cy="354142"/>
          </a:xfrm>
          <a:prstGeom prst="rect">
            <a:avLst/>
          </a:prstGeom>
        </p:spPr>
        <p:txBody>
          <a:bodyPr/>
          <a:lstStyle>
            <a:lvl1pPr marL="0" indent="0">
              <a:buNone/>
              <a:defRPr sz="1200">
                <a:solidFill>
                  <a:schemeClr val="tx1"/>
                </a:solidFill>
              </a:defRPr>
            </a:lvl1pPr>
          </a:lstStyle>
          <a:p>
            <a:pPr lvl="0"/>
            <a:endParaRPr lang="en-US" sz="1200">
              <a:solidFill>
                <a:srgbClr val="FF0000"/>
              </a:solidFill>
              <a:latin typeface="+mn-lt"/>
            </a:endParaRPr>
          </a:p>
        </p:txBody>
      </p:sp>
      <p:sp>
        <p:nvSpPr>
          <p:cNvPr id="13" name="object 9">
            <a:extLst>
              <a:ext uri="{FF2B5EF4-FFF2-40B4-BE49-F238E27FC236}">
                <a16:creationId xmlns:a16="http://schemas.microsoft.com/office/drawing/2014/main" id="{50B0E59B-EE2C-46B0-A3CA-0265F30986DD}"/>
              </a:ext>
            </a:extLst>
          </p:cNvPr>
          <p:cNvSpPr/>
          <p:nvPr userDrawn="1"/>
        </p:nvSpPr>
        <p:spPr>
          <a:xfrm>
            <a:off x="-11893" y="2832016"/>
            <a:ext cx="138935" cy="1153909"/>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0C0"/>
          </a:solidFill>
        </p:spPr>
        <p:txBody>
          <a:bodyPr wrap="square" lIns="0" tIns="0" rIns="0" bIns="0" rtlCol="0"/>
          <a:lstStyle/>
          <a:p>
            <a:endParaRPr sz="2400"/>
          </a:p>
        </p:txBody>
      </p:sp>
      <p:sp>
        <p:nvSpPr>
          <p:cNvPr id="36" name="Chart Placeholder 35">
            <a:extLst>
              <a:ext uri="{FF2B5EF4-FFF2-40B4-BE49-F238E27FC236}">
                <a16:creationId xmlns:a16="http://schemas.microsoft.com/office/drawing/2014/main" id="{BA8D233A-A66A-AA8F-6C52-9C29A4EB9106}"/>
              </a:ext>
            </a:extLst>
          </p:cNvPr>
          <p:cNvSpPr>
            <a:spLocks noGrp="1"/>
          </p:cNvSpPr>
          <p:nvPr>
            <p:ph type="chart" sz="quarter" idx="12"/>
          </p:nvPr>
        </p:nvSpPr>
        <p:spPr>
          <a:xfrm>
            <a:off x="1586374" y="2445824"/>
            <a:ext cx="3527425" cy="2743200"/>
          </a:xfrm>
          <a:prstGeom prst="rect">
            <a:avLst/>
          </a:prstGeom>
        </p:spPr>
        <p:txBody>
          <a:bodyPr/>
          <a:lstStyle/>
          <a:p>
            <a:endParaRPr lang="en-US"/>
          </a:p>
        </p:txBody>
      </p:sp>
      <p:sp>
        <p:nvSpPr>
          <p:cNvPr id="37" name="Chart Placeholder 35">
            <a:extLst>
              <a:ext uri="{FF2B5EF4-FFF2-40B4-BE49-F238E27FC236}">
                <a16:creationId xmlns:a16="http://schemas.microsoft.com/office/drawing/2014/main" id="{E09244C1-74C9-1FD0-D397-A940077A818A}"/>
              </a:ext>
            </a:extLst>
          </p:cNvPr>
          <p:cNvSpPr>
            <a:spLocks noGrp="1"/>
          </p:cNvSpPr>
          <p:nvPr>
            <p:ph type="chart" sz="quarter" idx="13"/>
          </p:nvPr>
        </p:nvSpPr>
        <p:spPr>
          <a:xfrm>
            <a:off x="7466247" y="2445824"/>
            <a:ext cx="3527425" cy="2743200"/>
          </a:xfrm>
          <a:prstGeom prst="rect">
            <a:avLst/>
          </a:prstGeom>
        </p:spPr>
        <p:txBody>
          <a:bodyPr/>
          <a:lstStyle/>
          <a:p>
            <a:endParaRPr lang="en-US"/>
          </a:p>
        </p:txBody>
      </p:sp>
    </p:spTree>
    <p:extLst>
      <p:ext uri="{BB962C8B-B14F-4D97-AF65-F5344CB8AC3E}">
        <p14:creationId xmlns:p14="http://schemas.microsoft.com/office/powerpoint/2010/main" val="3925685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2C3B4-9CD5-C7D3-1FFF-AF9ED65B8140}"/>
              </a:ext>
            </a:extLst>
          </p:cNvPr>
          <p:cNvSpPr>
            <a:spLocks noGrp="1"/>
          </p:cNvSpPr>
          <p:nvPr>
            <p:ph type="ctrTitle"/>
          </p:nvPr>
        </p:nvSpPr>
        <p:spPr>
          <a:xfrm>
            <a:off x="1524000" y="1941287"/>
            <a:ext cx="9144000" cy="1655762"/>
          </a:xfrm>
          <a:prstGeom prst="rect">
            <a:avLst/>
          </a:prstGeom>
        </p:spPr>
        <p:txBody>
          <a:bodyPr anchor="b"/>
          <a:lstStyle>
            <a:lvl1pPr algn="ctr">
              <a:defRPr sz="2800"/>
            </a:lvl1pPr>
          </a:lstStyle>
          <a:p>
            <a:r>
              <a:rPr lang="en-US"/>
              <a:t>Click to edit Master title style</a:t>
            </a:r>
          </a:p>
        </p:txBody>
      </p:sp>
      <p:sp>
        <p:nvSpPr>
          <p:cNvPr id="3" name="Subtitle 2">
            <a:extLst>
              <a:ext uri="{FF2B5EF4-FFF2-40B4-BE49-F238E27FC236}">
                <a16:creationId xmlns:a16="http://schemas.microsoft.com/office/drawing/2014/main" id="{A1CB8FA7-353E-56D0-BF6D-22EB09E049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Text Placeholder 6">
            <a:extLst>
              <a:ext uri="{FF2B5EF4-FFF2-40B4-BE49-F238E27FC236}">
                <a16:creationId xmlns:a16="http://schemas.microsoft.com/office/drawing/2014/main" id="{365EA43A-0F83-C19B-9F7A-5AEEC3349A32}"/>
              </a:ext>
            </a:extLst>
          </p:cNvPr>
          <p:cNvSpPr>
            <a:spLocks noGrp="1"/>
          </p:cNvSpPr>
          <p:nvPr>
            <p:ph type="body" sz="quarter" idx="10" hasCustomPrompt="1"/>
          </p:nvPr>
        </p:nvSpPr>
        <p:spPr>
          <a:xfrm>
            <a:off x="392275" y="392275"/>
            <a:ext cx="11407450" cy="466142"/>
          </a:xfrm>
          <a:prstGeom prst="rect">
            <a:avLst/>
          </a:prstGeom>
        </p:spPr>
        <p:txBody>
          <a:bodyPr anchor="b"/>
          <a:lstStyle>
            <a:lvl1pPr marL="0" indent="0">
              <a:buNone/>
              <a:defRPr sz="2400" b="1"/>
            </a:lvl1pPr>
          </a:lstStyle>
          <a:p>
            <a:pPr lvl="0"/>
            <a:r>
              <a:rPr lang="en-US"/>
              <a:t>Lorem Ipsum</a:t>
            </a:r>
            <a:endParaRPr lang="en-US" sz="2400" b="1">
              <a:latin typeface="+mn-lt"/>
            </a:endParaRPr>
          </a:p>
        </p:txBody>
      </p:sp>
      <p:sp>
        <p:nvSpPr>
          <p:cNvPr id="5" name="Text Placeholder 9">
            <a:extLst>
              <a:ext uri="{FF2B5EF4-FFF2-40B4-BE49-F238E27FC236}">
                <a16:creationId xmlns:a16="http://schemas.microsoft.com/office/drawing/2014/main" id="{5E855A60-CFDE-4F7E-E7A2-0A9B617EA4CA}"/>
              </a:ext>
            </a:extLst>
          </p:cNvPr>
          <p:cNvSpPr>
            <a:spLocks noGrp="1"/>
          </p:cNvSpPr>
          <p:nvPr>
            <p:ph type="body" sz="quarter" idx="11"/>
          </p:nvPr>
        </p:nvSpPr>
        <p:spPr>
          <a:xfrm>
            <a:off x="392113" y="858839"/>
            <a:ext cx="11407612" cy="354142"/>
          </a:xfrm>
          <a:prstGeom prst="rect">
            <a:avLst/>
          </a:prstGeom>
        </p:spPr>
        <p:txBody>
          <a:bodyPr/>
          <a:lstStyle>
            <a:lvl1pPr marL="0" indent="0">
              <a:buNone/>
              <a:defRPr sz="1200">
                <a:solidFill>
                  <a:schemeClr val="tx1"/>
                </a:solidFill>
              </a:defRPr>
            </a:lvl1pPr>
          </a:lstStyle>
          <a:p>
            <a:pPr lvl="0"/>
            <a:endParaRPr lang="en-US" sz="1200">
              <a:solidFill>
                <a:srgbClr val="FF0000"/>
              </a:solidFill>
              <a:latin typeface="+mn-lt"/>
            </a:endParaRPr>
          </a:p>
        </p:txBody>
      </p:sp>
    </p:spTree>
    <p:extLst>
      <p:ext uri="{BB962C8B-B14F-4D97-AF65-F5344CB8AC3E}">
        <p14:creationId xmlns:p14="http://schemas.microsoft.com/office/powerpoint/2010/main" val="936795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8_Custom Layout">
    <p:spTree>
      <p:nvGrpSpPr>
        <p:cNvPr id="1" name=""/>
        <p:cNvGrpSpPr/>
        <p:nvPr/>
      </p:nvGrpSpPr>
      <p:grpSpPr>
        <a:xfrm>
          <a:off x="0" y="0"/>
          <a:ext cx="0" cy="0"/>
          <a:chOff x="0" y="0"/>
          <a:chExt cx="0" cy="0"/>
        </a:xfrm>
      </p:grpSpPr>
      <p:sp>
        <p:nvSpPr>
          <p:cNvPr id="24" name="Shape 40"/>
          <p:cNvSpPr>
            <a:spLocks noGrp="1"/>
          </p:cNvSpPr>
          <p:nvPr>
            <p:ph type="title" hasCustomPrompt="1"/>
          </p:nvPr>
        </p:nvSpPr>
        <p:spPr>
          <a:xfrm>
            <a:off x="1405725" y="1716479"/>
            <a:ext cx="4233863" cy="908189"/>
          </a:xfrm>
          <a:prstGeom prst="rect">
            <a:avLst/>
          </a:prstGeom>
        </p:spPr>
        <p:txBody>
          <a:bodyPr anchor="ctr">
            <a:noAutofit/>
          </a:bodyPr>
          <a:lstStyle>
            <a:lvl1pPr algn="l">
              <a:defRPr sz="2667">
                <a:solidFill>
                  <a:srgbClr val="007CC3"/>
                </a:solidFill>
              </a:defRPr>
            </a:lvl1pPr>
          </a:lstStyle>
          <a:p>
            <a:r>
              <a:rPr lang="en-US"/>
              <a:t>TITLE TEXT</a:t>
            </a:r>
          </a:p>
        </p:txBody>
      </p:sp>
      <p:sp>
        <p:nvSpPr>
          <p:cNvPr id="25" name="Text Placeholder 2"/>
          <p:cNvSpPr txBox="1">
            <a:spLocks/>
          </p:cNvSpPr>
          <p:nvPr userDrawn="1"/>
        </p:nvSpPr>
        <p:spPr>
          <a:xfrm>
            <a:off x="323321" y="6147181"/>
            <a:ext cx="8132273" cy="507664"/>
          </a:xfrm>
          <a:prstGeom prst="rect">
            <a:avLst/>
          </a:prstGeom>
        </p:spPr>
        <p:txBody>
          <a:bodyPr anchor="t">
            <a:noAutofit/>
          </a:bodyPr>
          <a:lstStyle>
            <a:lvl1pPr marL="0" indent="0" algn="just" defTabSz="914400" rtl="0" eaLnBrk="1" latinLnBrk="0" hangingPunct="1">
              <a:lnSpc>
                <a:spcPct val="95000"/>
              </a:lnSpc>
              <a:spcBef>
                <a:spcPts val="0"/>
              </a:spcBef>
              <a:spcAft>
                <a:spcPts val="0"/>
              </a:spcAft>
              <a:buClr>
                <a:schemeClr val="accent1"/>
              </a:buClr>
              <a:buFont typeface="Arial" pitchFamily="34" charset="0"/>
              <a:buNone/>
              <a:defRPr sz="500" b="1" kern="1200" spc="-20" baseline="0">
                <a:solidFill>
                  <a:schemeClr val="bg1"/>
                </a:solidFill>
                <a:latin typeface="Arial" pitchFamily="34" charset="0"/>
                <a:ea typeface="+mn-ea"/>
                <a:cs typeface="Arial" pitchFamily="34" charset="0"/>
              </a:defRPr>
            </a:lvl1pPr>
            <a:lvl2pPr marL="457200" indent="0" algn="l" defTabSz="914400" rtl="0" eaLnBrk="1" latinLnBrk="0" hangingPunct="1">
              <a:lnSpc>
                <a:spcPct val="110000"/>
              </a:lnSpc>
              <a:spcBef>
                <a:spcPts val="600"/>
              </a:spcBef>
              <a:spcAft>
                <a:spcPts val="600"/>
              </a:spcAft>
              <a:buClr>
                <a:schemeClr val="accent1"/>
              </a:buClr>
              <a:buFont typeface="Arial" pitchFamily="34" charset="0"/>
              <a:buNone/>
              <a:defRPr sz="1800" kern="1200">
                <a:solidFill>
                  <a:schemeClr val="tx1">
                    <a:tint val="75000"/>
                  </a:schemeClr>
                </a:solidFill>
                <a:latin typeface="Arial" pitchFamily="34" charset="0"/>
                <a:ea typeface="+mn-ea"/>
                <a:cs typeface="Arial" pitchFamily="34" charset="0"/>
              </a:defRPr>
            </a:lvl2pPr>
            <a:lvl3pPr marL="914400" indent="0" algn="l" defTabSz="914400" rtl="0" eaLnBrk="1" latinLnBrk="0" hangingPunct="1">
              <a:lnSpc>
                <a:spcPct val="110000"/>
              </a:lnSpc>
              <a:spcBef>
                <a:spcPts val="600"/>
              </a:spcBef>
              <a:spcAft>
                <a:spcPts val="600"/>
              </a:spcAft>
              <a:buClr>
                <a:schemeClr val="accent1"/>
              </a:buClr>
              <a:buFont typeface="Arial" pitchFamily="34" charset="0"/>
              <a:buNone/>
              <a:defRPr sz="1600" kern="1200">
                <a:solidFill>
                  <a:schemeClr val="tx1">
                    <a:tint val="75000"/>
                  </a:schemeClr>
                </a:solidFill>
                <a:latin typeface="Arial" pitchFamily="34" charset="0"/>
                <a:ea typeface="+mn-ea"/>
                <a:cs typeface="Arial" pitchFamily="34" charset="0"/>
              </a:defRPr>
            </a:lvl3pPr>
            <a:lvl4pPr marL="13716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4pPr>
            <a:lvl5pPr marL="18288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a:lnSpc>
                <a:spcPct val="100000"/>
              </a:lnSpc>
            </a:pPr>
            <a:r>
              <a:rPr lang="en-US" sz="667" dirty="0">
                <a:solidFill>
                  <a:schemeClr val="tx2">
                    <a:lumMod val="50000"/>
                  </a:schemeClr>
                </a:solidFill>
              </a:rPr>
              <a:t>© 2025 Infosys Limited, Bengaluru, India. All Rights Reserved. Infosys believes the information in this document is accurate as of its publication date; such information is subject to change without notice. Infosys acknowledges the proprietary rights of other companies to the trademarks, product names and such other intellectual property rights mentioned in this document. Except as expressly permitted, neither this documentation nor any part of it may be reproduced, stored in a retrieval system, or transmitted in any form or by any means, electronic, mechanical, printing, photocopying, recording or otherwise, without the prior permission of Infosys Limited and/ or any named intellectual property rights holders under this document.</a:t>
            </a:r>
          </a:p>
        </p:txBody>
      </p:sp>
      <p:grpSp>
        <p:nvGrpSpPr>
          <p:cNvPr id="37" name="Group 36"/>
          <p:cNvGrpSpPr/>
          <p:nvPr userDrawn="1"/>
        </p:nvGrpSpPr>
        <p:grpSpPr>
          <a:xfrm>
            <a:off x="-11894" y="2832016"/>
            <a:ext cx="12215771" cy="1153909"/>
            <a:chOff x="-8920" y="2124012"/>
            <a:chExt cx="9161828" cy="865432"/>
          </a:xfrm>
        </p:grpSpPr>
        <p:sp>
          <p:nvSpPr>
            <p:cNvPr id="38"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39"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41"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sz="2400"/>
            </a:p>
          </p:txBody>
        </p:sp>
        <p:sp>
          <p:nvSpPr>
            <p:cNvPr id="42"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sz="2400"/>
            </a:p>
          </p:txBody>
        </p:sp>
        <p:sp>
          <p:nvSpPr>
            <p:cNvPr id="43"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44"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sz="2400"/>
            </a:p>
          </p:txBody>
        </p:sp>
        <p:sp>
          <p:nvSpPr>
            <p:cNvPr id="45"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46"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47"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48"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sz="2400"/>
            </a:p>
          </p:txBody>
        </p:sp>
        <p:sp>
          <p:nvSpPr>
            <p:cNvPr id="49"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50"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sz="2400"/>
            </a:p>
          </p:txBody>
        </p:sp>
        <p:sp>
          <p:nvSpPr>
            <p:cNvPr id="51"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52"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53"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54"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55"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56"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grpSp>
    </p:spTree>
    <p:extLst>
      <p:ext uri="{BB962C8B-B14F-4D97-AF65-F5344CB8AC3E}">
        <p14:creationId xmlns:p14="http://schemas.microsoft.com/office/powerpoint/2010/main" val="2295924186"/>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5CE8940-3497-8666-9E40-A68813C203DF}"/>
              </a:ext>
            </a:extLst>
          </p:cNvPr>
          <p:cNvSpPr txBox="1">
            <a:spLocks/>
          </p:cNvSpPr>
          <p:nvPr userDrawn="1"/>
        </p:nvSpPr>
        <p:spPr>
          <a:xfrm>
            <a:off x="201892" y="6436450"/>
            <a:ext cx="468287" cy="279401"/>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000" b="0" i="0" u="none" strike="noStrike" cap="none" spc="0" normalizeH="0" baseline="0">
                <a:ln>
                  <a:noFill/>
                </a:ln>
                <a:solidFill>
                  <a:schemeClr val="tx1">
                    <a:lumMod val="75000"/>
                    <a:lumOff val="25000"/>
                  </a:schemeClr>
                </a:solidFill>
                <a:effectLst/>
                <a:uFillTx/>
                <a:latin typeface="Arial" panose="020B0604020202020204" pitchFamily="34" charset="0"/>
                <a:ea typeface="+mn-ea"/>
                <a:cs typeface="Arial" panose="020B0604020202020204" pitchFamily="34" charset="0"/>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lvl="0" indent="0" algn="l" defTabSz="45720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000" b="0" i="0" u="none" strike="noStrike" kern="0" cap="none" spc="0" normalizeH="0" baseline="0" noProof="0" smtClean="0">
                <a:ln>
                  <a:noFill/>
                </a:ln>
                <a:solidFill>
                  <a:srgbClr val="000000">
                    <a:lumMod val="75000"/>
                    <a:lumOff val="25000"/>
                  </a:srgbClr>
                </a:solidFill>
                <a:effectLst/>
                <a:uLnTx/>
                <a:uFillTx/>
                <a:latin typeface="Arial" panose="020B0604020202020204" pitchFamily="34" charset="0"/>
                <a:cs typeface="Arial" panose="020B0604020202020204" pitchFamily="34" charset="0"/>
                <a:sym typeface="Calibri"/>
              </a:rPr>
              <a:pPr marL="0" marR="0" lvl="0" indent="0" algn="l" defTabSz="457200" rtl="0" eaLnBrk="1" fontAlgn="auto" latinLnBrk="0" hangingPunct="0">
                <a:lnSpc>
                  <a:spcPct val="100000"/>
                </a:lnSpc>
                <a:spcBef>
                  <a:spcPts val="0"/>
                </a:spcBef>
                <a:spcAft>
                  <a:spcPts val="0"/>
                </a:spcAft>
                <a:buClrTx/>
                <a:buSzTx/>
                <a:buFontTx/>
                <a:buNone/>
                <a:tabLst/>
                <a:defRPr/>
              </a:pPr>
              <a:t>‹#›</a:t>
            </a:fld>
            <a:endParaRPr kumimoji="0" lang="en-US" sz="1000" b="0" i="0" u="none" strike="noStrike" kern="0" cap="none" spc="0" normalizeH="0" baseline="0" noProof="0">
              <a:ln>
                <a:noFill/>
              </a:ln>
              <a:solidFill>
                <a:srgbClr val="000000">
                  <a:lumMod val="75000"/>
                  <a:lumOff val="25000"/>
                </a:srgbClr>
              </a:solidFill>
              <a:effectLst/>
              <a:uLnTx/>
              <a:uFillTx/>
              <a:latin typeface="Arial" panose="020B0604020202020204" pitchFamily="34" charset="0"/>
              <a:cs typeface="Arial" panose="020B0604020202020204" pitchFamily="34" charset="0"/>
              <a:sym typeface="Calibri"/>
            </a:endParaRPr>
          </a:p>
        </p:txBody>
      </p:sp>
    </p:spTree>
    <p:extLst>
      <p:ext uri="{BB962C8B-B14F-4D97-AF65-F5344CB8AC3E}">
        <p14:creationId xmlns:p14="http://schemas.microsoft.com/office/powerpoint/2010/main" val="2984165296"/>
      </p:ext>
    </p:extLst>
  </p:cSld>
  <p:clrMap bg1="lt1" tx1="dk1" bg2="lt2" tx2="dk2" accent1="accent1" accent2="accent2" accent3="accent3" accent4="accent4" accent5="accent5" accent6="accent6" hlink="hlink" folHlink="folHlink"/>
  <p:sldLayoutIdLst>
    <p:sldLayoutId id="2147483679" r:id="rId1"/>
    <p:sldLayoutId id="2147483654" r:id="rId2"/>
    <p:sldLayoutId id="2147483663" r:id="rId3"/>
    <p:sldLayoutId id="2147483661"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21907ED3-FD1C-F5DF-20B9-A5B7023745B6}"/>
              </a:ext>
            </a:extLst>
          </p:cNvPr>
          <p:cNvSpPr txBox="1"/>
          <p:nvPr/>
        </p:nvSpPr>
        <p:spPr>
          <a:xfrm>
            <a:off x="738667" y="4734599"/>
            <a:ext cx="7991473" cy="707886"/>
          </a:xfrm>
          <a:prstGeom prst="rect">
            <a:avLst/>
          </a:prstGeom>
          <a:noFill/>
        </p:spPr>
        <p:txBody>
          <a:bodyPr wrap="square" lIns="91440" tIns="45720" rIns="91440" bIns="45720" anchor="t">
            <a:spAutoFit/>
          </a:bodyPr>
          <a:lstStyle/>
          <a:p>
            <a:pPr>
              <a:spcAft>
                <a:spcPts val="600"/>
              </a:spcAft>
            </a:pPr>
            <a:r>
              <a:rPr lang="en-US" sz="4000" b="1" dirty="0">
                <a:solidFill>
                  <a:schemeClr val="accent1"/>
                </a:solidFill>
                <a:cs typeface="Arial"/>
              </a:rPr>
              <a:t>Use case Name</a:t>
            </a:r>
          </a:p>
        </p:txBody>
      </p:sp>
      <p:sp>
        <p:nvSpPr>
          <p:cNvPr id="8" name="TextBox 7">
            <a:extLst>
              <a:ext uri="{FF2B5EF4-FFF2-40B4-BE49-F238E27FC236}">
                <a16:creationId xmlns:a16="http://schemas.microsoft.com/office/drawing/2014/main" id="{48DB0072-89F0-196C-07DC-E946E341AA2C}"/>
              </a:ext>
            </a:extLst>
          </p:cNvPr>
          <p:cNvSpPr txBox="1"/>
          <p:nvPr/>
        </p:nvSpPr>
        <p:spPr>
          <a:xfrm>
            <a:off x="3642850" y="1404370"/>
            <a:ext cx="7860889" cy="461665"/>
          </a:xfrm>
          <a:prstGeom prst="rect">
            <a:avLst/>
          </a:prstGeom>
          <a:noFill/>
        </p:spPr>
        <p:txBody>
          <a:bodyPr wrap="square">
            <a:spAutoFit/>
          </a:bodyPr>
          <a:lstStyle/>
          <a:p>
            <a:r>
              <a:rPr lang="en-US" sz="2400" b="1">
                <a:solidFill>
                  <a:schemeClr val="bg1"/>
                </a:solidFill>
              </a:rPr>
              <a:t>Infosys Gemini Hackathon 2024 | Jun 07 – July 16</a:t>
            </a:r>
            <a:endParaRPr lang="en-US" sz="2400"/>
          </a:p>
        </p:txBody>
      </p:sp>
      <p:sp>
        <p:nvSpPr>
          <p:cNvPr id="3" name="object 2">
            <a:extLst>
              <a:ext uri="{FF2B5EF4-FFF2-40B4-BE49-F238E27FC236}">
                <a16:creationId xmlns:a16="http://schemas.microsoft.com/office/drawing/2014/main" id="{87A47855-E47B-C2F2-83C6-7ABDEE2D7B0D}"/>
              </a:ext>
            </a:extLst>
          </p:cNvPr>
          <p:cNvSpPr txBox="1">
            <a:spLocks/>
          </p:cNvSpPr>
          <p:nvPr/>
        </p:nvSpPr>
        <p:spPr>
          <a:xfrm>
            <a:off x="441027" y="956468"/>
            <a:ext cx="5650090" cy="608942"/>
          </a:xfrm>
          <a:prstGeom prst="rect">
            <a:avLst/>
          </a:prstGeom>
        </p:spPr>
        <p:txBody>
          <a:bodyPr vert="horz" wrap="square" lIns="0" tIns="12065" rIns="0" bIns="0" rtlCol="0" anchor="b">
            <a:spAutoFit/>
          </a:bodyPr>
          <a:lstStyle>
            <a:lvl1pPr algn="ctr"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27940">
              <a:lnSpc>
                <a:spcPts val="2430"/>
              </a:lnSpc>
              <a:spcBef>
                <a:spcPts val="95"/>
              </a:spcBef>
            </a:pPr>
            <a:r>
              <a:rPr lang="en-US" dirty="0">
                <a:solidFill>
                  <a:schemeClr val="bg1"/>
                </a:solidFill>
              </a:rPr>
              <a:t>AI</a:t>
            </a:r>
            <a:r>
              <a:rPr lang="en-US" spc="-110" dirty="0">
                <a:solidFill>
                  <a:schemeClr val="bg1"/>
                </a:solidFill>
              </a:rPr>
              <a:t> </a:t>
            </a:r>
            <a:r>
              <a:rPr lang="en-US" dirty="0">
                <a:solidFill>
                  <a:schemeClr val="bg1"/>
                </a:solidFill>
              </a:rPr>
              <a:t>Agents</a:t>
            </a:r>
            <a:r>
              <a:rPr lang="en-US" spc="-20" dirty="0">
                <a:solidFill>
                  <a:schemeClr val="bg1"/>
                </a:solidFill>
              </a:rPr>
              <a:t> </a:t>
            </a:r>
            <a:r>
              <a:rPr lang="en-US" dirty="0">
                <a:solidFill>
                  <a:schemeClr val="bg1"/>
                </a:solidFill>
              </a:rPr>
              <a:t>in</a:t>
            </a:r>
            <a:r>
              <a:rPr lang="en-US" spc="-105" dirty="0">
                <a:solidFill>
                  <a:schemeClr val="bg1"/>
                </a:solidFill>
              </a:rPr>
              <a:t> </a:t>
            </a:r>
            <a:r>
              <a:rPr lang="en-US" spc="-10" dirty="0">
                <a:solidFill>
                  <a:schemeClr val="bg1"/>
                </a:solidFill>
              </a:rPr>
              <a:t>Action</a:t>
            </a:r>
          </a:p>
        </p:txBody>
      </p:sp>
      <p:pic>
        <p:nvPicPr>
          <p:cNvPr id="4" name="object 3">
            <a:extLst>
              <a:ext uri="{FF2B5EF4-FFF2-40B4-BE49-F238E27FC236}">
                <a16:creationId xmlns:a16="http://schemas.microsoft.com/office/drawing/2014/main" id="{52FB5096-038C-76D4-84F9-86BFA7697AB1}"/>
              </a:ext>
            </a:extLst>
          </p:cNvPr>
          <p:cNvPicPr/>
          <p:nvPr/>
        </p:nvPicPr>
        <p:blipFill>
          <a:blip r:embed="rId2" cstate="print"/>
          <a:stretch>
            <a:fillRect/>
          </a:stretch>
        </p:blipFill>
        <p:spPr>
          <a:xfrm>
            <a:off x="583803" y="2688304"/>
            <a:ext cx="309729" cy="371475"/>
          </a:xfrm>
          <a:prstGeom prst="rect">
            <a:avLst/>
          </a:prstGeom>
        </p:spPr>
      </p:pic>
      <p:sp>
        <p:nvSpPr>
          <p:cNvPr id="5" name="object 4">
            <a:extLst>
              <a:ext uri="{FF2B5EF4-FFF2-40B4-BE49-F238E27FC236}">
                <a16:creationId xmlns:a16="http://schemas.microsoft.com/office/drawing/2014/main" id="{8E88646F-8D9A-7361-8E16-579B7076E9DF}"/>
              </a:ext>
            </a:extLst>
          </p:cNvPr>
          <p:cNvSpPr txBox="1"/>
          <p:nvPr/>
        </p:nvSpPr>
        <p:spPr>
          <a:xfrm>
            <a:off x="904174" y="2764981"/>
            <a:ext cx="6869128" cy="191078"/>
          </a:xfrm>
          <a:prstGeom prst="rect">
            <a:avLst/>
          </a:prstGeom>
        </p:spPr>
        <p:txBody>
          <a:bodyPr vert="horz" wrap="square" lIns="0" tIns="13970" rIns="0" bIns="0" rtlCol="0">
            <a:spAutoFit/>
          </a:bodyPr>
          <a:lstStyle/>
          <a:p>
            <a:pPr marL="38100">
              <a:lnSpc>
                <a:spcPct val="100000"/>
              </a:lnSpc>
              <a:spcBef>
                <a:spcPts val="110"/>
              </a:spcBef>
            </a:pPr>
            <a:r>
              <a:rPr lang="en-US" sz="1150" spc="50" dirty="0">
                <a:solidFill>
                  <a:srgbClr val="FFFFFF"/>
                </a:solidFill>
                <a:latin typeface="Arial"/>
                <a:cs typeface="Arial"/>
              </a:rPr>
              <a:t>Agent development window</a:t>
            </a:r>
            <a:r>
              <a:rPr sz="1150" spc="50" dirty="0">
                <a:solidFill>
                  <a:srgbClr val="FFFFFF"/>
                </a:solidFill>
                <a:latin typeface="Arial"/>
                <a:cs typeface="Arial"/>
              </a:rPr>
              <a:t> </a:t>
            </a:r>
            <a:r>
              <a:rPr sz="1150" dirty="0">
                <a:solidFill>
                  <a:srgbClr val="FFFFFF"/>
                </a:solidFill>
                <a:latin typeface="Arial"/>
                <a:cs typeface="Arial"/>
              </a:rPr>
              <a:t>is</a:t>
            </a:r>
            <a:r>
              <a:rPr sz="1150" spc="50" dirty="0">
                <a:solidFill>
                  <a:srgbClr val="FFFFFF"/>
                </a:solidFill>
                <a:latin typeface="Arial"/>
                <a:cs typeface="Arial"/>
              </a:rPr>
              <a:t> </a:t>
            </a:r>
            <a:r>
              <a:rPr sz="1150" dirty="0">
                <a:solidFill>
                  <a:srgbClr val="FFFFFF"/>
                </a:solidFill>
                <a:latin typeface="Arial"/>
                <a:cs typeface="Arial"/>
              </a:rPr>
              <a:t>open</a:t>
            </a:r>
            <a:r>
              <a:rPr sz="1150" spc="55" dirty="0">
                <a:solidFill>
                  <a:srgbClr val="FFFFFF"/>
                </a:solidFill>
                <a:latin typeface="Arial"/>
                <a:cs typeface="Arial"/>
              </a:rPr>
              <a:t> </a:t>
            </a:r>
            <a:r>
              <a:rPr sz="1150" dirty="0">
                <a:solidFill>
                  <a:srgbClr val="FFFFFF"/>
                </a:solidFill>
                <a:latin typeface="Arial"/>
                <a:cs typeface="Arial"/>
              </a:rPr>
              <a:t>from</a:t>
            </a:r>
            <a:r>
              <a:rPr lang="en-US" sz="1150" dirty="0">
                <a:solidFill>
                  <a:srgbClr val="FFFFFF"/>
                </a:solidFill>
                <a:latin typeface="Arial"/>
                <a:cs typeface="Arial"/>
              </a:rPr>
              <a:t> 24</a:t>
            </a:r>
            <a:r>
              <a:rPr lang="en-US" sz="1150" baseline="30000" dirty="0">
                <a:solidFill>
                  <a:srgbClr val="FFFFFF"/>
                </a:solidFill>
                <a:latin typeface="Arial"/>
                <a:cs typeface="Arial"/>
              </a:rPr>
              <a:t>th</a:t>
            </a:r>
            <a:r>
              <a:rPr lang="en-US" sz="1150" dirty="0">
                <a:solidFill>
                  <a:srgbClr val="FFFFFF"/>
                </a:solidFill>
                <a:latin typeface="Arial"/>
                <a:cs typeface="Arial"/>
              </a:rPr>
              <a:t> Feb -14</a:t>
            </a:r>
            <a:r>
              <a:rPr lang="en-US" sz="1150" baseline="30000" dirty="0">
                <a:solidFill>
                  <a:srgbClr val="FFFFFF"/>
                </a:solidFill>
                <a:latin typeface="Arial"/>
                <a:cs typeface="Arial"/>
              </a:rPr>
              <a:t>th</a:t>
            </a:r>
            <a:r>
              <a:rPr lang="en-US" sz="1150" dirty="0">
                <a:solidFill>
                  <a:srgbClr val="FFFFFF"/>
                </a:solidFill>
                <a:latin typeface="Arial"/>
                <a:cs typeface="Arial"/>
              </a:rPr>
              <a:t> March, 2025</a:t>
            </a:r>
            <a:endParaRPr sz="1150" dirty="0">
              <a:latin typeface="Arial"/>
              <a:cs typeface="Arial"/>
            </a:endParaRPr>
          </a:p>
        </p:txBody>
      </p:sp>
      <p:pic>
        <p:nvPicPr>
          <p:cNvPr id="12" name="Picture 11" descr="A black and white sign with white text&#10;&#10;Description automatically generated">
            <a:extLst>
              <a:ext uri="{FF2B5EF4-FFF2-40B4-BE49-F238E27FC236}">
                <a16:creationId xmlns:a16="http://schemas.microsoft.com/office/drawing/2014/main" id="{8B2762AA-CE69-8333-B0F9-C57E255109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08446" y="115148"/>
            <a:ext cx="2238671" cy="809520"/>
          </a:xfrm>
          <a:prstGeom prst="rect">
            <a:avLst/>
          </a:prstGeom>
        </p:spPr>
      </p:pic>
      <p:pic>
        <p:nvPicPr>
          <p:cNvPr id="13" name="Picture 12">
            <a:extLst>
              <a:ext uri="{FF2B5EF4-FFF2-40B4-BE49-F238E27FC236}">
                <a16:creationId xmlns:a16="http://schemas.microsoft.com/office/drawing/2014/main" id="{B9BF54A1-519C-1F66-06C2-3EC0371FD8FC}"/>
              </a:ext>
            </a:extLst>
          </p:cNvPr>
          <p:cNvPicPr>
            <a:picLocks noChangeAspect="1"/>
          </p:cNvPicPr>
          <p:nvPr/>
        </p:nvPicPr>
        <p:blipFill>
          <a:blip r:embed="rId4"/>
          <a:stretch>
            <a:fillRect/>
          </a:stretch>
        </p:blipFill>
        <p:spPr>
          <a:xfrm>
            <a:off x="0" y="2418"/>
            <a:ext cx="12192000" cy="3609287"/>
          </a:xfrm>
          <a:prstGeom prst="rect">
            <a:avLst/>
          </a:prstGeom>
        </p:spPr>
      </p:pic>
    </p:spTree>
    <p:extLst>
      <p:ext uri="{BB962C8B-B14F-4D97-AF65-F5344CB8AC3E}">
        <p14:creationId xmlns:p14="http://schemas.microsoft.com/office/powerpoint/2010/main" val="1478024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Placeholder 30">
            <a:extLst>
              <a:ext uri="{FF2B5EF4-FFF2-40B4-BE49-F238E27FC236}">
                <a16:creationId xmlns:a16="http://schemas.microsoft.com/office/drawing/2014/main" id="{A5918817-D25B-F00B-9CF3-B48972601AF4}"/>
              </a:ext>
            </a:extLst>
          </p:cNvPr>
          <p:cNvSpPr>
            <a:spLocks noGrp="1"/>
          </p:cNvSpPr>
          <p:nvPr>
            <p:ph type="body" sz="quarter" idx="10"/>
          </p:nvPr>
        </p:nvSpPr>
        <p:spPr/>
        <p:txBody>
          <a:bodyPr anchor="b"/>
          <a:lstStyle/>
          <a:p>
            <a:r>
              <a:rPr lang="en-US">
                <a:solidFill>
                  <a:schemeClr val="accent1">
                    <a:lumMod val="75000"/>
                  </a:schemeClr>
                </a:solidFill>
                <a:latin typeface="Calibri" panose="020F0502020204030204" pitchFamily="34" charset="0"/>
                <a:cs typeface="Calibri" panose="020F0502020204030204" pitchFamily="34" charset="0"/>
              </a:rPr>
              <a:t>TEAM and USE CASE</a:t>
            </a:r>
          </a:p>
        </p:txBody>
      </p:sp>
      <p:graphicFrame>
        <p:nvGraphicFramePr>
          <p:cNvPr id="33" name="Table 32">
            <a:extLst>
              <a:ext uri="{FF2B5EF4-FFF2-40B4-BE49-F238E27FC236}">
                <a16:creationId xmlns:a16="http://schemas.microsoft.com/office/drawing/2014/main" id="{34D43D5D-9D88-FCA7-C613-77EA651094F8}"/>
              </a:ext>
            </a:extLst>
          </p:cNvPr>
          <p:cNvGraphicFramePr>
            <a:graphicFrameLocks noGrp="1"/>
          </p:cNvGraphicFramePr>
          <p:nvPr>
            <p:extLst>
              <p:ext uri="{D42A27DB-BD31-4B8C-83A1-F6EECF244321}">
                <p14:modId xmlns:p14="http://schemas.microsoft.com/office/powerpoint/2010/main" val="3034028662"/>
              </p:ext>
            </p:extLst>
          </p:nvPr>
        </p:nvGraphicFramePr>
        <p:xfrm>
          <a:off x="703118" y="1078954"/>
          <a:ext cx="10785761" cy="5449556"/>
        </p:xfrm>
        <a:graphic>
          <a:graphicData uri="http://schemas.openxmlformats.org/drawingml/2006/table">
            <a:tbl>
              <a:tblPr bandRow="1">
                <a:tableStyleId>{0E3FDE45-AF77-4B5C-9715-49D594BDF05E}</a:tableStyleId>
              </a:tblPr>
              <a:tblGrid>
                <a:gridCol w="2482534">
                  <a:extLst>
                    <a:ext uri="{9D8B030D-6E8A-4147-A177-3AD203B41FA5}">
                      <a16:colId xmlns:a16="http://schemas.microsoft.com/office/drawing/2014/main" val="35749580"/>
                    </a:ext>
                  </a:extLst>
                </a:gridCol>
                <a:gridCol w="3122551">
                  <a:extLst>
                    <a:ext uri="{9D8B030D-6E8A-4147-A177-3AD203B41FA5}">
                      <a16:colId xmlns:a16="http://schemas.microsoft.com/office/drawing/2014/main" val="342463594"/>
                    </a:ext>
                  </a:extLst>
                </a:gridCol>
                <a:gridCol w="3345083">
                  <a:extLst>
                    <a:ext uri="{9D8B030D-6E8A-4147-A177-3AD203B41FA5}">
                      <a16:colId xmlns:a16="http://schemas.microsoft.com/office/drawing/2014/main" val="524786007"/>
                    </a:ext>
                  </a:extLst>
                </a:gridCol>
                <a:gridCol w="1835593">
                  <a:extLst>
                    <a:ext uri="{9D8B030D-6E8A-4147-A177-3AD203B41FA5}">
                      <a16:colId xmlns:a16="http://schemas.microsoft.com/office/drawing/2014/main" val="1895982355"/>
                    </a:ext>
                  </a:extLst>
                </a:gridCol>
              </a:tblGrid>
              <a:tr h="436340">
                <a:tc>
                  <a:txBody>
                    <a:bodyPr/>
                    <a:lstStyle/>
                    <a:p>
                      <a:pPr marL="0" algn="ctr" defTabSz="914400" rtl="0" eaLnBrk="1" latinLnBrk="0" hangingPunct="1"/>
                      <a:r>
                        <a:rPr lang="en-US" sz="1600" b="1" kern="1200">
                          <a:solidFill>
                            <a:schemeClr val="tx1"/>
                          </a:solidFill>
                          <a:latin typeface="Calibri" panose="020F0502020204030204" pitchFamily="34" charset="0"/>
                          <a:cs typeface="Calibri" panose="020F0502020204030204" pitchFamily="34" charset="0"/>
                        </a:rPr>
                        <a:t>TEAM NAME</a:t>
                      </a:r>
                      <a:endParaRPr lang="en-US" sz="1600" b="1" i="0" kern="1200">
                        <a:solidFill>
                          <a:schemeClr val="tx1"/>
                        </a:solidFill>
                        <a:latin typeface="Calibri" panose="020F0502020204030204" pitchFamily="34" charset="0"/>
                        <a:ea typeface="+mn-ea"/>
                        <a:cs typeface="Calibri" panose="020F0502020204030204"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0206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a:solidFill>
                            <a:schemeClr val="tx1"/>
                          </a:solidFill>
                          <a:latin typeface="Calibri" panose="020F0502020204030204" pitchFamily="34" charset="0"/>
                          <a:cs typeface="Calibri" panose="020F0502020204030204" pitchFamily="34" charset="0"/>
                        </a:rPr>
                        <a:t>TEAM MEMBER NAME</a:t>
                      </a:r>
                      <a:endParaRPr lang="en-US" sz="1600" b="1" i="0" kern="1200">
                        <a:solidFill>
                          <a:schemeClr val="tx1"/>
                        </a:solidFill>
                        <a:latin typeface="Calibri" panose="020F0502020204030204" pitchFamily="34" charset="0"/>
                        <a:ea typeface="+mn-ea"/>
                        <a:cs typeface="Calibri" panose="020F0502020204030204"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0206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a:solidFill>
                            <a:schemeClr val="tx1"/>
                          </a:solidFill>
                          <a:latin typeface="Calibri" panose="020F0502020204030204" pitchFamily="34" charset="0"/>
                          <a:cs typeface="Calibri" panose="020F0502020204030204" pitchFamily="34" charset="0"/>
                        </a:rPr>
                        <a:t>EMAIL ID</a:t>
                      </a:r>
                      <a:endParaRPr lang="en-US" sz="1600" b="1" i="0" kern="1200">
                        <a:solidFill>
                          <a:schemeClr val="tx1"/>
                        </a:solidFill>
                        <a:latin typeface="Calibri" panose="020F0502020204030204" pitchFamily="34" charset="0"/>
                        <a:ea typeface="+mn-ea"/>
                        <a:cs typeface="Calibri" panose="020F0502020204030204"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0206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Calibri" panose="020F0502020204030204" pitchFamily="34" charset="0"/>
                          <a:cs typeface="Calibri" panose="020F0502020204030204" pitchFamily="34" charset="0"/>
                        </a:rPr>
                        <a:t>DU</a:t>
                      </a:r>
                      <a:endParaRPr lang="en-US" sz="1600" b="1" i="0" kern="1200" dirty="0">
                        <a:solidFill>
                          <a:schemeClr val="tx1"/>
                        </a:solidFill>
                        <a:latin typeface="Calibri" panose="020F0502020204030204" pitchFamily="34" charset="0"/>
                        <a:ea typeface="+mn-ea"/>
                        <a:cs typeface="Calibri" panose="020F0502020204030204"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02060">
                        <a:alpha val="20000"/>
                      </a:srgbClr>
                    </a:solidFill>
                  </a:tcPr>
                </a:tc>
                <a:extLst>
                  <a:ext uri="{0D108BD9-81ED-4DB2-BD59-A6C34878D82A}">
                    <a16:rowId xmlns:a16="http://schemas.microsoft.com/office/drawing/2014/main" val="908647123"/>
                  </a:ext>
                </a:extLst>
              </a:tr>
              <a:tr h="405503">
                <a:tc rowSpan="4">
                  <a:txBody>
                    <a:bodyPr/>
                    <a:lstStyle/>
                    <a:p>
                      <a:pPr marL="0" algn="ctr" rtl="0" eaLnBrk="1" latinLnBrk="0" hangingPunct="1"/>
                      <a:endParaRPr lang="en-US" sz="1800" i="0" kern="1200" dirty="0">
                        <a:solidFill>
                          <a:schemeClr val="tx1"/>
                        </a:solidFill>
                        <a:latin typeface="+mn-lt"/>
                        <a:ea typeface="+mn-ea"/>
                        <a:cs typeface="Arial" panose="020B0604020202020204" pitchFamily="34" charset="0"/>
                      </a:endParaRPr>
                    </a:p>
                    <a:p>
                      <a:pPr marL="0" algn="ctr" rtl="0" eaLnBrk="1" latinLnBrk="0" hangingPunct="1"/>
                      <a:endParaRPr lang="en-US" sz="1800" i="0" kern="1200" dirty="0">
                        <a:solidFill>
                          <a:schemeClr val="tx1"/>
                        </a:solidFill>
                        <a:latin typeface="+mn-lt"/>
                        <a:ea typeface="+mn-ea"/>
                        <a:cs typeface="Arial" panose="020B0604020202020204" pitchFamily="34" charset="0"/>
                      </a:endParaRPr>
                    </a:p>
                    <a:p>
                      <a:pPr marL="0" algn="ctr" rtl="0" eaLnBrk="1" latinLnBrk="0" hangingPunct="1"/>
                      <a:r>
                        <a:rPr lang="en-US" sz="1800" b="1" dirty="0">
                          <a:solidFill>
                            <a:schemeClr val="accent1"/>
                          </a:solidFill>
                          <a:cs typeface="Arial"/>
                        </a:rPr>
                        <a:t>AI Altitude</a:t>
                      </a:r>
                      <a:endParaRPr lang="en-US" sz="1800" i="1" kern="1200" dirty="0">
                        <a:solidFill>
                          <a:schemeClr val="tx1"/>
                        </a:solidFill>
                        <a:latin typeface="+mn-lt"/>
                        <a:ea typeface="+mn-ea"/>
                        <a:cs typeface="Arial" panose="020B0604020202020204"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endParaRPr lang="en-US" i="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endParaRPr lang="en-US" sz="1600" i="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endParaRPr lang="en-US" i="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7316120"/>
                  </a:ext>
                </a:extLst>
              </a:tr>
              <a:tr h="405503">
                <a:tc vMerge="1">
                  <a:txBody>
                    <a:bodyPr/>
                    <a:lstStyle/>
                    <a:p>
                      <a:pPr marL="0" algn="l" defTabSz="914400" rtl="0" eaLnBrk="1" latinLnBrk="0" hangingPunct="1"/>
                      <a:endParaRPr lang="en-US" sz="1200" i="1" kern="1200">
                        <a:solidFill>
                          <a:srgbClr val="007DC3"/>
                        </a:solidFill>
                        <a:latin typeface="+mn-lt"/>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i="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030A0">
                        <a:alpha val="20000"/>
                      </a:srgbClr>
                    </a:solidFill>
                  </a:tcPr>
                </a:tc>
                <a:tc>
                  <a:txBody>
                    <a:bodyPr/>
                    <a:lstStyle/>
                    <a:p>
                      <a:pPr algn="ctr"/>
                      <a:endParaRPr lang="en-US" i="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3496641921"/>
                  </a:ext>
                </a:extLst>
              </a:tr>
              <a:tr h="405503">
                <a:tc v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i="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endParaRPr lang="en-US" i="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6178669"/>
                  </a:ext>
                </a:extLst>
              </a:tr>
              <a:tr h="405503">
                <a:tc vMerge="1">
                  <a:txBody>
                    <a:bodyPr/>
                    <a:lstStyle/>
                    <a:p>
                      <a:pPr marL="0" algn="ctr" rtl="0" eaLnBrk="1" latinLnBrk="0" hangingPunct="1"/>
                      <a:endParaRPr lang="en-US" sz="1800" i="1" kern="1200" dirty="0">
                        <a:solidFill>
                          <a:schemeClr val="tx1"/>
                        </a:solidFill>
                        <a:latin typeface="+mn-lt"/>
                        <a:ea typeface="+mn-ea"/>
                        <a:cs typeface="Arial" panose="020B0604020202020204"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endParaRPr lang="en-US" i="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endParaRPr lang="en-US" i="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endParaRPr lang="en-US" i="0" dirty="0">
                        <a:solidFill>
                          <a:schemeClr val="tx1"/>
                        </a:solidFill>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1350530"/>
                  </a:ext>
                </a:extLst>
              </a:tr>
              <a:tr h="33912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1"/>
                          </a:solidFill>
                        </a:rPr>
                        <a:t>Use Case details</a:t>
                      </a:r>
                    </a:p>
                    <a:p>
                      <a:pPr marL="0" algn="ctr" defTabSz="914400" rtl="0" eaLnBrk="1" latinLnBrk="0" hangingPunct="1"/>
                      <a:endParaRPr lang="en-US" sz="1200" i="0" kern="1200" dirty="0">
                        <a:solidFill>
                          <a:schemeClr val="tx1"/>
                        </a:solidFill>
                        <a:latin typeface="+mn-lt"/>
                        <a:ea typeface="+mn-ea"/>
                        <a:cs typeface="Arial" panose="020B0604020202020204" pitchFamily="34"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alpha val="20000"/>
                      </a:schemeClr>
                    </a:solidFill>
                  </a:tcPr>
                </a:tc>
                <a:tc gridSpan="3">
                  <a:txBody>
                    <a:bodyPr/>
                    <a:lstStyle/>
                    <a:p>
                      <a:pPr algn="l"/>
                      <a:r>
                        <a:rPr lang="en-US" dirty="0"/>
                        <a:t>Use Case: Code security vulnerability analysis</a:t>
                      </a:r>
                      <a:endParaRPr lang="en-US" dirty="0">
                        <a:highlight>
                          <a:srgbClr val="FFFF00"/>
                        </a:highlight>
                      </a:endParaRPr>
                    </a:p>
                    <a:p>
                      <a:pPr algn="l"/>
                      <a:endParaRPr lang="en-US" dirty="0"/>
                    </a:p>
                    <a:p>
                      <a:pPr algn="l"/>
                      <a:r>
                        <a:rPr lang="en-US" dirty="0"/>
                        <a:t>Domain: Workforce Productivity</a:t>
                      </a:r>
                    </a:p>
                    <a:p>
                      <a:pPr algn="l"/>
                      <a:endParaRPr lang="en-US" dirty="0"/>
                    </a:p>
                    <a:p>
                      <a:pPr algn="l"/>
                      <a:r>
                        <a:rPr lang="en-US" dirty="0"/>
                        <a:t>Subdomain: Code Assist </a:t>
                      </a:r>
                    </a:p>
                    <a:p>
                      <a:pPr algn="l"/>
                      <a:endParaRPr lang="en-US" dirty="0"/>
                    </a:p>
                    <a:p>
                      <a:pPr algn="l"/>
                      <a:r>
                        <a:rPr lang="en-US" dirty="0"/>
                        <a:t>Use case description: Gen AI Agent to Scan and Verify the code is developed based on Secure SDLC Guideline. The Guidelines can be configured as JSON file. The agents will scan the packages listed in the code to verify any known security vulnerability reports exists on the internet. </a:t>
                      </a:r>
                      <a:endParaRPr lang="en-US" sz="1800" i="0" dirty="0">
                        <a:solidFill>
                          <a:schemeClr val="tx1"/>
                        </a:solidFill>
                        <a:highlight>
                          <a:srgbClr val="FFFF00"/>
                        </a:highligh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alpha val="20000"/>
                      </a:schemeClr>
                    </a:solidFill>
                  </a:tcPr>
                </a:tc>
                <a:tc hMerge="1">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21788627"/>
                  </a:ext>
                </a:extLst>
              </a:tr>
            </a:tbl>
          </a:graphicData>
        </a:graphic>
      </p:graphicFrame>
    </p:spTree>
    <p:extLst>
      <p:ext uri="{BB962C8B-B14F-4D97-AF65-F5344CB8AC3E}">
        <p14:creationId xmlns:p14="http://schemas.microsoft.com/office/powerpoint/2010/main" val="2963837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9045A-A136-537B-AA22-F756032EFE9E}"/>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69DBCDE4-62FC-E0F1-F74E-7964B16474A7}"/>
              </a:ext>
            </a:extLst>
          </p:cNvPr>
          <p:cNvSpPr>
            <a:spLocks noGrp="1"/>
          </p:cNvSpPr>
          <p:nvPr>
            <p:ph type="body" sz="quarter" idx="10"/>
          </p:nvPr>
        </p:nvSpPr>
        <p:spPr>
          <a:xfrm>
            <a:off x="392275" y="236827"/>
            <a:ext cx="11407450" cy="466142"/>
          </a:xfrm>
        </p:spPr>
        <p:txBody>
          <a:bodyPr anchor="b"/>
          <a:lstStyle/>
          <a:p>
            <a:r>
              <a:rPr lang="en-US" dirty="0">
                <a:solidFill>
                  <a:srgbClr val="0070C0"/>
                </a:solidFill>
                <a:latin typeface="Calibri" panose="020F0502020204030204" pitchFamily="34" charset="0"/>
                <a:cs typeface="Calibri" panose="020F0502020204030204" pitchFamily="34" charset="0"/>
              </a:rPr>
              <a:t>Solution Design</a:t>
            </a:r>
          </a:p>
        </p:txBody>
      </p:sp>
      <p:sp>
        <p:nvSpPr>
          <p:cNvPr id="2" name="Text Placeholder 1">
            <a:extLst>
              <a:ext uri="{FF2B5EF4-FFF2-40B4-BE49-F238E27FC236}">
                <a16:creationId xmlns:a16="http://schemas.microsoft.com/office/drawing/2014/main" id="{04FABCB8-2F44-2F8A-70DA-F96391D6C992}"/>
              </a:ext>
            </a:extLst>
          </p:cNvPr>
          <p:cNvSpPr txBox="1">
            <a:spLocks/>
          </p:cNvSpPr>
          <p:nvPr/>
        </p:nvSpPr>
        <p:spPr>
          <a:xfrm>
            <a:off x="263924" y="804333"/>
            <a:ext cx="11229263" cy="57183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1800" b="1" dirty="0">
                <a:latin typeface="Calibri" panose="020F0502020204030204" pitchFamily="34" charset="0"/>
                <a:cs typeface="Calibri" panose="020F0502020204030204" pitchFamily="34" charset="0"/>
              </a:rPr>
              <a:t>Vertex AI Agent Builder</a:t>
            </a:r>
            <a:r>
              <a:rPr lang="en-US" sz="1800" dirty="0">
                <a:latin typeface="Calibri" panose="020F0502020204030204" pitchFamily="34" charset="0"/>
                <a:cs typeface="Calibri" panose="020F0502020204030204" pitchFamily="34" charset="0"/>
              </a:rPr>
              <a:t>: This will be the core of Agentic solution. It will orchestrate the tasks, interact with the user, and process the code and security guidelines. We'll use it to define the agent's actions (e.g., code scanning, vulnerability lookup, report generation).</a:t>
            </a:r>
          </a:p>
          <a:p>
            <a:pPr>
              <a:lnSpc>
                <a:spcPct val="150000"/>
              </a:lnSpc>
            </a:pPr>
            <a:r>
              <a:rPr lang="en-US" sz="1800" b="1" dirty="0">
                <a:latin typeface="Calibri" panose="020F0502020204030204" pitchFamily="34" charset="0"/>
                <a:cs typeface="Calibri" panose="020F0502020204030204" pitchFamily="34" charset="0"/>
              </a:rPr>
              <a:t>Cloud Storage</a:t>
            </a:r>
            <a:r>
              <a:rPr lang="en-US" sz="1800" dirty="0">
                <a:latin typeface="Calibri" panose="020F0502020204030204" pitchFamily="34" charset="0"/>
                <a:cs typeface="Calibri" panose="020F0502020204030204" pitchFamily="34" charset="0"/>
              </a:rPr>
              <a:t>: Store the code repositories, the JSON security guidelines, and any generated reports.</a:t>
            </a:r>
          </a:p>
          <a:p>
            <a:pPr>
              <a:lnSpc>
                <a:spcPct val="150000"/>
              </a:lnSpc>
            </a:pPr>
            <a:r>
              <a:rPr lang="en-US" sz="1800" b="1" dirty="0">
                <a:latin typeface="Calibri" panose="020F0502020204030204" pitchFamily="34" charset="0"/>
                <a:cs typeface="Calibri" panose="020F0502020204030204" pitchFamily="34" charset="0"/>
              </a:rPr>
              <a:t>Cloud Functions/Cloud Run</a:t>
            </a:r>
            <a:r>
              <a:rPr lang="en-US" sz="1800" dirty="0">
                <a:latin typeface="Calibri" panose="020F0502020204030204" pitchFamily="34" charset="0"/>
                <a:cs typeface="Calibri" panose="020F0502020204030204" pitchFamily="34" charset="0"/>
              </a:rPr>
              <a:t>:  Implement custom logic for interacting with external tools (e.g., vulnerability databases, package managers). Cloud Run will be used for longer running process.</a:t>
            </a:r>
          </a:p>
          <a:p>
            <a:pPr>
              <a:lnSpc>
                <a:spcPct val="150000"/>
              </a:lnSpc>
            </a:pPr>
            <a:r>
              <a:rPr lang="en-US" sz="1800" b="1" dirty="0">
                <a:latin typeface="Calibri" panose="020F0502020204030204" pitchFamily="34" charset="0"/>
                <a:cs typeface="Calibri" panose="020F0502020204030204" pitchFamily="34" charset="0"/>
              </a:rPr>
              <a:t>Vertex AI Models (Gemini)</a:t>
            </a:r>
            <a:r>
              <a:rPr lang="en-US" sz="1800" dirty="0">
                <a:latin typeface="Calibri" panose="020F0502020204030204" pitchFamily="34" charset="0"/>
                <a:cs typeface="Calibri" panose="020F0502020204030204" pitchFamily="34" charset="0"/>
              </a:rPr>
              <a:t>: Will be utilized for natural language understanding, code analysis, and report generation.</a:t>
            </a:r>
          </a:p>
          <a:p>
            <a:pPr>
              <a:lnSpc>
                <a:spcPct val="150000"/>
              </a:lnSpc>
            </a:pPr>
            <a:r>
              <a:rPr lang="en-US" sz="1800" b="1" dirty="0">
                <a:latin typeface="Calibri" panose="020F0502020204030204" pitchFamily="34" charset="0"/>
                <a:cs typeface="Calibri" panose="020F0502020204030204" pitchFamily="34" charset="0"/>
              </a:rPr>
              <a:t>External Vulnerability Databases (NVD, </a:t>
            </a:r>
            <a:r>
              <a:rPr lang="en-US" sz="1800" b="1" dirty="0" err="1">
                <a:latin typeface="Calibri" panose="020F0502020204030204" pitchFamily="34" charset="0"/>
                <a:cs typeface="Calibri" panose="020F0502020204030204" pitchFamily="34" charset="0"/>
              </a:rPr>
              <a:t>Snyk</a:t>
            </a:r>
            <a:r>
              <a:rPr lang="en-US" sz="1800" b="1" dirty="0">
                <a:latin typeface="Calibri" panose="020F0502020204030204" pitchFamily="34" charset="0"/>
                <a:cs typeface="Calibri" panose="020F0502020204030204" pitchFamily="34" charset="0"/>
              </a:rPr>
              <a:t>, GitHub Advisory Database)</a:t>
            </a:r>
            <a:r>
              <a:rPr lang="en-US" sz="1800" dirty="0">
                <a:latin typeface="Calibri" panose="020F0502020204030204" pitchFamily="34" charset="0"/>
                <a:cs typeface="Calibri" panose="020F0502020204030204" pitchFamily="34" charset="0"/>
              </a:rPr>
              <a:t>: Provides vulnerability information for identified packages.</a:t>
            </a:r>
          </a:p>
          <a:p>
            <a:pPr>
              <a:lnSpc>
                <a:spcPct val="150000"/>
              </a:lnSpc>
            </a:pPr>
            <a:r>
              <a:rPr lang="en-US" sz="1800" b="1" dirty="0">
                <a:latin typeface="Calibri" panose="020F0502020204030204" pitchFamily="34" charset="0"/>
                <a:cs typeface="Calibri" panose="020F0502020204030204" pitchFamily="34" charset="0"/>
              </a:rPr>
              <a:t>Cloud Logging &amp; Monitoring</a:t>
            </a:r>
            <a:r>
              <a:rPr lang="en-US" sz="1800" dirty="0">
                <a:latin typeface="Calibri" panose="020F0502020204030204" pitchFamily="34" charset="0"/>
                <a:cs typeface="Calibri" panose="020F0502020204030204" pitchFamily="34" charset="0"/>
              </a:rPr>
              <a:t>: Track the agent's performance, errors, and user interactions.</a:t>
            </a:r>
          </a:p>
        </p:txBody>
      </p:sp>
    </p:spTree>
    <p:extLst>
      <p:ext uri="{BB962C8B-B14F-4D97-AF65-F5344CB8AC3E}">
        <p14:creationId xmlns:p14="http://schemas.microsoft.com/office/powerpoint/2010/main" val="1283330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B989F-94C1-5BAF-8F34-D96A4AA765C6}"/>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09786FB0-7635-C411-3B22-852084B94710}"/>
              </a:ext>
            </a:extLst>
          </p:cNvPr>
          <p:cNvSpPr>
            <a:spLocks noGrp="1"/>
          </p:cNvSpPr>
          <p:nvPr>
            <p:ph type="body" sz="quarter" idx="10"/>
          </p:nvPr>
        </p:nvSpPr>
        <p:spPr>
          <a:xfrm>
            <a:off x="392275" y="236827"/>
            <a:ext cx="11407450" cy="466142"/>
          </a:xfrm>
        </p:spPr>
        <p:txBody>
          <a:bodyPr anchor="b"/>
          <a:lstStyle/>
          <a:p>
            <a:r>
              <a:rPr lang="en-US" dirty="0">
                <a:solidFill>
                  <a:srgbClr val="0070C0"/>
                </a:solidFill>
                <a:latin typeface="Calibri" panose="020F0502020204030204" pitchFamily="34" charset="0"/>
                <a:cs typeface="Calibri" panose="020F0502020204030204" pitchFamily="34" charset="0"/>
              </a:rPr>
              <a:t>Solution Architecture (Diagram)</a:t>
            </a:r>
          </a:p>
        </p:txBody>
      </p:sp>
      <p:sp>
        <p:nvSpPr>
          <p:cNvPr id="2" name="Text Placeholder 1">
            <a:extLst>
              <a:ext uri="{FF2B5EF4-FFF2-40B4-BE49-F238E27FC236}">
                <a16:creationId xmlns:a16="http://schemas.microsoft.com/office/drawing/2014/main" id="{41B6E5B6-A2C2-8CFB-533E-3C579CB2CD62}"/>
              </a:ext>
            </a:extLst>
          </p:cNvPr>
          <p:cNvSpPr txBox="1">
            <a:spLocks/>
          </p:cNvSpPr>
          <p:nvPr/>
        </p:nvSpPr>
        <p:spPr>
          <a:xfrm>
            <a:off x="263924" y="804333"/>
            <a:ext cx="11229263" cy="57183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endParaRPr lang="en-US" sz="1800" dirty="0">
              <a:latin typeface="Calibri" panose="020F0502020204030204" pitchFamily="34" charset="0"/>
              <a:cs typeface="Calibri" panose="020F0502020204030204" pitchFamily="34" charset="0"/>
            </a:endParaRPr>
          </a:p>
        </p:txBody>
      </p:sp>
      <p:sp>
        <p:nvSpPr>
          <p:cNvPr id="3" name="Text Placeholder 1">
            <a:extLst>
              <a:ext uri="{FF2B5EF4-FFF2-40B4-BE49-F238E27FC236}">
                <a16:creationId xmlns:a16="http://schemas.microsoft.com/office/drawing/2014/main" id="{F131030A-098B-2FEF-7943-D407B41D5EBD}"/>
              </a:ext>
            </a:extLst>
          </p:cNvPr>
          <p:cNvSpPr txBox="1">
            <a:spLocks/>
          </p:cNvSpPr>
          <p:nvPr/>
        </p:nvSpPr>
        <p:spPr>
          <a:xfrm>
            <a:off x="263925" y="804333"/>
            <a:ext cx="6044530" cy="57183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fontAlgn="ctr">
              <a:lnSpc>
                <a:spcPct val="150000"/>
              </a:lnSpc>
              <a:buFont typeface="Arial" panose="020B0604020202020204" pitchFamily="34" charset="0"/>
              <a:buChar char="•"/>
            </a:pPr>
            <a:r>
              <a:rPr lang="en-US" sz="1400" b="1" dirty="0">
                <a:effectLst/>
                <a:latin typeface="Calibri" panose="020F0502020204030204" pitchFamily="34" charset="0"/>
              </a:rPr>
              <a:t>Presentation Layer (User Interaction): </a:t>
            </a:r>
            <a:r>
              <a:rPr lang="en-US" sz="1400" dirty="0">
                <a:effectLst/>
                <a:latin typeface="Calibri" panose="020F0502020204030204" pitchFamily="34" charset="0"/>
              </a:rPr>
              <a:t>Presentation Layer comprises of the user interface (e.g., web app, CLI, API) that interacts with the user.</a:t>
            </a:r>
          </a:p>
          <a:p>
            <a:pPr rtl="0" fontAlgn="ctr">
              <a:lnSpc>
                <a:spcPct val="150000"/>
              </a:lnSpc>
              <a:buFont typeface="Arial" panose="020B0604020202020204" pitchFamily="34" charset="0"/>
              <a:buChar char="•"/>
            </a:pPr>
            <a:r>
              <a:rPr lang="en-US" sz="1400" b="1" dirty="0">
                <a:effectLst/>
                <a:latin typeface="Calibri" panose="020F0502020204030204" pitchFamily="34" charset="0"/>
              </a:rPr>
              <a:t>Orchestration Layer (Agent Management): </a:t>
            </a:r>
            <a:r>
              <a:rPr lang="en-US" sz="1400" dirty="0">
                <a:effectLst/>
                <a:latin typeface="Calibri" panose="020F0502020204030204" pitchFamily="34" charset="0"/>
              </a:rPr>
              <a:t>Orchestration Layer has the Vertex AI Agent Builder, which manages the overall workflow and agent logic.</a:t>
            </a:r>
          </a:p>
          <a:p>
            <a:pPr rtl="0" fontAlgn="ctr">
              <a:lnSpc>
                <a:spcPct val="150000"/>
              </a:lnSpc>
              <a:buFont typeface="Arial" panose="020B0604020202020204" pitchFamily="34" charset="0"/>
              <a:buChar char="•"/>
            </a:pPr>
            <a:r>
              <a:rPr lang="en-US" sz="1400" b="1" dirty="0">
                <a:effectLst/>
                <a:latin typeface="Calibri" panose="020F0502020204030204" pitchFamily="34" charset="0"/>
              </a:rPr>
              <a:t>Processing Layer (Task Execution): </a:t>
            </a:r>
            <a:r>
              <a:rPr lang="en-US" sz="1400" dirty="0">
                <a:effectLst/>
                <a:latin typeface="Calibri" panose="020F0502020204030204" pitchFamily="34" charset="0"/>
              </a:rPr>
              <a:t>Cloud Run services that perform specific tasks (vulnerability lookup, code analysis etc.).</a:t>
            </a:r>
          </a:p>
          <a:p>
            <a:pPr rtl="0" fontAlgn="ctr">
              <a:lnSpc>
                <a:spcPct val="150000"/>
              </a:lnSpc>
              <a:buFont typeface="Arial" panose="020B0604020202020204" pitchFamily="34" charset="0"/>
              <a:buChar char="•"/>
            </a:pPr>
            <a:r>
              <a:rPr lang="en-US" sz="1400" b="1" dirty="0">
                <a:effectLst/>
                <a:latin typeface="Calibri" panose="020F0502020204030204" pitchFamily="34" charset="0"/>
              </a:rPr>
              <a:t>Data Layer (Storage): </a:t>
            </a:r>
            <a:r>
              <a:rPr lang="en-US" sz="1400" dirty="0">
                <a:effectLst/>
                <a:latin typeface="Calibri" panose="020F0502020204030204" pitchFamily="34" charset="0"/>
              </a:rPr>
              <a:t>Cloud Storage bucket that stores code, guidelines, and reports.</a:t>
            </a:r>
          </a:p>
          <a:p>
            <a:pPr rtl="0" fontAlgn="ctr">
              <a:lnSpc>
                <a:spcPct val="150000"/>
              </a:lnSpc>
              <a:buFont typeface="Arial" panose="020B0604020202020204" pitchFamily="34" charset="0"/>
              <a:buChar char="•"/>
            </a:pPr>
            <a:r>
              <a:rPr lang="en-US" sz="1400" b="1" dirty="0">
                <a:effectLst/>
                <a:latin typeface="Calibri" panose="020F0502020204030204" pitchFamily="34" charset="0"/>
              </a:rPr>
              <a:t>Cross-Cutting Concerns: </a:t>
            </a:r>
            <a:r>
              <a:rPr lang="en-US" sz="1400" dirty="0">
                <a:effectLst/>
                <a:latin typeface="Calibri" panose="020F0502020204030204" pitchFamily="34" charset="0"/>
              </a:rPr>
              <a:t>Cloud Logging and Monitoring services that provide observability across all layers.</a:t>
            </a:r>
          </a:p>
          <a:p>
            <a:pPr rtl="0" fontAlgn="ctr">
              <a:lnSpc>
                <a:spcPct val="150000"/>
              </a:lnSpc>
              <a:buFont typeface="Arial" panose="020B0604020202020204" pitchFamily="34" charset="0"/>
              <a:buChar char="•"/>
            </a:pPr>
            <a:r>
              <a:rPr lang="en-US" sz="1400" b="1" dirty="0">
                <a:latin typeface="Calibri" panose="020F0502020204030204" pitchFamily="34" charset="0"/>
              </a:rPr>
              <a:t>External services</a:t>
            </a:r>
            <a:r>
              <a:rPr lang="en-US" sz="1400" dirty="0">
                <a:latin typeface="Calibri" panose="020F0502020204030204" pitchFamily="34" charset="0"/>
              </a:rPr>
              <a:t>: External vulnerability databases that the Cloud Run services interact with.</a:t>
            </a:r>
          </a:p>
          <a:p>
            <a:pPr rtl="0" fontAlgn="ctr">
              <a:lnSpc>
                <a:spcPct val="150000"/>
              </a:lnSpc>
              <a:buFont typeface="Arial" panose="020B0604020202020204" pitchFamily="34" charset="0"/>
              <a:buChar char="•"/>
            </a:pPr>
            <a:endParaRPr lang="en-US" sz="1400" dirty="0">
              <a:effectLst/>
              <a:latin typeface="Calibri" panose="020F0502020204030204" pitchFamily="34" charset="0"/>
            </a:endParaRPr>
          </a:p>
          <a:p>
            <a:pPr marL="0" indent="0">
              <a:lnSpc>
                <a:spcPct val="150000"/>
              </a:lnSpc>
              <a:buNone/>
            </a:pPr>
            <a:endParaRPr lang="en-US" sz="1800" dirty="0">
              <a:latin typeface="Calibri" panose="020F0502020204030204" pitchFamily="34" charset="0"/>
              <a:cs typeface="Calibri" panose="020F0502020204030204" pitchFamily="34" charset="0"/>
            </a:endParaRPr>
          </a:p>
        </p:txBody>
      </p:sp>
      <p:pic>
        <p:nvPicPr>
          <p:cNvPr id="1028" name="Picture 4">
            <a:extLst>
              <a:ext uri="{FF2B5EF4-FFF2-40B4-BE49-F238E27FC236}">
                <a16:creationId xmlns:a16="http://schemas.microsoft.com/office/drawing/2014/main" id="{A9A25D5A-F04E-17AF-3D0A-183243953F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8455" y="384810"/>
            <a:ext cx="5448300" cy="6153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3075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939BC-BFEB-0133-8FA4-CF83391A9AB3}"/>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C22D3537-284A-7041-0904-6E8177417D88}"/>
              </a:ext>
            </a:extLst>
          </p:cNvPr>
          <p:cNvSpPr>
            <a:spLocks noGrp="1"/>
          </p:cNvSpPr>
          <p:nvPr>
            <p:ph type="body" sz="quarter" idx="10"/>
          </p:nvPr>
        </p:nvSpPr>
        <p:spPr>
          <a:xfrm>
            <a:off x="392275" y="236827"/>
            <a:ext cx="11407450" cy="466142"/>
          </a:xfrm>
        </p:spPr>
        <p:txBody>
          <a:bodyPr anchor="b"/>
          <a:lstStyle/>
          <a:p>
            <a:r>
              <a:rPr lang="en-US" dirty="0">
                <a:solidFill>
                  <a:srgbClr val="0070C0"/>
                </a:solidFill>
                <a:latin typeface="Calibri" panose="020F0502020204030204" pitchFamily="34" charset="0"/>
                <a:cs typeface="Calibri" panose="020F0502020204030204" pitchFamily="34" charset="0"/>
              </a:rPr>
              <a:t>Data Flow with Flow diagram</a:t>
            </a:r>
          </a:p>
        </p:txBody>
      </p:sp>
      <p:sp>
        <p:nvSpPr>
          <p:cNvPr id="2" name="Text Placeholder 1">
            <a:extLst>
              <a:ext uri="{FF2B5EF4-FFF2-40B4-BE49-F238E27FC236}">
                <a16:creationId xmlns:a16="http://schemas.microsoft.com/office/drawing/2014/main" id="{506FD1C0-3663-D8B1-D0A9-DE129042D877}"/>
              </a:ext>
            </a:extLst>
          </p:cNvPr>
          <p:cNvSpPr txBox="1">
            <a:spLocks/>
          </p:cNvSpPr>
          <p:nvPr/>
        </p:nvSpPr>
        <p:spPr>
          <a:xfrm>
            <a:off x="263925" y="804333"/>
            <a:ext cx="7096996" cy="57183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rtl="0" fontAlgn="ctr">
              <a:buFont typeface="+mj-lt"/>
              <a:buAutoNum type="arabicPeriod"/>
            </a:pPr>
            <a:r>
              <a:rPr lang="en-US" sz="1800" b="0" i="0" dirty="0">
                <a:effectLst/>
                <a:latin typeface="Calibri" panose="020F0502020204030204" pitchFamily="34" charset="0"/>
              </a:rPr>
              <a:t>User uploads code repository (or provides a link to it) to Cloud Storage.</a:t>
            </a:r>
          </a:p>
          <a:p>
            <a:pPr marL="342900" indent="-342900" rtl="0" fontAlgn="ctr">
              <a:buFont typeface="+mj-lt"/>
              <a:buAutoNum type="arabicPeriod"/>
            </a:pPr>
            <a:r>
              <a:rPr lang="en-US" sz="1800" b="0" i="0" dirty="0">
                <a:effectLst/>
                <a:latin typeface="Calibri" panose="020F0502020204030204" pitchFamily="34" charset="0"/>
              </a:rPr>
              <a:t>User initiates the security analysis through the Vertex AI Agent.</a:t>
            </a:r>
          </a:p>
          <a:p>
            <a:pPr marL="342900" indent="-342900" rtl="0" fontAlgn="ctr">
              <a:buFont typeface="+mj-lt"/>
              <a:buAutoNum type="arabicPeriod"/>
            </a:pPr>
            <a:r>
              <a:rPr lang="en-US" sz="1800" b="0" i="0" dirty="0">
                <a:effectLst/>
                <a:latin typeface="Calibri" panose="020F0502020204030204" pitchFamily="34" charset="0"/>
              </a:rPr>
              <a:t>Agent retrieves security guidelines from Cloud Storage.</a:t>
            </a:r>
          </a:p>
          <a:p>
            <a:pPr marL="342900" indent="-342900" rtl="0" fontAlgn="ctr">
              <a:buFont typeface="+mj-lt"/>
              <a:buAutoNum type="arabicPeriod"/>
            </a:pPr>
            <a:r>
              <a:rPr lang="en-US" sz="1800" b="0" i="0" dirty="0">
                <a:effectLst/>
                <a:latin typeface="Calibri" panose="020F0502020204030204" pitchFamily="34" charset="0"/>
              </a:rPr>
              <a:t>Agent extracts package list from the code.</a:t>
            </a:r>
          </a:p>
          <a:p>
            <a:pPr marL="342900" indent="-342900" rtl="0" fontAlgn="ctr">
              <a:buFont typeface="+mj-lt"/>
              <a:buAutoNum type="arabicPeriod"/>
            </a:pPr>
            <a:r>
              <a:rPr lang="en-US" sz="1800" b="0" i="0" dirty="0">
                <a:effectLst/>
                <a:latin typeface="Calibri" panose="020F0502020204030204" pitchFamily="34" charset="0"/>
              </a:rPr>
              <a:t>For each package, the agent triggers a tool in Cloud Run/Function to query vulnerability databases.</a:t>
            </a:r>
          </a:p>
          <a:p>
            <a:pPr marL="342900" indent="-342900" rtl="0" fontAlgn="ctr">
              <a:buFont typeface="+mj-lt"/>
              <a:buAutoNum type="arabicPeriod"/>
            </a:pPr>
            <a:r>
              <a:rPr lang="en-US" sz="1800" b="0" i="0" dirty="0">
                <a:effectLst/>
                <a:latin typeface="Calibri" panose="020F0502020204030204" pitchFamily="34" charset="0"/>
              </a:rPr>
              <a:t>The tool returns vulnerability details to the agent.</a:t>
            </a:r>
          </a:p>
          <a:p>
            <a:pPr marL="342900" indent="-342900" rtl="0" fontAlgn="ctr">
              <a:buFont typeface="+mj-lt"/>
              <a:buAutoNum type="arabicPeriod"/>
            </a:pPr>
            <a:r>
              <a:rPr lang="en-US" sz="1800" b="0" i="0" dirty="0">
                <a:effectLst/>
                <a:latin typeface="Calibri" panose="020F0502020204030204" pitchFamily="34" charset="0"/>
              </a:rPr>
              <a:t>Agent uses Gemini models to analyze the code against the security guidelines.</a:t>
            </a:r>
          </a:p>
          <a:p>
            <a:pPr marL="342900" indent="-342900" rtl="0" fontAlgn="ctr">
              <a:buFont typeface="+mj-lt"/>
              <a:buAutoNum type="arabicPeriod"/>
            </a:pPr>
            <a:r>
              <a:rPr lang="en-US" sz="1800" b="0" i="0" dirty="0">
                <a:effectLst/>
                <a:latin typeface="Calibri" panose="020F0502020204030204" pitchFamily="34" charset="0"/>
              </a:rPr>
              <a:t>Agent compiles a report with vulnerability findings and code analysis results.</a:t>
            </a:r>
          </a:p>
          <a:p>
            <a:pPr marL="342900" indent="-342900" rtl="0" fontAlgn="ctr">
              <a:buFont typeface="+mj-lt"/>
              <a:buAutoNum type="arabicPeriod"/>
            </a:pPr>
            <a:r>
              <a:rPr lang="en-US" sz="1800" b="0" i="0" dirty="0">
                <a:effectLst/>
                <a:latin typeface="Calibri" panose="020F0502020204030204" pitchFamily="34" charset="0"/>
              </a:rPr>
              <a:t>Agent stores the report in Cloud Storage.</a:t>
            </a:r>
          </a:p>
          <a:p>
            <a:pPr marL="342900" indent="-342900" rtl="0" fontAlgn="ctr">
              <a:buFont typeface="+mj-lt"/>
              <a:buAutoNum type="arabicPeriod"/>
            </a:pPr>
            <a:r>
              <a:rPr lang="en-US" sz="1800" b="0" i="0" dirty="0">
                <a:effectLst/>
                <a:latin typeface="Calibri" panose="020F0502020204030204" pitchFamily="34" charset="0"/>
              </a:rPr>
              <a:t>Agent presents the report to the user.</a:t>
            </a:r>
          </a:p>
          <a:p>
            <a:pPr marL="342900" indent="-342900" rtl="0" fontAlgn="ctr">
              <a:buFont typeface="+mj-lt"/>
              <a:buAutoNum type="arabicPeriod"/>
            </a:pPr>
            <a:r>
              <a:rPr lang="en-US" sz="1800" b="0" i="0" dirty="0">
                <a:effectLst/>
                <a:latin typeface="Calibri" panose="020F0502020204030204" pitchFamily="34" charset="0"/>
              </a:rPr>
              <a:t>Cloud logging and monitoring gather all the process logs, and metrics.</a:t>
            </a:r>
          </a:p>
          <a:p>
            <a:pPr marL="0" indent="0">
              <a:buNone/>
            </a:pPr>
            <a:endParaRPr lang="en-US" sz="1600" dirty="0">
              <a:latin typeface="Calibri" panose="020F0502020204030204" pitchFamily="34" charset="0"/>
              <a:cs typeface="Calibri" panose="020F0502020204030204" pitchFamily="34" charset="0"/>
            </a:endParaRPr>
          </a:p>
        </p:txBody>
      </p:sp>
      <p:pic>
        <p:nvPicPr>
          <p:cNvPr id="4" name="Picture 3" descr="A diagram of a diagram of a company&#10;&#10;AI-generated content may be incorrect.">
            <a:extLst>
              <a:ext uri="{FF2B5EF4-FFF2-40B4-BE49-F238E27FC236}">
                <a16:creationId xmlns:a16="http://schemas.microsoft.com/office/drawing/2014/main" id="{F5210B06-7D19-B376-C0CE-39D058AD41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1973" y="0"/>
            <a:ext cx="4516102" cy="6791279"/>
          </a:xfrm>
          <a:prstGeom prst="rect">
            <a:avLst/>
          </a:prstGeom>
        </p:spPr>
      </p:pic>
    </p:spTree>
    <p:extLst>
      <p:ext uri="{BB962C8B-B14F-4D97-AF65-F5344CB8AC3E}">
        <p14:creationId xmlns:p14="http://schemas.microsoft.com/office/powerpoint/2010/main" val="2960494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58A70-3987-4579-4D1C-33846BBC2E46}"/>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5F3C1BA7-6547-D649-5862-393559402F1E}"/>
              </a:ext>
            </a:extLst>
          </p:cNvPr>
          <p:cNvSpPr>
            <a:spLocks noGrp="1"/>
          </p:cNvSpPr>
          <p:nvPr>
            <p:ph type="body" sz="quarter" idx="10"/>
          </p:nvPr>
        </p:nvSpPr>
        <p:spPr>
          <a:xfrm>
            <a:off x="0" y="0"/>
            <a:ext cx="11407450" cy="466142"/>
          </a:xfrm>
        </p:spPr>
        <p:txBody>
          <a:bodyPr anchor="b"/>
          <a:lstStyle/>
          <a:p>
            <a:r>
              <a:rPr lang="en-US" dirty="0">
                <a:solidFill>
                  <a:srgbClr val="0070C0"/>
                </a:solidFill>
                <a:latin typeface="Calibri" panose="020F0502020204030204" pitchFamily="34" charset="0"/>
                <a:cs typeface="Calibri" panose="020F0502020204030204" pitchFamily="34" charset="0"/>
              </a:rPr>
              <a:t>Technical Solution</a:t>
            </a:r>
          </a:p>
        </p:txBody>
      </p:sp>
      <p:sp>
        <p:nvSpPr>
          <p:cNvPr id="2" name="Text Placeholder 1">
            <a:extLst>
              <a:ext uri="{FF2B5EF4-FFF2-40B4-BE49-F238E27FC236}">
                <a16:creationId xmlns:a16="http://schemas.microsoft.com/office/drawing/2014/main" id="{3F4A1CF4-421D-7DD8-3DAA-B8CB6B5A85A3}"/>
              </a:ext>
            </a:extLst>
          </p:cNvPr>
          <p:cNvSpPr txBox="1">
            <a:spLocks/>
          </p:cNvSpPr>
          <p:nvPr/>
        </p:nvSpPr>
        <p:spPr>
          <a:xfrm>
            <a:off x="178187" y="233071"/>
            <a:ext cx="11229263" cy="57183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endParaRPr lang="en-US" sz="1600" dirty="0">
              <a:latin typeface="Calibri" panose="020F0502020204030204" pitchFamily="34" charset="0"/>
              <a:cs typeface="Calibri" panose="020F0502020204030204" pitchFamily="34" charset="0"/>
            </a:endParaRPr>
          </a:p>
          <a:p>
            <a:pPr>
              <a:buFont typeface="Wingdings" panose="05000000000000000000" pitchFamily="2" charset="2"/>
              <a:buChar char="Ø"/>
            </a:pPr>
            <a:r>
              <a:rPr lang="en-US" sz="1600" b="1" dirty="0">
                <a:latin typeface="Calibri" panose="020F0502020204030204" pitchFamily="34" charset="0"/>
                <a:cs typeface="Calibri" panose="020F0502020204030204" pitchFamily="34" charset="0"/>
              </a:rPr>
              <a:t>SOLUTION ARCHITECTURE</a:t>
            </a:r>
            <a:r>
              <a:rPr lang="en-US" sz="1600" dirty="0">
                <a:latin typeface="Calibri" panose="020F0502020204030204" pitchFamily="34" charset="0"/>
                <a:cs typeface="Calibri" panose="020F0502020204030204" pitchFamily="34" charset="0"/>
              </a:rPr>
              <a:t> – FLOW DIAGRAM</a:t>
            </a:r>
          </a:p>
          <a:p>
            <a:pPr marL="0" indent="0">
              <a:buFont typeface="Arial" panose="020B0604020202020204" pitchFamily="34" charset="0"/>
              <a:buNone/>
            </a:pPr>
            <a:endParaRPr lang="en-US" i="1" dirty="0">
              <a:latin typeface="Calibri" panose="020F0502020204030204" pitchFamily="34" charset="0"/>
              <a:cs typeface="Calibri" panose="020F0502020204030204" pitchFamily="34" charset="0"/>
            </a:endParaRPr>
          </a:p>
        </p:txBody>
      </p:sp>
      <p:pic>
        <p:nvPicPr>
          <p:cNvPr id="2052" name="Picture 4">
            <a:extLst>
              <a:ext uri="{FF2B5EF4-FFF2-40B4-BE49-F238E27FC236}">
                <a16:creationId xmlns:a16="http://schemas.microsoft.com/office/drawing/2014/main" id="{EA53BD06-D262-C4BF-9F55-DDB1FD0370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055" y="876713"/>
            <a:ext cx="11311890" cy="5834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9822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6FD3D-4B18-B718-9533-8AADA3FC4049}"/>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6B3D9ADE-446D-B902-DBED-1A6A33C1D28C}"/>
              </a:ext>
            </a:extLst>
          </p:cNvPr>
          <p:cNvSpPr>
            <a:spLocks noGrp="1"/>
          </p:cNvSpPr>
          <p:nvPr>
            <p:ph type="body" sz="quarter" idx="10"/>
          </p:nvPr>
        </p:nvSpPr>
        <p:spPr>
          <a:xfrm>
            <a:off x="392275" y="236827"/>
            <a:ext cx="11407450" cy="466142"/>
          </a:xfrm>
        </p:spPr>
        <p:txBody>
          <a:bodyPr anchor="b"/>
          <a:lstStyle/>
          <a:p>
            <a:r>
              <a:rPr lang="en-US" dirty="0">
                <a:solidFill>
                  <a:srgbClr val="0070C0"/>
                </a:solidFill>
                <a:latin typeface="Calibri" panose="020F0502020204030204" pitchFamily="34" charset="0"/>
                <a:cs typeface="Calibri" panose="020F0502020204030204" pitchFamily="34" charset="0"/>
              </a:rPr>
              <a:t>Agent Design</a:t>
            </a:r>
          </a:p>
        </p:txBody>
      </p:sp>
      <p:sp>
        <p:nvSpPr>
          <p:cNvPr id="2" name="Text Placeholder 1">
            <a:extLst>
              <a:ext uri="{FF2B5EF4-FFF2-40B4-BE49-F238E27FC236}">
                <a16:creationId xmlns:a16="http://schemas.microsoft.com/office/drawing/2014/main" id="{5F44DF92-082B-F3F5-4F8C-5AEFBC7080D3}"/>
              </a:ext>
            </a:extLst>
          </p:cNvPr>
          <p:cNvSpPr txBox="1">
            <a:spLocks/>
          </p:cNvSpPr>
          <p:nvPr/>
        </p:nvSpPr>
        <p:spPr>
          <a:xfrm>
            <a:off x="263924" y="804333"/>
            <a:ext cx="11229263" cy="57183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fontAlgn="ctr">
              <a:lnSpc>
                <a:spcPct val="150000"/>
              </a:lnSpc>
              <a:buFont typeface="Arial" panose="020B0604020202020204" pitchFamily="34" charset="0"/>
              <a:buChar char="•"/>
            </a:pPr>
            <a:r>
              <a:rPr lang="en-US" sz="1600" b="1" dirty="0">
                <a:effectLst/>
                <a:latin typeface="Calibri" panose="020F0502020204030204" pitchFamily="34" charset="0"/>
              </a:rPr>
              <a:t>Orchestration Agent (Vertex AI Agent Builder): </a:t>
            </a:r>
            <a:endParaRPr lang="en-US" sz="1600" dirty="0">
              <a:effectLst/>
              <a:latin typeface="Calibri" panose="020F0502020204030204" pitchFamily="34" charset="0"/>
            </a:endParaRPr>
          </a:p>
          <a:p>
            <a:pPr marL="742950" lvl="1" indent="-285750" rtl="0" fontAlgn="ctr">
              <a:lnSpc>
                <a:spcPct val="150000"/>
              </a:lnSpc>
              <a:buFont typeface="Courier New" panose="02070309020205020404" pitchFamily="49" charset="0"/>
              <a:buChar char="o"/>
            </a:pPr>
            <a:r>
              <a:rPr lang="en-US" sz="1600" dirty="0">
                <a:effectLst/>
                <a:latin typeface="Calibri" panose="020F0502020204030204" pitchFamily="34" charset="0"/>
              </a:rPr>
              <a:t>This is the primary agent, responsible for managing the overall workflow.</a:t>
            </a:r>
          </a:p>
          <a:p>
            <a:pPr marL="742950" lvl="1" indent="-285750" rtl="0" fontAlgn="ctr">
              <a:lnSpc>
                <a:spcPct val="150000"/>
              </a:lnSpc>
              <a:buFont typeface="Courier New" panose="02070309020205020404" pitchFamily="49" charset="0"/>
              <a:buChar char="o"/>
            </a:pPr>
            <a:r>
              <a:rPr lang="en-US" sz="1600" dirty="0">
                <a:effectLst/>
                <a:latin typeface="Calibri" panose="020F0502020204030204" pitchFamily="34" charset="0"/>
              </a:rPr>
              <a:t>It acts as a coordinator, delegating tasks to other specialized agents or services.</a:t>
            </a:r>
          </a:p>
          <a:p>
            <a:pPr marL="742950" lvl="1" indent="-285750" rtl="0" fontAlgn="ctr">
              <a:lnSpc>
                <a:spcPct val="150000"/>
              </a:lnSpc>
              <a:buFont typeface="Courier New" panose="02070309020205020404" pitchFamily="49" charset="0"/>
              <a:buChar char="o"/>
            </a:pPr>
            <a:r>
              <a:rPr lang="en-US" sz="1600" dirty="0">
                <a:effectLst/>
                <a:latin typeface="Calibri" panose="020F0502020204030204" pitchFamily="34" charset="0"/>
              </a:rPr>
              <a:t>It handles user interactions, manages the flow of information, and generates the final report.</a:t>
            </a:r>
          </a:p>
          <a:p>
            <a:pPr marL="742950" lvl="1" indent="-285750" rtl="0" fontAlgn="ctr">
              <a:lnSpc>
                <a:spcPct val="150000"/>
              </a:lnSpc>
              <a:buFont typeface="Courier New" panose="02070309020205020404" pitchFamily="49" charset="0"/>
              <a:buChar char="o"/>
            </a:pPr>
            <a:r>
              <a:rPr lang="en-US" sz="1600" dirty="0">
                <a:effectLst/>
                <a:latin typeface="Calibri" panose="020F0502020204030204" pitchFamily="34" charset="0"/>
              </a:rPr>
              <a:t>It uses Gemini as its core reasoning and language model.</a:t>
            </a:r>
          </a:p>
          <a:p>
            <a:pPr rtl="0" fontAlgn="ctr">
              <a:lnSpc>
                <a:spcPct val="150000"/>
              </a:lnSpc>
              <a:buFont typeface="Arial" panose="020B0604020202020204" pitchFamily="34" charset="0"/>
              <a:buChar char="•"/>
            </a:pPr>
            <a:r>
              <a:rPr lang="en-US" sz="1600" b="1" dirty="0">
                <a:effectLst/>
                <a:latin typeface="Calibri" panose="020F0502020204030204" pitchFamily="34" charset="0"/>
              </a:rPr>
              <a:t>Specialized Agents/Services (Cloud Run): </a:t>
            </a:r>
            <a:endParaRPr lang="en-US" sz="1600" dirty="0">
              <a:effectLst/>
              <a:latin typeface="Calibri" panose="020F0502020204030204" pitchFamily="34" charset="0"/>
            </a:endParaRPr>
          </a:p>
          <a:p>
            <a:pPr marL="742950" lvl="1" indent="-285750" rtl="0" fontAlgn="ctr">
              <a:lnSpc>
                <a:spcPct val="150000"/>
              </a:lnSpc>
              <a:buFont typeface="Courier New" panose="02070309020205020404" pitchFamily="49" charset="0"/>
              <a:buChar char="o"/>
            </a:pPr>
            <a:r>
              <a:rPr lang="en-US" sz="1600" dirty="0">
                <a:effectLst/>
                <a:latin typeface="Calibri" panose="020F0502020204030204" pitchFamily="34" charset="0"/>
              </a:rPr>
              <a:t>These are task-specific agents or services deployed as Cloud Run containers.</a:t>
            </a:r>
          </a:p>
          <a:p>
            <a:pPr marL="742950" lvl="1" indent="-285750" rtl="0" fontAlgn="ctr">
              <a:lnSpc>
                <a:spcPct val="150000"/>
              </a:lnSpc>
              <a:buFont typeface="Courier New" panose="02070309020205020404" pitchFamily="49" charset="0"/>
              <a:buChar char="o"/>
            </a:pPr>
            <a:r>
              <a:rPr lang="en-US" sz="1600" dirty="0">
                <a:effectLst/>
                <a:latin typeface="Calibri" panose="020F0502020204030204" pitchFamily="34" charset="0"/>
              </a:rPr>
              <a:t>They perform specific functions, such as vulnerability database queries or complex code analysis.</a:t>
            </a:r>
          </a:p>
          <a:p>
            <a:pPr marL="742950" lvl="1" indent="-285750" rtl="0" fontAlgn="ctr">
              <a:lnSpc>
                <a:spcPct val="150000"/>
              </a:lnSpc>
              <a:buFont typeface="Courier New" panose="02070309020205020404" pitchFamily="49" charset="0"/>
              <a:buChar char="o"/>
            </a:pPr>
            <a:r>
              <a:rPr lang="en-US" sz="1600" dirty="0">
                <a:effectLst/>
                <a:latin typeface="Calibri" panose="020F0502020204030204" pitchFamily="34" charset="0"/>
              </a:rPr>
              <a:t>They communicate with the orchestration agent via API calls.</a:t>
            </a:r>
          </a:p>
          <a:p>
            <a:pPr marL="0" marR="0">
              <a:lnSpc>
                <a:spcPct val="150000"/>
              </a:lnSpc>
            </a:pPr>
            <a:r>
              <a:rPr lang="en-US" sz="1600" b="1" dirty="0">
                <a:latin typeface="Calibri" panose="020F0502020204030204" pitchFamily="34" charset="0"/>
              </a:rPr>
              <a:t>Agent Communication:</a:t>
            </a:r>
          </a:p>
          <a:p>
            <a:pPr lvl="1" fontAlgn="ctr">
              <a:lnSpc>
                <a:spcPct val="150000"/>
              </a:lnSpc>
            </a:pPr>
            <a:r>
              <a:rPr lang="en-US" sz="1600" dirty="0">
                <a:latin typeface="Calibri" panose="020F0502020204030204" pitchFamily="34" charset="0"/>
              </a:rPr>
              <a:t>The orchestration agent communicates with the specialized agents/services via REST API calls.</a:t>
            </a:r>
          </a:p>
          <a:p>
            <a:pPr lvl="1" fontAlgn="ctr">
              <a:lnSpc>
                <a:spcPct val="150000"/>
              </a:lnSpc>
            </a:pPr>
            <a:r>
              <a:rPr lang="en-US" sz="1600" dirty="0">
                <a:latin typeface="Calibri" panose="020F0502020204030204" pitchFamily="34" charset="0"/>
              </a:rPr>
              <a:t>Data is exchanged in JSON format.</a:t>
            </a:r>
          </a:p>
          <a:p>
            <a:pPr lvl="1" fontAlgn="ctr">
              <a:lnSpc>
                <a:spcPct val="150000"/>
              </a:lnSpc>
            </a:pPr>
            <a:r>
              <a:rPr lang="en-US" sz="1600" dirty="0">
                <a:latin typeface="Calibri" panose="020F0502020204030204" pitchFamily="34" charset="0"/>
              </a:rPr>
              <a:t>This allows for loose coupling and scalability.</a:t>
            </a:r>
          </a:p>
          <a:p>
            <a:pPr marL="457200" lvl="1" indent="0" rtl="0" fontAlgn="ctr">
              <a:buNone/>
            </a:pPr>
            <a:endParaRPr lang="en-US" sz="2000" dirty="0">
              <a:latin typeface="Calibri" panose="020F0502020204030204" pitchFamily="34" charset="0"/>
            </a:endParaRPr>
          </a:p>
        </p:txBody>
      </p:sp>
    </p:spTree>
    <p:extLst>
      <p:ext uri="{BB962C8B-B14F-4D97-AF65-F5344CB8AC3E}">
        <p14:creationId xmlns:p14="http://schemas.microsoft.com/office/powerpoint/2010/main" val="2263140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6975E-DAB1-B56C-3DE2-27898D792F19}"/>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F499C348-06CF-80FE-4A5D-2228BBD59304}"/>
              </a:ext>
            </a:extLst>
          </p:cNvPr>
          <p:cNvSpPr>
            <a:spLocks noGrp="1"/>
          </p:cNvSpPr>
          <p:nvPr>
            <p:ph type="body" sz="quarter" idx="10"/>
          </p:nvPr>
        </p:nvSpPr>
        <p:spPr/>
        <p:txBody>
          <a:bodyPr anchor="b"/>
          <a:lstStyle/>
          <a:p>
            <a:r>
              <a:rPr lang="en-US" dirty="0">
                <a:solidFill>
                  <a:srgbClr val="0070C0"/>
                </a:solidFill>
                <a:latin typeface="Calibri" panose="020F0502020204030204" pitchFamily="34" charset="0"/>
                <a:cs typeface="Calibri" panose="020F0502020204030204" pitchFamily="34" charset="0"/>
              </a:rPr>
              <a:t>Agent Details</a:t>
            </a:r>
          </a:p>
        </p:txBody>
      </p:sp>
      <p:sp>
        <p:nvSpPr>
          <p:cNvPr id="2" name="Text Placeholder 1">
            <a:extLst>
              <a:ext uri="{FF2B5EF4-FFF2-40B4-BE49-F238E27FC236}">
                <a16:creationId xmlns:a16="http://schemas.microsoft.com/office/drawing/2014/main" id="{88AEFB93-8756-FB7C-E8D8-456CADF2DFC3}"/>
              </a:ext>
            </a:extLst>
          </p:cNvPr>
          <p:cNvSpPr txBox="1">
            <a:spLocks/>
          </p:cNvSpPr>
          <p:nvPr/>
        </p:nvSpPr>
        <p:spPr>
          <a:xfrm>
            <a:off x="263925" y="897437"/>
            <a:ext cx="11229263" cy="57183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1600" dirty="0">
                <a:latin typeface="Calibri" panose="020F0502020204030204" pitchFamily="34" charset="0"/>
                <a:cs typeface="Calibri" panose="020F0502020204030204" pitchFamily="34" charset="0"/>
              </a:rPr>
              <a:t>List down in the tabular format the agents you will build to develop this use case.</a:t>
            </a:r>
          </a:p>
          <a:p>
            <a:pPr>
              <a:buFont typeface="Wingdings" panose="05000000000000000000" pitchFamily="2" charset="2"/>
              <a:buChar char="Ø"/>
            </a:pPr>
            <a:endParaRPr lang="en-US" sz="1600" dirty="0">
              <a:latin typeface="Calibri" panose="020F0502020204030204" pitchFamily="34" charset="0"/>
              <a:cs typeface="Calibri" panose="020F0502020204030204" pitchFamily="34" charset="0"/>
            </a:endParaRPr>
          </a:p>
          <a:p>
            <a:pPr>
              <a:buFont typeface="Wingdings" panose="05000000000000000000" pitchFamily="2" charset="2"/>
              <a:buChar char="Ø"/>
            </a:pPr>
            <a:endParaRPr lang="en-US" sz="1600" dirty="0">
              <a:latin typeface="Calibri" panose="020F0502020204030204" pitchFamily="34" charset="0"/>
              <a:cs typeface="Calibri" panose="020F0502020204030204" pitchFamily="34" charset="0"/>
            </a:endParaRPr>
          </a:p>
          <a:p>
            <a:pPr marL="0" indent="0">
              <a:buFont typeface="Arial" panose="020B0604020202020204" pitchFamily="34" charset="0"/>
              <a:buNone/>
            </a:pPr>
            <a:endParaRPr lang="en-US" i="1" dirty="0">
              <a:latin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F948B1FE-8E7E-6B9B-C82B-BFA25074EEA7}"/>
              </a:ext>
            </a:extLst>
          </p:cNvPr>
          <p:cNvGraphicFramePr>
            <a:graphicFrameLocks noGrp="1"/>
          </p:cNvGraphicFramePr>
          <p:nvPr>
            <p:extLst>
              <p:ext uri="{D42A27DB-BD31-4B8C-83A1-F6EECF244321}">
                <p14:modId xmlns:p14="http://schemas.microsoft.com/office/powerpoint/2010/main" val="648650136"/>
              </p:ext>
            </p:extLst>
          </p:nvPr>
        </p:nvGraphicFramePr>
        <p:xfrm>
          <a:off x="535709" y="1326663"/>
          <a:ext cx="10957479" cy="4455160"/>
        </p:xfrm>
        <a:graphic>
          <a:graphicData uri="http://schemas.openxmlformats.org/drawingml/2006/table">
            <a:tbl>
              <a:tblPr firstRow="1" bandRow="1">
                <a:tableStyleId>{5C22544A-7EE6-4342-B048-85BDC9FD1C3A}</a:tableStyleId>
              </a:tblPr>
              <a:tblGrid>
                <a:gridCol w="2628115">
                  <a:extLst>
                    <a:ext uri="{9D8B030D-6E8A-4147-A177-3AD203B41FA5}">
                      <a16:colId xmlns:a16="http://schemas.microsoft.com/office/drawing/2014/main" val="4051991212"/>
                    </a:ext>
                  </a:extLst>
                </a:gridCol>
                <a:gridCol w="5806440">
                  <a:extLst>
                    <a:ext uri="{9D8B030D-6E8A-4147-A177-3AD203B41FA5}">
                      <a16:colId xmlns:a16="http://schemas.microsoft.com/office/drawing/2014/main" val="720140769"/>
                    </a:ext>
                  </a:extLst>
                </a:gridCol>
                <a:gridCol w="2522924">
                  <a:extLst>
                    <a:ext uri="{9D8B030D-6E8A-4147-A177-3AD203B41FA5}">
                      <a16:colId xmlns:a16="http://schemas.microsoft.com/office/drawing/2014/main" val="3276360022"/>
                    </a:ext>
                  </a:extLst>
                </a:gridCol>
              </a:tblGrid>
              <a:tr h="370840">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Agent Name </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Agent Description</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Google service used</a:t>
                      </a:r>
                    </a:p>
                  </a:txBody>
                  <a:tcPr/>
                </a:tc>
                <a:extLst>
                  <a:ext uri="{0D108BD9-81ED-4DB2-BD59-A6C34878D82A}">
                    <a16:rowId xmlns:a16="http://schemas.microsoft.com/office/drawing/2014/main" val="197332053"/>
                  </a:ext>
                </a:extLst>
              </a:tr>
              <a:tr h="370840">
                <a:tc>
                  <a:txBody>
                    <a:bodyPr/>
                    <a:lstStyle/>
                    <a:p>
                      <a:pPr algn="ctr"/>
                      <a:r>
                        <a:rPr lang="en-US" sz="1400" kern="1200" dirty="0">
                          <a:solidFill>
                            <a:schemeClr val="dk1"/>
                          </a:solidFill>
                          <a:latin typeface="Calibri" panose="020F0502020204030204" pitchFamily="34" charset="0"/>
                          <a:ea typeface="Calibri" panose="020F0502020204030204" pitchFamily="34" charset="0"/>
                          <a:cs typeface="Calibri" panose="020F0502020204030204" pitchFamily="34" charset="0"/>
                        </a:rPr>
                        <a:t>Orchestrator Agent</a:t>
                      </a:r>
                    </a:p>
                  </a:txBody>
                  <a:tcPr/>
                </a:tc>
                <a:tc>
                  <a:txBody>
                    <a:bodyPr/>
                    <a:lstStyle/>
                    <a:p>
                      <a:pPr marL="285750" indent="-285750" algn="l">
                        <a:buFont typeface="Arial" panose="020B0604020202020204" pitchFamily="34" charset="0"/>
                        <a:buChar char="•"/>
                      </a:pPr>
                      <a:r>
                        <a:rPr lang="en-US" sz="1400" kern="1200" dirty="0">
                          <a:solidFill>
                            <a:schemeClr val="dk1"/>
                          </a:solidFill>
                          <a:latin typeface="Calibri" panose="020F0502020204030204" pitchFamily="34" charset="0"/>
                          <a:ea typeface="Calibri" panose="020F0502020204030204" pitchFamily="34" charset="0"/>
                          <a:cs typeface="Calibri" panose="020F0502020204030204" pitchFamily="34" charset="0"/>
                        </a:rPr>
                        <a:t>Manages the overall workflow.</a:t>
                      </a:r>
                    </a:p>
                    <a:p>
                      <a:pPr marL="285750" indent="-285750" algn="l">
                        <a:buFont typeface="Arial" panose="020B0604020202020204" pitchFamily="34" charset="0"/>
                        <a:buChar char="•"/>
                      </a:pPr>
                      <a:r>
                        <a:rPr lang="en-US" sz="1400" kern="1200" dirty="0">
                          <a:solidFill>
                            <a:schemeClr val="dk1"/>
                          </a:solidFill>
                          <a:latin typeface="Calibri" panose="020F0502020204030204" pitchFamily="34" charset="0"/>
                          <a:ea typeface="Calibri" panose="020F0502020204030204" pitchFamily="34" charset="0"/>
                          <a:cs typeface="Calibri" panose="020F0502020204030204" pitchFamily="34" charset="0"/>
                        </a:rPr>
                        <a:t>Interprets user input.</a:t>
                      </a:r>
                    </a:p>
                    <a:p>
                      <a:pPr marL="285750" indent="-285750" algn="l">
                        <a:buFont typeface="Arial" panose="020B0604020202020204" pitchFamily="34" charset="0"/>
                        <a:buChar char="•"/>
                      </a:pPr>
                      <a:r>
                        <a:rPr lang="en-US" sz="1400" kern="1200" dirty="0">
                          <a:solidFill>
                            <a:schemeClr val="dk1"/>
                          </a:solidFill>
                          <a:latin typeface="Calibri" panose="020F0502020204030204" pitchFamily="34" charset="0"/>
                          <a:ea typeface="Calibri" panose="020F0502020204030204" pitchFamily="34" charset="0"/>
                          <a:cs typeface="Calibri" panose="020F0502020204030204" pitchFamily="34" charset="0"/>
                        </a:rPr>
                        <a:t>Calls other agents/services.</a:t>
                      </a:r>
                    </a:p>
                    <a:p>
                      <a:pPr marL="285750" indent="-285750" algn="l">
                        <a:buFont typeface="Arial" panose="020B0604020202020204" pitchFamily="34" charset="0"/>
                        <a:buChar char="•"/>
                      </a:pPr>
                      <a:r>
                        <a:rPr lang="en-US" sz="1400" kern="1200" dirty="0">
                          <a:solidFill>
                            <a:schemeClr val="dk1"/>
                          </a:solidFill>
                          <a:latin typeface="Calibri" panose="020F0502020204030204" pitchFamily="34" charset="0"/>
                          <a:ea typeface="Calibri" panose="020F0502020204030204" pitchFamily="34" charset="0"/>
                          <a:cs typeface="Calibri" panose="020F0502020204030204" pitchFamily="34" charset="0"/>
                        </a:rPr>
                        <a:t>Compiles and presents results.</a:t>
                      </a:r>
                    </a:p>
                    <a:p>
                      <a:pPr marL="285750" indent="-285750" algn="l">
                        <a:buFont typeface="Arial" panose="020B0604020202020204" pitchFamily="34" charset="0"/>
                        <a:buChar char="•"/>
                      </a:pPr>
                      <a:r>
                        <a:rPr lang="en-US" sz="1400" kern="1200" dirty="0">
                          <a:solidFill>
                            <a:schemeClr val="dk1"/>
                          </a:solidFill>
                          <a:latin typeface="Calibri" panose="020F0502020204030204" pitchFamily="34" charset="0"/>
                          <a:ea typeface="Calibri" panose="020F0502020204030204" pitchFamily="34" charset="0"/>
                          <a:cs typeface="Calibri" panose="020F0502020204030204" pitchFamily="34" charset="0"/>
                        </a:rPr>
                        <a:t>Handles user communication and provides the final output.</a:t>
                      </a:r>
                    </a:p>
                  </a:txBody>
                  <a:tcPr/>
                </a:tc>
                <a:tc>
                  <a:txBody>
                    <a:bodyPr/>
                    <a:lstStyle/>
                    <a:p>
                      <a:pPr algn="ctr"/>
                      <a:r>
                        <a:rPr lang="en-US" sz="1400" kern="1200" dirty="0">
                          <a:solidFill>
                            <a:schemeClr val="dk1"/>
                          </a:solidFill>
                          <a:latin typeface="Calibri" panose="020F0502020204030204" pitchFamily="34" charset="0"/>
                          <a:ea typeface="Calibri" panose="020F0502020204030204" pitchFamily="34" charset="0"/>
                          <a:cs typeface="Calibri" panose="020F0502020204030204" pitchFamily="34" charset="0"/>
                        </a:rPr>
                        <a:t>Vertex AI Agent Builder</a:t>
                      </a:r>
                    </a:p>
                  </a:txBody>
                  <a:tcPr/>
                </a:tc>
                <a:extLst>
                  <a:ext uri="{0D108BD9-81ED-4DB2-BD59-A6C34878D82A}">
                    <a16:rowId xmlns:a16="http://schemas.microsoft.com/office/drawing/2014/main" val="924383620"/>
                  </a:ext>
                </a:extLst>
              </a:tr>
              <a:tr h="370840">
                <a:tc>
                  <a:txBody>
                    <a:bodyPr/>
                    <a:lstStyle/>
                    <a:p>
                      <a:pPr algn="ctr"/>
                      <a:r>
                        <a:rPr lang="en-US" sz="1400" dirty="0">
                          <a:latin typeface="Calibri" panose="020F0502020204030204" pitchFamily="34" charset="0"/>
                          <a:ea typeface="Calibri" panose="020F0502020204030204" pitchFamily="34" charset="0"/>
                          <a:cs typeface="Calibri" panose="020F0502020204030204" pitchFamily="34" charset="0"/>
                        </a:rPr>
                        <a:t>Vulnerability Lookup Agent</a:t>
                      </a:r>
                    </a:p>
                  </a:txBody>
                  <a:tcPr/>
                </a:tc>
                <a:tc>
                  <a:txBody>
                    <a:bodyPr/>
                    <a:lstStyle/>
                    <a:p>
                      <a:pPr marL="285750" indent="-285750" algn="l">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Queries external vulnerability databases (NVD, </a:t>
                      </a:r>
                      <a:r>
                        <a:rPr lang="en-US" sz="1400" dirty="0" err="1">
                          <a:latin typeface="Calibri" panose="020F0502020204030204" pitchFamily="34" charset="0"/>
                          <a:ea typeface="Calibri" panose="020F0502020204030204" pitchFamily="34" charset="0"/>
                          <a:cs typeface="Calibri" panose="020F0502020204030204" pitchFamily="34" charset="0"/>
                        </a:rPr>
                        <a:t>Snyk</a:t>
                      </a:r>
                      <a:r>
                        <a:rPr lang="en-US" sz="1400" dirty="0">
                          <a:latin typeface="Calibri" panose="020F0502020204030204" pitchFamily="34" charset="0"/>
                          <a:ea typeface="Calibri" panose="020F0502020204030204" pitchFamily="34" charset="0"/>
                          <a:cs typeface="Calibri" panose="020F0502020204030204" pitchFamily="34" charset="0"/>
                        </a:rPr>
                        <a:t>, etc.).</a:t>
                      </a:r>
                    </a:p>
                    <a:p>
                      <a:pPr marL="285750" indent="-285750" algn="l">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Retrieves vulnerability information for specific packages.</a:t>
                      </a:r>
                    </a:p>
                  </a:txBody>
                  <a:tcPr/>
                </a:tc>
                <a:tc>
                  <a:txBody>
                    <a:bodyPr/>
                    <a:lstStyle/>
                    <a:p>
                      <a:pPr algn="ctr"/>
                      <a:r>
                        <a:rPr lang="en-US" sz="1400" dirty="0">
                          <a:latin typeface="Calibri" panose="020F0502020204030204" pitchFamily="34" charset="0"/>
                          <a:ea typeface="Calibri" panose="020F0502020204030204" pitchFamily="34" charset="0"/>
                          <a:cs typeface="Calibri" panose="020F0502020204030204" pitchFamily="34" charset="0"/>
                        </a:rPr>
                        <a:t>Cloud Run/Function</a:t>
                      </a:r>
                    </a:p>
                  </a:txBody>
                  <a:tcPr/>
                </a:tc>
                <a:extLst>
                  <a:ext uri="{0D108BD9-81ED-4DB2-BD59-A6C34878D82A}">
                    <a16:rowId xmlns:a16="http://schemas.microsoft.com/office/drawing/2014/main" val="3028411504"/>
                  </a:ext>
                </a:extLst>
              </a:tr>
              <a:tr h="370840">
                <a:tc>
                  <a:txBody>
                    <a:bodyPr/>
                    <a:lstStyle/>
                    <a:p>
                      <a:pPr algn="ctr"/>
                      <a:r>
                        <a:rPr lang="en-US" sz="1400" dirty="0">
                          <a:latin typeface="Calibri" panose="020F0502020204030204" pitchFamily="34" charset="0"/>
                          <a:ea typeface="Calibri" panose="020F0502020204030204" pitchFamily="34" charset="0"/>
                          <a:cs typeface="Calibri" panose="020F0502020204030204" pitchFamily="34" charset="0"/>
                        </a:rPr>
                        <a:t>Code Retrieval Agent</a:t>
                      </a:r>
                    </a:p>
                  </a:txBody>
                  <a:tcPr/>
                </a:tc>
                <a:tc>
                  <a:txBody>
                    <a:bodyPr/>
                    <a:lstStyle/>
                    <a:p>
                      <a:pPr marL="285750" indent="-285750" algn="l">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Retrieves code from various sources, such as repositories (GitHub, Cloud Source Repositories) or local files.</a:t>
                      </a:r>
                    </a:p>
                    <a:p>
                      <a:pPr marL="285750" indent="-285750" algn="l">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Handles authentication and authorization for accessing code repositories.</a:t>
                      </a:r>
                    </a:p>
                  </a:txBody>
                  <a:tcPr/>
                </a:tc>
                <a:tc>
                  <a:txBody>
                    <a:bodyPr/>
                    <a:lstStyle/>
                    <a:p>
                      <a:pPr algn="ctr"/>
                      <a:r>
                        <a:rPr lang="en-US" sz="1400" dirty="0">
                          <a:latin typeface="Calibri" panose="020F0502020204030204" pitchFamily="34" charset="0"/>
                          <a:ea typeface="Calibri" panose="020F0502020204030204" pitchFamily="34" charset="0"/>
                          <a:cs typeface="Calibri" panose="020F0502020204030204" pitchFamily="34" charset="0"/>
                        </a:rPr>
                        <a:t>Cloud Run/Function</a:t>
                      </a:r>
                    </a:p>
                  </a:txBody>
                  <a:tcPr/>
                </a:tc>
                <a:extLst>
                  <a:ext uri="{0D108BD9-81ED-4DB2-BD59-A6C34878D82A}">
                    <a16:rowId xmlns:a16="http://schemas.microsoft.com/office/drawing/2014/main" val="722184608"/>
                  </a:ext>
                </a:extLst>
              </a:tr>
              <a:tr h="370840">
                <a:tc>
                  <a:txBody>
                    <a:bodyPr/>
                    <a:lstStyle/>
                    <a:p>
                      <a:pPr algn="ctr"/>
                      <a:r>
                        <a:rPr lang="en-US" sz="1400" dirty="0">
                          <a:latin typeface="Calibri" panose="020F0502020204030204" pitchFamily="34" charset="0"/>
                          <a:ea typeface="Calibri" panose="020F0502020204030204" pitchFamily="34" charset="0"/>
                          <a:cs typeface="Calibri" panose="020F0502020204030204" pitchFamily="34" charset="0"/>
                        </a:rPr>
                        <a:t>Code Analysis Agent</a:t>
                      </a:r>
                    </a:p>
                  </a:txBody>
                  <a:tcPr/>
                </a:tc>
                <a:tc>
                  <a:txBody>
                    <a:bodyPr/>
                    <a:lstStyle/>
                    <a:p>
                      <a:pPr marL="285750" indent="-285750" algn="l">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Performs deeper static analysis of the code.</a:t>
                      </a:r>
                    </a:p>
                    <a:p>
                      <a:pPr marL="285750" indent="-285750" algn="l">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Checks for compliance with specific security guidelines.</a:t>
                      </a:r>
                    </a:p>
                    <a:p>
                      <a:pPr marL="285750" indent="-285750" algn="l">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May use static analysis tools.</a:t>
                      </a:r>
                    </a:p>
                  </a:txBody>
                  <a:tcPr/>
                </a:tc>
                <a:tc>
                  <a:txBody>
                    <a:bodyPr/>
                    <a:lstStyle/>
                    <a:p>
                      <a:pPr algn="ctr"/>
                      <a:r>
                        <a:rPr lang="en-US" sz="1400" dirty="0">
                          <a:latin typeface="Calibri" panose="020F0502020204030204" pitchFamily="34" charset="0"/>
                          <a:ea typeface="Calibri" panose="020F0502020204030204" pitchFamily="34" charset="0"/>
                          <a:cs typeface="Calibri" panose="020F0502020204030204" pitchFamily="34" charset="0"/>
                        </a:rPr>
                        <a:t>Cloud Run/Function</a:t>
                      </a:r>
                    </a:p>
                  </a:txBody>
                  <a:tcPr/>
                </a:tc>
                <a:extLst>
                  <a:ext uri="{0D108BD9-81ED-4DB2-BD59-A6C34878D82A}">
                    <a16:rowId xmlns:a16="http://schemas.microsoft.com/office/drawing/2014/main" val="3029274553"/>
                  </a:ext>
                </a:extLst>
              </a:tr>
              <a:tr h="370840">
                <a:tc>
                  <a:txBody>
                    <a:bodyPr/>
                    <a:lstStyle/>
                    <a:p>
                      <a:pPr algn="ctr"/>
                      <a:r>
                        <a:rPr lang="en-US" sz="1400" dirty="0">
                          <a:latin typeface="Calibri" panose="020F0502020204030204" pitchFamily="34" charset="0"/>
                          <a:ea typeface="Calibri" panose="020F0502020204030204" pitchFamily="34" charset="0"/>
                          <a:cs typeface="Calibri" panose="020F0502020204030204" pitchFamily="34" charset="0"/>
                        </a:rPr>
                        <a:t>Reporting Agent</a:t>
                      </a:r>
                    </a:p>
                  </a:txBody>
                  <a:tcPr/>
                </a:tc>
                <a:tc>
                  <a:txBody>
                    <a:bodyPr/>
                    <a:lstStyle/>
                    <a:p>
                      <a:pPr marL="285750" indent="-285750" algn="l">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Compiles the results from the analysis agent and presents them in a clear and concise format.</a:t>
                      </a:r>
                    </a:p>
                    <a:p>
                      <a:pPr marL="285750" indent="-285750" algn="l">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Generating and formatting the security analysis reports.</a:t>
                      </a:r>
                    </a:p>
                    <a:p>
                      <a:pPr marL="285750" indent="-285750" algn="l">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Integrates with reporting tools and platforms.</a:t>
                      </a:r>
                    </a:p>
                  </a:txBody>
                  <a:tcPr/>
                </a:tc>
                <a:tc>
                  <a:txBody>
                    <a:bodyPr/>
                    <a:lstStyle/>
                    <a:p>
                      <a:pPr algn="ctr"/>
                      <a:r>
                        <a:rPr lang="en-US" sz="1400" dirty="0">
                          <a:latin typeface="Calibri" panose="020F0502020204030204" pitchFamily="34" charset="0"/>
                          <a:ea typeface="Calibri" panose="020F0502020204030204" pitchFamily="34" charset="0"/>
                          <a:cs typeface="Calibri" panose="020F0502020204030204" pitchFamily="34" charset="0"/>
                        </a:rPr>
                        <a:t>Cloud Run/Function</a:t>
                      </a:r>
                    </a:p>
                  </a:txBody>
                  <a:tcPr/>
                </a:tc>
                <a:extLst>
                  <a:ext uri="{0D108BD9-81ED-4DB2-BD59-A6C34878D82A}">
                    <a16:rowId xmlns:a16="http://schemas.microsoft.com/office/drawing/2014/main" val="3083989785"/>
                  </a:ext>
                </a:extLst>
              </a:tr>
            </a:tbl>
          </a:graphicData>
        </a:graphic>
      </p:graphicFrame>
    </p:spTree>
    <p:extLst>
      <p:ext uri="{BB962C8B-B14F-4D97-AF65-F5344CB8AC3E}">
        <p14:creationId xmlns:p14="http://schemas.microsoft.com/office/powerpoint/2010/main" val="2938876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E06C0-2C60-2462-ADDA-A5AFE0E57D8C}"/>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2D03983A-13E6-B31D-8F21-EFE80115ADC8}"/>
              </a:ext>
            </a:extLst>
          </p:cNvPr>
          <p:cNvSpPr>
            <a:spLocks noGrp="1"/>
          </p:cNvSpPr>
          <p:nvPr>
            <p:ph type="body" sz="quarter" idx="10"/>
          </p:nvPr>
        </p:nvSpPr>
        <p:spPr>
          <a:xfrm>
            <a:off x="392275" y="236827"/>
            <a:ext cx="11407450" cy="466142"/>
          </a:xfrm>
        </p:spPr>
        <p:txBody>
          <a:bodyPr anchor="b"/>
          <a:lstStyle/>
          <a:p>
            <a:r>
              <a:rPr lang="en-US" dirty="0">
                <a:solidFill>
                  <a:srgbClr val="0070C0"/>
                </a:solidFill>
                <a:latin typeface="Calibri" panose="020F0502020204030204" pitchFamily="34" charset="0"/>
                <a:cs typeface="Calibri" panose="020F0502020204030204" pitchFamily="34" charset="0"/>
              </a:rPr>
              <a:t>Deployment</a:t>
            </a:r>
          </a:p>
        </p:txBody>
      </p:sp>
      <p:sp>
        <p:nvSpPr>
          <p:cNvPr id="2" name="Text Placeholder 1">
            <a:extLst>
              <a:ext uri="{FF2B5EF4-FFF2-40B4-BE49-F238E27FC236}">
                <a16:creationId xmlns:a16="http://schemas.microsoft.com/office/drawing/2014/main" id="{16B6C77F-086A-9BB4-160B-D3BE9F637C58}"/>
              </a:ext>
            </a:extLst>
          </p:cNvPr>
          <p:cNvSpPr txBox="1">
            <a:spLocks/>
          </p:cNvSpPr>
          <p:nvPr/>
        </p:nvSpPr>
        <p:spPr>
          <a:xfrm>
            <a:off x="263924" y="804333"/>
            <a:ext cx="11229263" cy="57183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fontAlgn="ctr">
              <a:lnSpc>
                <a:spcPct val="150000"/>
              </a:lnSpc>
              <a:buFont typeface="Arial" panose="020B0604020202020204" pitchFamily="34" charset="0"/>
              <a:buChar char="•"/>
            </a:pPr>
            <a:r>
              <a:rPr lang="en-US" sz="1400" b="1" dirty="0">
                <a:effectLst/>
                <a:latin typeface="Calibri" panose="020F0502020204030204" pitchFamily="34" charset="0"/>
              </a:rPr>
              <a:t>User Interface: </a:t>
            </a:r>
            <a:endParaRPr lang="en-US" sz="1400" dirty="0">
              <a:effectLst/>
              <a:latin typeface="Calibri" panose="020F0502020204030204" pitchFamily="34" charset="0"/>
            </a:endParaRPr>
          </a:p>
          <a:p>
            <a:pPr marL="742950" lvl="1" indent="-285750" rtl="0" fontAlgn="ctr">
              <a:lnSpc>
                <a:spcPct val="150000"/>
              </a:lnSpc>
              <a:buFont typeface="Courier New" panose="02070309020205020404" pitchFamily="49" charset="0"/>
              <a:buChar char="o"/>
            </a:pPr>
            <a:r>
              <a:rPr lang="en-US" sz="1400" dirty="0">
                <a:effectLst/>
                <a:latin typeface="Calibri" panose="020F0502020204030204" pitchFamily="34" charset="0"/>
              </a:rPr>
              <a:t>Web interface can be deployed using Cloud Run or App Engine.</a:t>
            </a:r>
          </a:p>
          <a:p>
            <a:pPr marL="742950" lvl="1" indent="-285750" rtl="0" fontAlgn="ctr">
              <a:lnSpc>
                <a:spcPct val="150000"/>
              </a:lnSpc>
              <a:buFont typeface="Courier New" panose="02070309020205020404" pitchFamily="49" charset="0"/>
              <a:buChar char="o"/>
            </a:pPr>
            <a:r>
              <a:rPr lang="en-US" sz="1400" dirty="0">
                <a:latin typeface="Calibri" panose="020F0502020204030204" pitchFamily="34" charset="0"/>
              </a:rPr>
              <a:t>API interface cab be deployed using Cloud Run and accessed via API gateway.</a:t>
            </a:r>
            <a:endParaRPr lang="en-US" sz="1400" dirty="0">
              <a:effectLst/>
              <a:latin typeface="Calibri" panose="020F0502020204030204" pitchFamily="34" charset="0"/>
            </a:endParaRPr>
          </a:p>
          <a:p>
            <a:pPr rtl="0" fontAlgn="ctr">
              <a:lnSpc>
                <a:spcPct val="150000"/>
              </a:lnSpc>
              <a:buFont typeface="Arial" panose="020B0604020202020204" pitchFamily="34" charset="0"/>
              <a:buChar char="•"/>
            </a:pPr>
            <a:r>
              <a:rPr lang="en-US" sz="1400" b="1" dirty="0">
                <a:effectLst/>
                <a:latin typeface="Calibri" panose="020F0502020204030204" pitchFamily="34" charset="0"/>
              </a:rPr>
              <a:t>Vertex AI Agent:  </a:t>
            </a:r>
            <a:r>
              <a:rPr lang="en-US" sz="1400" dirty="0">
                <a:effectLst/>
                <a:latin typeface="Calibri" panose="020F0502020204030204" pitchFamily="34" charset="0"/>
              </a:rPr>
              <a:t>Deployed directly through the Vertex AI Agent Builder console.</a:t>
            </a:r>
          </a:p>
          <a:p>
            <a:pPr rtl="0" fontAlgn="ctr">
              <a:lnSpc>
                <a:spcPct val="150000"/>
              </a:lnSpc>
              <a:buFont typeface="Arial" panose="020B0604020202020204" pitchFamily="34" charset="0"/>
              <a:buChar char="•"/>
            </a:pPr>
            <a:r>
              <a:rPr lang="en-US" sz="1400" b="1" dirty="0">
                <a:effectLst/>
                <a:latin typeface="Calibri" panose="020F0502020204030204" pitchFamily="34" charset="0"/>
              </a:rPr>
              <a:t>Cloud Run/Function: </a:t>
            </a:r>
            <a:endParaRPr lang="en-US" sz="1400" dirty="0">
              <a:effectLst/>
              <a:latin typeface="Calibri" panose="020F0502020204030204" pitchFamily="34" charset="0"/>
            </a:endParaRPr>
          </a:p>
          <a:p>
            <a:pPr marL="742950" lvl="1" indent="-285750" rtl="0" fontAlgn="ctr">
              <a:lnSpc>
                <a:spcPct val="150000"/>
              </a:lnSpc>
              <a:buFont typeface="Courier New" panose="02070309020205020404" pitchFamily="49" charset="0"/>
              <a:buChar char="o"/>
            </a:pPr>
            <a:r>
              <a:rPr lang="en-US" sz="1400" dirty="0">
                <a:effectLst/>
                <a:latin typeface="Calibri" panose="020F0502020204030204" pitchFamily="34" charset="0"/>
              </a:rPr>
              <a:t>Containerize the vulnerability lookup and code analysis logic. Deploy the container to Cloud Run.</a:t>
            </a:r>
          </a:p>
          <a:p>
            <a:pPr marL="742950" lvl="1" indent="-285750" rtl="0" fontAlgn="ctr">
              <a:lnSpc>
                <a:spcPct val="150000"/>
              </a:lnSpc>
              <a:buFont typeface="Courier New" panose="02070309020205020404" pitchFamily="49" charset="0"/>
              <a:buChar char="o"/>
            </a:pPr>
            <a:r>
              <a:rPr lang="en-US" sz="1400" dirty="0">
                <a:latin typeface="Calibri" panose="020F0502020204030204" pitchFamily="34" charset="0"/>
              </a:rPr>
              <a:t>Create short running simpler tools in Cloud Function</a:t>
            </a:r>
            <a:endParaRPr lang="en-US" sz="1400" dirty="0">
              <a:effectLst/>
              <a:latin typeface="Calibri" panose="020F0502020204030204" pitchFamily="34" charset="0"/>
            </a:endParaRPr>
          </a:p>
          <a:p>
            <a:pPr rtl="0" fontAlgn="ctr">
              <a:lnSpc>
                <a:spcPct val="150000"/>
              </a:lnSpc>
              <a:buFont typeface="Arial" panose="020B0604020202020204" pitchFamily="34" charset="0"/>
              <a:buChar char="•"/>
            </a:pPr>
            <a:r>
              <a:rPr lang="en-US" sz="1400" b="1" dirty="0">
                <a:effectLst/>
                <a:latin typeface="Calibri" panose="020F0502020204030204" pitchFamily="34" charset="0"/>
              </a:rPr>
              <a:t>Cloud Storage: </a:t>
            </a:r>
            <a:r>
              <a:rPr lang="en-US" sz="1400" dirty="0">
                <a:effectLst/>
                <a:latin typeface="Calibri" panose="020F0502020204030204" pitchFamily="34" charset="0"/>
              </a:rPr>
              <a:t>Cloud Storage bucket to store code, guidelines, and reports.</a:t>
            </a:r>
          </a:p>
          <a:p>
            <a:pPr fontAlgn="ctr">
              <a:lnSpc>
                <a:spcPct val="150000"/>
              </a:lnSpc>
            </a:pPr>
            <a:r>
              <a:rPr lang="en-US" sz="1400" b="1" dirty="0">
                <a:effectLst/>
                <a:latin typeface="Calibri" panose="020F0502020204030204" pitchFamily="34" charset="0"/>
              </a:rPr>
              <a:t>Artifact Registry: </a:t>
            </a:r>
            <a:r>
              <a:rPr lang="en-US" sz="1400" dirty="0">
                <a:effectLst/>
                <a:latin typeface="Calibri" panose="020F0502020204030204" pitchFamily="34" charset="0"/>
              </a:rPr>
              <a:t>Container image storage for Cloud Run deployments.</a:t>
            </a:r>
          </a:p>
          <a:p>
            <a:pPr rtl="0" fontAlgn="ctr">
              <a:lnSpc>
                <a:spcPct val="150000"/>
              </a:lnSpc>
              <a:buFont typeface="Arial" panose="020B0604020202020204" pitchFamily="34" charset="0"/>
              <a:buChar char="•"/>
            </a:pPr>
            <a:r>
              <a:rPr lang="en-US" sz="1400" b="1" dirty="0">
                <a:latin typeface="Calibri" panose="020F0502020204030204" pitchFamily="34" charset="0"/>
              </a:rPr>
              <a:t>Secrets Manager: </a:t>
            </a:r>
            <a:r>
              <a:rPr lang="en-US" sz="1400" dirty="0">
                <a:effectLst/>
                <a:latin typeface="Calibri" panose="020F0502020204030204" pitchFamily="34" charset="0"/>
              </a:rPr>
              <a:t>Configure environment variables for API keys and database connections</a:t>
            </a:r>
            <a:r>
              <a:rPr lang="en-US" sz="2000" dirty="0">
                <a:effectLst/>
                <a:latin typeface="Calibri" panose="020F0502020204030204" pitchFamily="34" charset="0"/>
              </a:rPr>
              <a:t>.</a:t>
            </a:r>
          </a:p>
          <a:p>
            <a:pPr rtl="0" fontAlgn="ctr">
              <a:lnSpc>
                <a:spcPct val="150000"/>
              </a:lnSpc>
              <a:buFont typeface="Arial" panose="020B0604020202020204" pitchFamily="34" charset="0"/>
              <a:buChar char="•"/>
            </a:pPr>
            <a:r>
              <a:rPr lang="en-US" sz="1400" b="1" dirty="0">
                <a:effectLst/>
                <a:latin typeface="Calibri" panose="020F0502020204030204" pitchFamily="34" charset="0"/>
              </a:rPr>
              <a:t>Cloud Logging: </a:t>
            </a:r>
            <a:r>
              <a:rPr lang="en-US" sz="1400" dirty="0">
                <a:effectLst/>
                <a:latin typeface="Calibri" panose="020F0502020204030204" pitchFamily="34" charset="0"/>
              </a:rPr>
              <a:t>Centralized logging for all components.</a:t>
            </a:r>
          </a:p>
          <a:p>
            <a:pPr rtl="0" fontAlgn="ctr">
              <a:lnSpc>
                <a:spcPct val="150000"/>
              </a:lnSpc>
              <a:buFont typeface="Arial" panose="020B0604020202020204" pitchFamily="34" charset="0"/>
              <a:buChar char="•"/>
            </a:pPr>
            <a:r>
              <a:rPr lang="en-US" sz="1400" b="1" dirty="0">
                <a:effectLst/>
                <a:latin typeface="Calibri" panose="020F0502020204030204" pitchFamily="34" charset="0"/>
              </a:rPr>
              <a:t>Cloud Monitoring: </a:t>
            </a:r>
            <a:r>
              <a:rPr lang="en-US" sz="1400" dirty="0">
                <a:effectLst/>
                <a:latin typeface="Calibri" panose="020F0502020204030204" pitchFamily="34" charset="0"/>
              </a:rPr>
              <a:t>Performance monitoring, alerting, and metrics collection.</a:t>
            </a:r>
          </a:p>
          <a:p>
            <a:pPr rtl="0" fontAlgn="ctr">
              <a:lnSpc>
                <a:spcPct val="150000"/>
              </a:lnSpc>
              <a:buFont typeface="Arial" panose="020B0604020202020204" pitchFamily="34" charset="0"/>
              <a:buChar char="•"/>
            </a:pPr>
            <a:r>
              <a:rPr lang="en-US" sz="1400" b="1" dirty="0">
                <a:effectLst/>
                <a:latin typeface="Calibri" panose="020F0502020204030204" pitchFamily="34" charset="0"/>
              </a:rPr>
              <a:t>Identity and Access Management (IAM): </a:t>
            </a:r>
            <a:r>
              <a:rPr lang="en-US" sz="1400" dirty="0">
                <a:effectLst/>
                <a:latin typeface="Calibri" panose="020F0502020204030204" pitchFamily="34" charset="0"/>
              </a:rPr>
              <a:t>Access control and security for GCP resources.</a:t>
            </a:r>
          </a:p>
          <a:p>
            <a:pPr marL="285750" indent="-285750" fontAlgn="ctr">
              <a:lnSpc>
                <a:spcPct val="150000"/>
              </a:lnSpc>
              <a:buFont typeface="Courier New" panose="02070309020205020404" pitchFamily="49" charset="0"/>
              <a:buChar char="o"/>
            </a:pPr>
            <a:endParaRPr lang="en-US" sz="2000" dirty="0">
              <a:effectLst/>
              <a:latin typeface="Calibri" panose="020F0502020204030204" pitchFamily="34" charset="0"/>
            </a:endParaRPr>
          </a:p>
        </p:txBody>
      </p:sp>
    </p:spTree>
    <p:extLst>
      <p:ext uri="{BB962C8B-B14F-4D97-AF65-F5344CB8AC3E}">
        <p14:creationId xmlns:p14="http://schemas.microsoft.com/office/powerpoint/2010/main" val="340383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FEDD9-5C10-C991-376B-42A56C3CF755}"/>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0FAA1A1B-9CEA-CD95-3EBA-A1C4D10242B5}"/>
              </a:ext>
            </a:extLst>
          </p:cNvPr>
          <p:cNvSpPr>
            <a:spLocks noGrp="1"/>
          </p:cNvSpPr>
          <p:nvPr>
            <p:ph type="body" sz="quarter" idx="10"/>
          </p:nvPr>
        </p:nvSpPr>
        <p:spPr>
          <a:xfrm>
            <a:off x="392275" y="236827"/>
            <a:ext cx="11407450" cy="466142"/>
          </a:xfrm>
        </p:spPr>
        <p:txBody>
          <a:bodyPr anchor="b"/>
          <a:lstStyle/>
          <a:p>
            <a:r>
              <a:rPr lang="en-US" dirty="0">
                <a:solidFill>
                  <a:srgbClr val="0070C0"/>
                </a:solidFill>
                <a:latin typeface="Calibri" panose="020F0502020204030204" pitchFamily="34" charset="0"/>
                <a:cs typeface="Calibri" panose="020F0502020204030204" pitchFamily="34" charset="0"/>
              </a:rPr>
              <a:t>Google Technology Stack</a:t>
            </a:r>
          </a:p>
        </p:txBody>
      </p:sp>
      <p:sp>
        <p:nvSpPr>
          <p:cNvPr id="2" name="Text Placeholder 1">
            <a:extLst>
              <a:ext uri="{FF2B5EF4-FFF2-40B4-BE49-F238E27FC236}">
                <a16:creationId xmlns:a16="http://schemas.microsoft.com/office/drawing/2014/main" id="{5675612C-6AB6-C78C-57B9-8E4F0DB55976}"/>
              </a:ext>
            </a:extLst>
          </p:cNvPr>
          <p:cNvSpPr txBox="1">
            <a:spLocks/>
          </p:cNvSpPr>
          <p:nvPr/>
        </p:nvSpPr>
        <p:spPr>
          <a:xfrm>
            <a:off x="263924" y="804333"/>
            <a:ext cx="11229263" cy="57183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fontAlgn="ctr">
              <a:lnSpc>
                <a:spcPct val="150000"/>
              </a:lnSpc>
              <a:buFont typeface="Arial" panose="020B0604020202020204" pitchFamily="34" charset="0"/>
              <a:buChar char="•"/>
            </a:pPr>
            <a:r>
              <a:rPr lang="en-US" sz="1600" b="1" dirty="0">
                <a:effectLst/>
                <a:latin typeface="Calibri" panose="020F0502020204030204" pitchFamily="34" charset="0"/>
              </a:rPr>
              <a:t>Vertex AI: </a:t>
            </a:r>
            <a:endParaRPr lang="en-US" sz="1600" dirty="0">
              <a:effectLst/>
              <a:latin typeface="Calibri" panose="020F0502020204030204" pitchFamily="34" charset="0"/>
            </a:endParaRPr>
          </a:p>
          <a:p>
            <a:pPr marL="742950" lvl="1" indent="-285750" rtl="0" fontAlgn="ctr">
              <a:lnSpc>
                <a:spcPct val="150000"/>
              </a:lnSpc>
              <a:buFont typeface="Courier New" panose="02070309020205020404" pitchFamily="49" charset="0"/>
              <a:buChar char="o"/>
            </a:pPr>
            <a:r>
              <a:rPr lang="en-US" sz="1600" b="1" dirty="0">
                <a:effectLst/>
                <a:latin typeface="Calibri" panose="020F0502020204030204" pitchFamily="34" charset="0"/>
              </a:rPr>
              <a:t>Vertex AI Agent Builder:</a:t>
            </a:r>
            <a:r>
              <a:rPr lang="en-US" sz="1600" dirty="0">
                <a:effectLst/>
                <a:latin typeface="Calibri" panose="020F0502020204030204" pitchFamily="34" charset="0"/>
              </a:rPr>
              <a:t> Core agent orchestration and flow management.</a:t>
            </a:r>
          </a:p>
          <a:p>
            <a:pPr marL="742950" lvl="1" indent="-285750" rtl="0" fontAlgn="ctr">
              <a:lnSpc>
                <a:spcPct val="150000"/>
              </a:lnSpc>
              <a:buFont typeface="Courier New" panose="02070309020205020404" pitchFamily="49" charset="0"/>
              <a:buChar char="o"/>
            </a:pPr>
            <a:r>
              <a:rPr lang="en-US" sz="1600" b="1" dirty="0">
                <a:effectLst/>
                <a:latin typeface="Calibri" panose="020F0502020204030204" pitchFamily="34" charset="0"/>
              </a:rPr>
              <a:t>AI Models:</a:t>
            </a:r>
            <a:r>
              <a:rPr lang="en-US" sz="1600" dirty="0">
                <a:effectLst/>
                <a:latin typeface="Calibri" panose="020F0502020204030204" pitchFamily="34" charset="0"/>
              </a:rPr>
              <a:t> Natural language processing, code analysis, and report generation.</a:t>
            </a:r>
          </a:p>
          <a:p>
            <a:pPr rtl="0" fontAlgn="ctr">
              <a:lnSpc>
                <a:spcPct val="150000"/>
              </a:lnSpc>
              <a:buFont typeface="Arial" panose="020B0604020202020204" pitchFamily="34" charset="0"/>
              <a:buChar char="•"/>
            </a:pPr>
            <a:r>
              <a:rPr lang="en-US" sz="1600" b="1" dirty="0">
                <a:effectLst/>
                <a:latin typeface="Calibri" panose="020F0502020204030204" pitchFamily="34" charset="0"/>
              </a:rPr>
              <a:t>Cloud Storage: </a:t>
            </a:r>
            <a:r>
              <a:rPr lang="en-US" sz="1600" dirty="0">
                <a:effectLst/>
                <a:latin typeface="Calibri" panose="020F0502020204030204" pitchFamily="34" charset="0"/>
              </a:rPr>
              <a:t>Storage for code repositories, JSON security guidelines, and generated reports.</a:t>
            </a:r>
          </a:p>
          <a:p>
            <a:pPr rtl="0" fontAlgn="ctr">
              <a:lnSpc>
                <a:spcPct val="150000"/>
              </a:lnSpc>
              <a:buFont typeface="Arial" panose="020B0604020202020204" pitchFamily="34" charset="0"/>
              <a:buChar char="•"/>
            </a:pPr>
            <a:r>
              <a:rPr lang="en-US" sz="1600" b="1" dirty="0">
                <a:effectLst/>
                <a:latin typeface="Calibri" panose="020F0502020204030204" pitchFamily="34" charset="0"/>
              </a:rPr>
              <a:t>Cloud Run: </a:t>
            </a:r>
            <a:r>
              <a:rPr lang="en-US" sz="1600" dirty="0">
                <a:effectLst/>
                <a:latin typeface="Calibri" panose="020F0502020204030204" pitchFamily="34" charset="0"/>
              </a:rPr>
              <a:t>Containerized deployment for custom logic (vulnerability lookup, complex code analysis).</a:t>
            </a:r>
          </a:p>
          <a:p>
            <a:pPr rtl="0" fontAlgn="ctr">
              <a:lnSpc>
                <a:spcPct val="150000"/>
              </a:lnSpc>
              <a:buFont typeface="Arial" panose="020B0604020202020204" pitchFamily="34" charset="0"/>
              <a:buChar char="•"/>
            </a:pPr>
            <a:r>
              <a:rPr lang="en-US" sz="1600" b="1" dirty="0">
                <a:effectLst/>
                <a:latin typeface="Calibri" panose="020F0502020204030204" pitchFamily="34" charset="0"/>
              </a:rPr>
              <a:t>Cloud Logging: </a:t>
            </a:r>
            <a:r>
              <a:rPr lang="en-US" sz="1600" dirty="0">
                <a:effectLst/>
                <a:latin typeface="Calibri" panose="020F0502020204030204" pitchFamily="34" charset="0"/>
              </a:rPr>
              <a:t>Centralized logging for all components.</a:t>
            </a:r>
          </a:p>
          <a:p>
            <a:pPr rtl="0" fontAlgn="ctr">
              <a:lnSpc>
                <a:spcPct val="150000"/>
              </a:lnSpc>
              <a:buFont typeface="Arial" panose="020B0604020202020204" pitchFamily="34" charset="0"/>
              <a:buChar char="•"/>
            </a:pPr>
            <a:r>
              <a:rPr lang="en-US" sz="1600" b="1" dirty="0">
                <a:effectLst/>
                <a:latin typeface="Calibri" panose="020F0502020204030204" pitchFamily="34" charset="0"/>
              </a:rPr>
              <a:t>Cloud Monitoring: </a:t>
            </a:r>
            <a:r>
              <a:rPr lang="en-US" sz="1600" dirty="0">
                <a:effectLst/>
                <a:latin typeface="Calibri" panose="020F0502020204030204" pitchFamily="34" charset="0"/>
              </a:rPr>
              <a:t>Performance monitoring, alerting, and metrics collection.</a:t>
            </a:r>
          </a:p>
          <a:p>
            <a:pPr rtl="0" fontAlgn="ctr">
              <a:lnSpc>
                <a:spcPct val="150000"/>
              </a:lnSpc>
              <a:buFont typeface="Arial" panose="020B0604020202020204" pitchFamily="34" charset="0"/>
              <a:buChar char="•"/>
            </a:pPr>
            <a:r>
              <a:rPr lang="en-US" sz="1600" b="1" dirty="0">
                <a:effectLst/>
                <a:latin typeface="Calibri" panose="020F0502020204030204" pitchFamily="34" charset="0"/>
              </a:rPr>
              <a:t>Identity and Access Management (IAM): </a:t>
            </a:r>
            <a:r>
              <a:rPr lang="en-US" sz="1600" dirty="0">
                <a:effectLst/>
                <a:latin typeface="Calibri" panose="020F0502020204030204" pitchFamily="34" charset="0"/>
              </a:rPr>
              <a:t>Access control and security for GCP resources.</a:t>
            </a:r>
          </a:p>
          <a:p>
            <a:pPr rtl="0" fontAlgn="ctr">
              <a:lnSpc>
                <a:spcPct val="150000"/>
              </a:lnSpc>
              <a:buFont typeface="Arial" panose="020B0604020202020204" pitchFamily="34" charset="0"/>
              <a:buChar char="•"/>
            </a:pPr>
            <a:r>
              <a:rPr lang="en-US" sz="1600" b="1" dirty="0">
                <a:effectLst/>
                <a:latin typeface="Calibri" panose="020F0502020204030204" pitchFamily="34" charset="0"/>
              </a:rPr>
              <a:t>Artifact Registry: </a:t>
            </a:r>
            <a:r>
              <a:rPr lang="en-US" sz="1600" dirty="0">
                <a:effectLst/>
                <a:latin typeface="Calibri" panose="020F0502020204030204" pitchFamily="34" charset="0"/>
              </a:rPr>
              <a:t>Container image storage for Cloud Run deployments.</a:t>
            </a:r>
          </a:p>
          <a:p>
            <a:pPr rtl="0" fontAlgn="ctr">
              <a:lnSpc>
                <a:spcPct val="150000"/>
              </a:lnSpc>
              <a:buFont typeface="Arial" panose="020B0604020202020204" pitchFamily="34" charset="0"/>
              <a:buChar char="•"/>
            </a:pPr>
            <a:r>
              <a:rPr lang="en-US" sz="1600" b="1" dirty="0">
                <a:effectLst/>
                <a:latin typeface="Calibri" panose="020F0502020204030204" pitchFamily="34" charset="0"/>
              </a:rPr>
              <a:t>Secret Manager: </a:t>
            </a:r>
            <a:r>
              <a:rPr lang="en-US" sz="1600" dirty="0">
                <a:effectLst/>
                <a:latin typeface="Calibri" panose="020F0502020204030204" pitchFamily="34" charset="0"/>
              </a:rPr>
              <a:t>Secure storage for API keys and sensitive information.</a:t>
            </a:r>
          </a:p>
          <a:p>
            <a:pPr rtl="0" fontAlgn="ctr">
              <a:lnSpc>
                <a:spcPct val="150000"/>
              </a:lnSpc>
              <a:buFont typeface="Arial" panose="020B0604020202020204" pitchFamily="34" charset="0"/>
              <a:buChar char="•"/>
            </a:pPr>
            <a:r>
              <a:rPr lang="en-US" sz="1600" b="1" dirty="0">
                <a:effectLst/>
                <a:latin typeface="Calibri" panose="020F0502020204030204" pitchFamily="34" charset="0"/>
              </a:rPr>
              <a:t>API Gateway (Optional): </a:t>
            </a:r>
            <a:r>
              <a:rPr lang="en-US" sz="1600" dirty="0">
                <a:effectLst/>
                <a:latin typeface="Calibri" panose="020F0502020204030204" pitchFamily="34" charset="0"/>
              </a:rPr>
              <a:t>API management for exposing the agent's functionality.</a:t>
            </a:r>
            <a:endParaRPr lang="en-US" sz="2000" dirty="0">
              <a:effectLst/>
              <a:latin typeface="Calibri" panose="020F0502020204030204" pitchFamily="34" charset="0"/>
            </a:endParaRPr>
          </a:p>
        </p:txBody>
      </p:sp>
    </p:spTree>
    <p:extLst>
      <p:ext uri="{BB962C8B-B14F-4D97-AF65-F5344CB8AC3E}">
        <p14:creationId xmlns:p14="http://schemas.microsoft.com/office/powerpoint/2010/main" val="1603457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2AE7B-1593-0B58-5C03-C6F588A9C011}"/>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F03CDA54-1C3A-F22F-BB92-3EFB621E387E}"/>
              </a:ext>
            </a:extLst>
          </p:cNvPr>
          <p:cNvSpPr>
            <a:spLocks noGrp="1"/>
          </p:cNvSpPr>
          <p:nvPr>
            <p:ph type="body" sz="quarter" idx="10"/>
          </p:nvPr>
        </p:nvSpPr>
        <p:spPr>
          <a:xfrm>
            <a:off x="392275" y="236827"/>
            <a:ext cx="11407450" cy="466142"/>
          </a:xfrm>
        </p:spPr>
        <p:txBody>
          <a:bodyPr anchor="b"/>
          <a:lstStyle/>
          <a:p>
            <a:r>
              <a:rPr lang="en-US" dirty="0">
                <a:solidFill>
                  <a:srgbClr val="0070C0"/>
                </a:solidFill>
                <a:latin typeface="Calibri" panose="020F0502020204030204" pitchFamily="34" charset="0"/>
                <a:cs typeface="Calibri" panose="020F0502020204030204" pitchFamily="34" charset="0"/>
              </a:rPr>
              <a:t>How did you arrive at this solution?</a:t>
            </a:r>
          </a:p>
        </p:txBody>
      </p:sp>
      <p:sp>
        <p:nvSpPr>
          <p:cNvPr id="2" name="Text Placeholder 1">
            <a:extLst>
              <a:ext uri="{FF2B5EF4-FFF2-40B4-BE49-F238E27FC236}">
                <a16:creationId xmlns:a16="http://schemas.microsoft.com/office/drawing/2014/main" id="{90175386-3BD2-CC08-D99B-588409A266E5}"/>
              </a:ext>
            </a:extLst>
          </p:cNvPr>
          <p:cNvSpPr txBox="1">
            <a:spLocks/>
          </p:cNvSpPr>
          <p:nvPr/>
        </p:nvSpPr>
        <p:spPr>
          <a:xfrm>
            <a:off x="263924" y="804333"/>
            <a:ext cx="11229263" cy="57183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fontAlgn="ctr">
              <a:lnSpc>
                <a:spcPct val="150000"/>
              </a:lnSpc>
              <a:buFont typeface="Arial" panose="020B0604020202020204" pitchFamily="34" charset="0"/>
              <a:buChar char="•"/>
            </a:pPr>
            <a:r>
              <a:rPr lang="en-US" sz="1600" b="1" dirty="0">
                <a:effectLst/>
                <a:latin typeface="Calibri" panose="020F0502020204030204" pitchFamily="34" charset="0"/>
              </a:rPr>
              <a:t>Requirement Analysis: </a:t>
            </a:r>
            <a:endParaRPr lang="en-US" sz="1600" dirty="0">
              <a:effectLst/>
              <a:latin typeface="Calibri" panose="020F0502020204030204" pitchFamily="34" charset="0"/>
            </a:endParaRPr>
          </a:p>
          <a:p>
            <a:pPr marL="742950" lvl="1" indent="-285750" rtl="0" fontAlgn="ctr">
              <a:lnSpc>
                <a:spcPct val="150000"/>
              </a:lnSpc>
              <a:buFont typeface="Courier New" panose="02070309020205020404" pitchFamily="49" charset="0"/>
              <a:buChar char="o"/>
            </a:pPr>
            <a:r>
              <a:rPr lang="en-US" sz="1600" dirty="0">
                <a:effectLst/>
                <a:latin typeface="Calibri" panose="020F0502020204030204" pitchFamily="34" charset="0"/>
              </a:rPr>
              <a:t>The primary requirement was to build an agent that could analyze code for security vulnerabilities based on configurable guidelines.</a:t>
            </a:r>
          </a:p>
          <a:p>
            <a:pPr marL="742950" lvl="1" indent="-285750" rtl="0" fontAlgn="ctr">
              <a:lnSpc>
                <a:spcPct val="150000"/>
              </a:lnSpc>
              <a:buFont typeface="Courier New" panose="02070309020205020404" pitchFamily="49" charset="0"/>
              <a:buChar char="o"/>
            </a:pPr>
            <a:r>
              <a:rPr lang="en-US" sz="1600" dirty="0">
                <a:effectLst/>
                <a:latin typeface="Calibri" panose="020F0502020204030204" pitchFamily="34" charset="0"/>
              </a:rPr>
              <a:t>The need to interact with external vulnerability databases and perform complex code analysis led to the use of Cloud Run.</a:t>
            </a:r>
          </a:p>
          <a:p>
            <a:pPr rtl="0" fontAlgn="ctr">
              <a:lnSpc>
                <a:spcPct val="150000"/>
              </a:lnSpc>
              <a:buFont typeface="Arial" panose="020B0604020202020204" pitchFamily="34" charset="0"/>
              <a:buChar char="•"/>
            </a:pPr>
            <a:r>
              <a:rPr lang="en-US" sz="1600" b="1" dirty="0">
                <a:effectLst/>
                <a:latin typeface="Calibri" panose="020F0502020204030204" pitchFamily="34" charset="0"/>
              </a:rPr>
              <a:t>GCP Ecosystem: </a:t>
            </a:r>
            <a:endParaRPr lang="en-US" sz="1600" dirty="0">
              <a:effectLst/>
              <a:latin typeface="Calibri" panose="020F0502020204030204" pitchFamily="34" charset="0"/>
            </a:endParaRPr>
          </a:p>
          <a:p>
            <a:pPr marL="742950" lvl="1" indent="-285750" rtl="0" fontAlgn="ctr">
              <a:lnSpc>
                <a:spcPct val="150000"/>
              </a:lnSpc>
              <a:buFont typeface="Courier New" panose="02070309020205020404" pitchFamily="49" charset="0"/>
              <a:buChar char="o"/>
            </a:pPr>
            <a:r>
              <a:rPr lang="en-US" sz="1600" dirty="0">
                <a:effectLst/>
                <a:latin typeface="Calibri" panose="020F0502020204030204" pitchFamily="34" charset="0"/>
              </a:rPr>
              <a:t>Vertex AI Agent Builder was chosen for its ability to create and manage conversational AI agents.</a:t>
            </a:r>
          </a:p>
          <a:p>
            <a:pPr marL="742950" lvl="1" indent="-285750" rtl="0" fontAlgn="ctr">
              <a:lnSpc>
                <a:spcPct val="150000"/>
              </a:lnSpc>
              <a:buFont typeface="Courier New" panose="02070309020205020404" pitchFamily="49" charset="0"/>
              <a:buChar char="o"/>
            </a:pPr>
            <a:r>
              <a:rPr lang="en-US" sz="1600" dirty="0">
                <a:effectLst/>
                <a:latin typeface="Calibri" panose="020F0502020204030204" pitchFamily="34" charset="0"/>
              </a:rPr>
              <a:t>Cloud Storage was selected for its scalable and cost-effective storage capabilities.</a:t>
            </a:r>
          </a:p>
          <a:p>
            <a:pPr marL="742950" lvl="1" indent="-285750" rtl="0" fontAlgn="ctr">
              <a:lnSpc>
                <a:spcPct val="150000"/>
              </a:lnSpc>
              <a:buFont typeface="Courier New" panose="02070309020205020404" pitchFamily="49" charset="0"/>
              <a:buChar char="o"/>
            </a:pPr>
            <a:r>
              <a:rPr lang="en-US" sz="1600" dirty="0">
                <a:effectLst/>
                <a:latin typeface="Calibri" panose="020F0502020204030204" pitchFamily="34" charset="0"/>
              </a:rPr>
              <a:t>Cloud Run was selected for its ability to run containerized applications with ease.</a:t>
            </a:r>
          </a:p>
          <a:p>
            <a:pPr marL="742950" lvl="1" indent="-285750" rtl="0" fontAlgn="ctr">
              <a:lnSpc>
                <a:spcPct val="150000"/>
              </a:lnSpc>
              <a:buFont typeface="Courier New" panose="02070309020205020404" pitchFamily="49" charset="0"/>
              <a:buChar char="o"/>
            </a:pPr>
            <a:r>
              <a:rPr lang="en-US" sz="1600" dirty="0">
                <a:effectLst/>
                <a:latin typeface="Calibri" panose="020F0502020204030204" pitchFamily="34" charset="0"/>
              </a:rPr>
              <a:t>Gemini was selected for its advanced code analysis and natural language capabilities.</a:t>
            </a:r>
          </a:p>
          <a:p>
            <a:pPr rtl="0" fontAlgn="ctr">
              <a:lnSpc>
                <a:spcPct val="150000"/>
              </a:lnSpc>
              <a:buFont typeface="Arial" panose="020B0604020202020204" pitchFamily="34" charset="0"/>
              <a:buChar char="•"/>
            </a:pPr>
            <a:r>
              <a:rPr lang="en-US" sz="1600" b="1" dirty="0">
                <a:effectLst/>
                <a:latin typeface="Calibri" panose="020F0502020204030204" pitchFamily="34" charset="0"/>
              </a:rPr>
              <a:t>Scalability and Reliability: </a:t>
            </a:r>
            <a:endParaRPr lang="en-US" sz="1600" dirty="0">
              <a:effectLst/>
              <a:latin typeface="Calibri" panose="020F0502020204030204" pitchFamily="34" charset="0"/>
            </a:endParaRPr>
          </a:p>
          <a:p>
            <a:pPr marL="742950" lvl="1" indent="-285750" rtl="0" fontAlgn="ctr">
              <a:lnSpc>
                <a:spcPct val="150000"/>
              </a:lnSpc>
              <a:buFont typeface="Courier New" panose="02070309020205020404" pitchFamily="49" charset="0"/>
              <a:buChar char="o"/>
            </a:pPr>
            <a:r>
              <a:rPr lang="en-US" sz="1600" dirty="0">
                <a:effectLst/>
                <a:latin typeface="Calibri" panose="020F0502020204030204" pitchFamily="34" charset="0"/>
              </a:rPr>
              <a:t>Cloud Run provides a scalable and reliable environment for running custom logic.</a:t>
            </a:r>
          </a:p>
          <a:p>
            <a:pPr marL="742950" lvl="1" indent="-285750" rtl="0" fontAlgn="ctr">
              <a:lnSpc>
                <a:spcPct val="150000"/>
              </a:lnSpc>
              <a:buFont typeface="Courier New" panose="02070309020205020404" pitchFamily="49" charset="0"/>
              <a:buChar char="o"/>
            </a:pPr>
            <a:r>
              <a:rPr lang="en-US" sz="1600" dirty="0">
                <a:effectLst/>
                <a:latin typeface="Calibri" panose="020F0502020204030204" pitchFamily="34" charset="0"/>
              </a:rPr>
              <a:t>Cloud Storage offers durable and highly available storage.</a:t>
            </a:r>
          </a:p>
          <a:p>
            <a:pPr marL="742950" lvl="1" indent="-285750" rtl="0" fontAlgn="ctr">
              <a:lnSpc>
                <a:spcPct val="150000"/>
              </a:lnSpc>
              <a:buFont typeface="Courier New" panose="02070309020205020404" pitchFamily="49" charset="0"/>
              <a:buChar char="o"/>
            </a:pPr>
            <a:r>
              <a:rPr lang="en-US" sz="1600" dirty="0">
                <a:effectLst/>
                <a:latin typeface="Calibri" panose="020F0502020204030204" pitchFamily="34" charset="0"/>
              </a:rPr>
              <a:t>Cloud logging and monitoring provide observability.</a:t>
            </a:r>
          </a:p>
        </p:txBody>
      </p:sp>
    </p:spTree>
    <p:extLst>
      <p:ext uri="{BB962C8B-B14F-4D97-AF65-F5344CB8AC3E}">
        <p14:creationId xmlns:p14="http://schemas.microsoft.com/office/powerpoint/2010/main" val="3246108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D33162-DAE8-5255-001A-97E24315E2F3}"/>
              </a:ext>
            </a:extLst>
          </p:cNvPr>
          <p:cNvSpPr>
            <a:spLocks noGrp="1"/>
          </p:cNvSpPr>
          <p:nvPr>
            <p:ph type="title"/>
          </p:nvPr>
        </p:nvSpPr>
        <p:spPr/>
        <p:txBody>
          <a:bodyPr/>
          <a:lstStyle/>
          <a:p>
            <a:r>
              <a:rPr lang="en-US"/>
              <a:t>Thank you</a:t>
            </a:r>
          </a:p>
        </p:txBody>
      </p:sp>
    </p:spTree>
    <p:extLst>
      <p:ext uri="{BB962C8B-B14F-4D97-AF65-F5344CB8AC3E}">
        <p14:creationId xmlns:p14="http://schemas.microsoft.com/office/powerpoint/2010/main" val="966656382"/>
      </p:ext>
    </p:extLst>
  </p:cSld>
  <p:clrMapOvr>
    <a:masterClrMapping/>
  </p:clrMapOvr>
  <p:transition spd="med"/>
</p:sld>
</file>

<file path=ppt/theme/theme1.xml><?xml version="1.0" encoding="utf-8"?>
<a:theme xmlns:a="http://schemas.openxmlformats.org/drawingml/2006/main" name="Office Theme">
  <a:themeElements>
    <a:clrScheme name="Infosys_cobalt Template Color">
      <a:dk1>
        <a:sysClr val="windowText" lastClr="000000"/>
      </a:dk1>
      <a:lt1>
        <a:sysClr val="window" lastClr="FFFFFF"/>
      </a:lt1>
      <a:dk2>
        <a:srgbClr val="44546A"/>
      </a:dk2>
      <a:lt2>
        <a:srgbClr val="E7E6E6"/>
      </a:lt2>
      <a:accent1>
        <a:srgbClr val="007CC3"/>
      </a:accent1>
      <a:accent2>
        <a:srgbClr val="F16C51"/>
      </a:accent2>
      <a:accent3>
        <a:srgbClr val="DF9926"/>
      </a:accent3>
      <a:accent4>
        <a:srgbClr val="00B28F"/>
      </a:accent4>
      <a:accent5>
        <a:srgbClr val="004A85"/>
      </a:accent5>
      <a:accent6>
        <a:srgbClr val="231F20"/>
      </a:accent6>
      <a:hlink>
        <a:srgbClr val="0563C1"/>
      </a:hlink>
      <a:folHlink>
        <a:srgbClr val="954F72"/>
      </a:folHlink>
    </a:clrScheme>
    <a:fontScheme name="Infosys_cobalt Templat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52de330-da66-4b9e-9f33-aebc0237daee" xsi:nil="true"/>
    <lcf76f155ced4ddcb4097134ff3c332f xmlns="05bde9ae-d7bf-43aa-a344-801fee681f8c">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50F39B2748BEB42A461DE02C89CBA05" ma:contentTypeVersion="12" ma:contentTypeDescription="Create a new document." ma:contentTypeScope="" ma:versionID="37dbc2e6f328217a59d7f4a4cd9f3b72">
  <xsd:schema xmlns:xsd="http://www.w3.org/2001/XMLSchema" xmlns:xs="http://www.w3.org/2001/XMLSchema" xmlns:p="http://schemas.microsoft.com/office/2006/metadata/properties" xmlns:ns2="05bde9ae-d7bf-43aa-a344-801fee681f8c" xmlns:ns3="d52de330-da66-4b9e-9f33-aebc0237daee" targetNamespace="http://schemas.microsoft.com/office/2006/metadata/properties" ma:root="true" ma:fieldsID="4bbf5f5e1661288f5f4f9f54175708ea" ns2:_="" ns3:_="">
    <xsd:import namespace="05bde9ae-d7bf-43aa-a344-801fee681f8c"/>
    <xsd:import namespace="d52de330-da66-4b9e-9f33-aebc0237dae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bde9ae-d7bf-43aa-a344-801fee681f8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BillingMetadata" ma:index="16" nillable="true" ma:displayName="MediaServiceBillingMetadata" ma:hidden="true" ma:internalName="MediaServiceBillingMetadata" ma:readOnly="true">
      <xsd:simpleType>
        <xsd:restriction base="dms:Note"/>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bd3049a-d92e-47f6-938a-5800ed4570a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52de330-da66-4b9e-9f33-aebc0237daee"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a2038bde-f7d7-48a0-9ce8-5644aa271334}" ma:internalName="TaxCatchAll" ma:showField="CatchAllData" ma:web="d52de330-da66-4b9e-9f33-aebc0237dae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1D4373-64E7-4D19-BFF5-3AB92DB11E4A}">
  <ds:schemaRefs>
    <ds:schemaRef ds:uri="http://purl.org/dc/dcmitype/"/>
    <ds:schemaRef ds:uri="http://purl.org/dc/elements/1.1/"/>
    <ds:schemaRef ds:uri="http://schemas.microsoft.com/office/infopath/2007/PartnerControls"/>
    <ds:schemaRef ds:uri="http://schemas.microsoft.com/office/2006/documentManagement/types"/>
    <ds:schemaRef ds:uri="http://www.w3.org/XML/1998/namespace"/>
    <ds:schemaRef ds:uri="http://purl.org/dc/terms/"/>
    <ds:schemaRef ds:uri="63e5f504-5f5a-4014-87ae-9386d717f0b8"/>
    <ds:schemaRef ds:uri="f43799c0-dee7-4adc-808a-152080a96302"/>
    <ds:schemaRef ds:uri="http://schemas.microsoft.com/office/2006/metadata/properties"/>
    <ds:schemaRef ds:uri="http://schemas.openxmlformats.org/package/2006/metadata/core-properties"/>
    <ds:schemaRef ds:uri="d52de330-da66-4b9e-9f33-aebc0237daee"/>
    <ds:schemaRef ds:uri="05bde9ae-d7bf-43aa-a344-801fee681f8c"/>
  </ds:schemaRefs>
</ds:datastoreItem>
</file>

<file path=customXml/itemProps2.xml><?xml version="1.0" encoding="utf-8"?>
<ds:datastoreItem xmlns:ds="http://schemas.openxmlformats.org/officeDocument/2006/customXml" ds:itemID="{738D3FC6-31C5-4958-A6F2-9E9B4EBF1E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5bde9ae-d7bf-43aa-a344-801fee681f8c"/>
    <ds:schemaRef ds:uri="d52de330-da66-4b9e-9f33-aebc0237da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46395C-DD5B-4DD7-B6DE-7B21D65496C6}">
  <ds:schemaRefs>
    <ds:schemaRef ds:uri="http://schemas.microsoft.com/sharepoint/v3/contenttype/forms"/>
  </ds:schemaRefs>
</ds:datastoreItem>
</file>

<file path=docMetadata/LabelInfo.xml><?xml version="1.0" encoding="utf-8"?>
<clbl:labelList xmlns:clbl="http://schemas.microsoft.com/office/2020/mipLabelMetadata">
  <clbl:label id="{a0819fa7-4367-4500-ba88-dd630d977609}" enabled="1" method="Standard" siteId="{63ce7d59-2f3e-42cd-a8cc-be764cff5eb6}" removed="0"/>
</clbl:labelList>
</file>

<file path=docProps/app.xml><?xml version="1.0" encoding="utf-8"?>
<Properties xmlns="http://schemas.openxmlformats.org/officeDocument/2006/extended-properties" xmlns:vt="http://schemas.openxmlformats.org/officeDocument/2006/docPropsVTypes">
  <TotalTime>186</TotalTime>
  <Words>1308</Words>
  <Application>Microsoft Office PowerPoint</Application>
  <PresentationFormat>Widescreen</PresentationFormat>
  <Paragraphs>135</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Infosys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Infosys_cobalt Template</dc:title>
  <dc:subject>Infosys_cobalt Template</dc:subject>
  <dc:creator>Infosys Limited</dc:creator>
  <cp:keywords>Infosys_cobalt PPT Template</cp:keywords>
  <cp:lastModifiedBy>Rajesh Merugu</cp:lastModifiedBy>
  <cp:revision>15</cp:revision>
  <dcterms:created xsi:type="dcterms:W3CDTF">2020-08-19T10:20:11Z</dcterms:created>
  <dcterms:modified xsi:type="dcterms:W3CDTF">2026-05-17T12:19:42Z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e4b3411-284d-4d31-bd4f-bc13ef7f1fd6_Enabled">
    <vt:lpwstr>True</vt:lpwstr>
  </property>
  <property fmtid="{D5CDD505-2E9C-101B-9397-08002B2CF9AE}" pid="3" name="MSIP_Label_be4b3411-284d-4d31-bd4f-bc13ef7f1fd6_SiteId">
    <vt:lpwstr>63ce7d59-2f3e-42cd-a8cc-be764cff5eb6</vt:lpwstr>
  </property>
  <property fmtid="{D5CDD505-2E9C-101B-9397-08002B2CF9AE}" pid="4" name="MSIP_Label_be4b3411-284d-4d31-bd4f-bc13ef7f1fd6_Owner">
    <vt:lpwstr>harsha.l01@ad.infosys.com</vt:lpwstr>
  </property>
  <property fmtid="{D5CDD505-2E9C-101B-9397-08002B2CF9AE}" pid="5" name="MSIP_Label_be4b3411-284d-4d31-bd4f-bc13ef7f1fd6_SetDate">
    <vt:lpwstr>2020-08-19T10:20:30.6331623Z</vt:lpwstr>
  </property>
  <property fmtid="{D5CDD505-2E9C-101B-9397-08002B2CF9AE}" pid="6" name="MSIP_Label_be4b3411-284d-4d31-bd4f-bc13ef7f1fd6_Name">
    <vt:lpwstr>Internal</vt:lpwstr>
  </property>
  <property fmtid="{D5CDD505-2E9C-101B-9397-08002B2CF9AE}" pid="7" name="MSIP_Label_be4b3411-284d-4d31-bd4f-bc13ef7f1fd6_Application">
    <vt:lpwstr>Microsoft Azure Information Protection</vt:lpwstr>
  </property>
  <property fmtid="{D5CDD505-2E9C-101B-9397-08002B2CF9AE}" pid="8" name="MSIP_Label_be4b3411-284d-4d31-bd4f-bc13ef7f1fd6_ActionId">
    <vt:lpwstr>95027054-cba1-45f5-af37-aac23492c234</vt:lpwstr>
  </property>
  <property fmtid="{D5CDD505-2E9C-101B-9397-08002B2CF9AE}" pid="9" name="MSIP_Label_be4b3411-284d-4d31-bd4f-bc13ef7f1fd6_Extended_MSFT_Method">
    <vt:lpwstr>Automatic</vt:lpwstr>
  </property>
  <property fmtid="{D5CDD505-2E9C-101B-9397-08002B2CF9AE}" pid="10" name="ContentTypeId">
    <vt:lpwstr>0x010100B50F39B2748BEB42A461DE02C89CBA05</vt:lpwstr>
  </property>
  <property fmtid="{D5CDD505-2E9C-101B-9397-08002B2CF9AE}" pid="11" name="MSIP_Label_a0819fa7-4367-4500-ba88-dd630d977609_Enabled">
    <vt:lpwstr>true</vt:lpwstr>
  </property>
  <property fmtid="{D5CDD505-2E9C-101B-9397-08002B2CF9AE}" pid="12" name="MSIP_Label_a0819fa7-4367-4500-ba88-dd630d977609_SetDate">
    <vt:lpwstr>2023-03-14T05:57:41Z</vt:lpwstr>
  </property>
  <property fmtid="{D5CDD505-2E9C-101B-9397-08002B2CF9AE}" pid="13" name="MSIP_Label_a0819fa7-4367-4500-ba88-dd630d977609_Method">
    <vt:lpwstr>Standard</vt:lpwstr>
  </property>
  <property fmtid="{D5CDD505-2E9C-101B-9397-08002B2CF9AE}" pid="14" name="MSIP_Label_a0819fa7-4367-4500-ba88-dd630d977609_Name">
    <vt:lpwstr>a0819fa7-4367-4500-ba88-dd630d977609</vt:lpwstr>
  </property>
  <property fmtid="{D5CDD505-2E9C-101B-9397-08002B2CF9AE}" pid="15" name="MSIP_Label_a0819fa7-4367-4500-ba88-dd630d977609_SiteId">
    <vt:lpwstr>63ce7d59-2f3e-42cd-a8cc-be764cff5eb6</vt:lpwstr>
  </property>
  <property fmtid="{D5CDD505-2E9C-101B-9397-08002B2CF9AE}" pid="16" name="MSIP_Label_a0819fa7-4367-4500-ba88-dd630d977609_ActionId">
    <vt:lpwstr>95027054-cba1-45f5-af37-aac23492c234</vt:lpwstr>
  </property>
  <property fmtid="{D5CDD505-2E9C-101B-9397-08002B2CF9AE}" pid="17" name="MSIP_Label_a0819fa7-4367-4500-ba88-dd630d977609_ContentBits">
    <vt:lpwstr>0</vt:lpwstr>
  </property>
</Properties>
</file>