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57" r:id="rId11"/>
    <p:sldId id="258" r:id="rId12"/>
    <p:sldId id="25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F34B-AB93-CE6B-DD29-E723F60C93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CE098-4417-4C94-2D46-2E91F2AA5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4ADD-90DA-213D-6233-139DEF2B3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6797D-7E33-70AD-910F-37AFFC764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0597D-29C3-F0A7-5039-F1A718417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732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714E5-6B42-9469-15FA-84887BE8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26A30-11DA-346A-9AEC-34EF62EB1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1E4A5-4258-41A1-9AAB-FDCE3E96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EF9B2-C0BE-028C-4A0A-F3C114A3C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287B7-4D60-8E0D-27E5-F25B6BB6F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92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CE6A0-5BCB-9446-F667-84BF42F2A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75198-93F9-5B61-D2FE-D239790141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A52F0-F505-4380-6CBA-5F99CD6C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0D419-311A-B744-517F-3484C9721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8C9C9-BE82-0573-AFF4-F54944174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1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50061-F284-C136-8F36-FED590AB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E616-74C9-BA90-346F-9B2BBA5C33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04210-BE9B-A1FD-04E4-A397BFAF9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1EBBE-E780-2D35-13CC-E75B748C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45BDBD-23A1-4E71-DC0A-533788DB7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9781E-C469-DD71-8092-11D780F0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987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28684-E79F-840D-CE21-B89EB2B3D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44DCF-CF87-F3C0-7CC9-2592F6AEB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01AAEE-ED95-412C-5549-EC68025D4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D9A4C3-43B0-B9CE-8B8F-95DD282ABF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418AB9-6256-A700-253B-ECC3928FF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EB5D54-70B9-7116-8D57-637930176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F34F62-33C3-376F-34C5-57739AD7F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E4844E-EE03-D887-6E4B-E07D9E834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F4C1D-8CCB-9148-2700-E40BB3A14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2C12B9-7A40-B6FE-B947-018B8DEDC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F73168-D93A-3982-BCB3-C64A5BB80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69F22-FD79-6567-BECD-EC668567D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30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A2A043-2211-0D5E-5626-F7878EEE5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8F0A62-EF53-12DF-1DC2-94A32BF1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D1707-92C7-391C-630F-B3F23FF1F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92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730E-E413-2346-F29F-5108F030F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06727-A999-969B-91A1-9510D7A5F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23188B-50BB-18A3-F037-54E903B8D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0F5D6-3D04-AE3C-885B-EF4D33E63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06342-97ED-EBEB-76AA-1B39AB4A4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1A74F-DBD1-7D4E-70D7-ECE8DC00E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877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59FE-E15D-71B8-7F20-1DA606853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5D994-CF9C-E96E-C754-140D285BD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F13A04-44FF-E356-C67C-AA6A796B7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B2F45B-EB5C-4E01-B7C3-52DB6FB1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304D66-4EF1-CDA3-23B8-688A9CBCB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F83FC6-7C0C-958C-AAF5-1195010F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66A9C-CC01-000D-3DCD-0DAF9A8A8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ECFEA5-17EB-3E91-CC8F-9C58BE1FF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60D1-9280-C84E-4EFE-A17C08210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67F8B-9860-0A26-CE8D-FCBBFD505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4AEC1-87AC-3250-0401-FC977776C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113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45BC2F-9360-C00B-88D4-C5225D87EE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51A71-1E00-3C8E-DAEF-B927D2D45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5FA86-C408-078D-AC69-344599CDB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D2D36-2D17-9024-70C4-DE1405FFB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8607C-948F-1B67-EC62-4309AC73E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503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835CC-3587-CA27-38B0-7CC57E95F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D3B8D-92A4-5370-0A12-A0E139AAC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FA17C-E1DA-911B-37C8-A27E499992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87149-7DFC-4698-A4AA-D37C02661958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D71DB2-60A3-DF93-32B4-66960ED9BF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16A0C-D3E7-3F62-15B6-6055E79AF5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669FF1-4964-4A59-B36A-C370080F7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936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375D3B-07B5-40B7-9324-1F6E4707E23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8E5B8B-87A5-97F8-BDB8-E251A2331359}"/>
              </a:ext>
            </a:extLst>
          </p:cNvPr>
          <p:cNvSpPr/>
          <p:nvPr/>
        </p:nvSpPr>
        <p:spPr>
          <a:xfrm>
            <a:off x="5207000" y="1651000"/>
            <a:ext cx="812800" cy="939800"/>
          </a:xfrm>
          <a:prstGeom prst="round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A84101-8A16-5516-2B12-71103CDC0068}"/>
              </a:ext>
            </a:extLst>
          </p:cNvPr>
          <p:cNvSpPr txBox="1"/>
          <p:nvPr/>
        </p:nvSpPr>
        <p:spPr>
          <a:xfrm>
            <a:off x="5207000" y="1651000"/>
            <a:ext cx="812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libri" panose="020F0502020204030204" pitchFamily="34" charset="0"/>
              </a:rPr>
              <a:t>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FE322-36CE-9E72-60AA-6CDC9186AA77}"/>
              </a:ext>
            </a:extLst>
          </p:cNvPr>
          <p:cNvSpPr/>
          <p:nvPr/>
        </p:nvSpPr>
        <p:spPr>
          <a:xfrm>
            <a:off x="5816600" y="1549400"/>
            <a:ext cx="279400" cy="279400"/>
          </a:xfrm>
          <a:prstGeom prst="ellipse">
            <a:avLst/>
          </a:prstGeom>
          <a:solidFill>
            <a:srgbClr val="1E8E3E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A5E73E-DE1E-F6BE-CB9C-FC1588BE51BF}"/>
              </a:ext>
            </a:extLst>
          </p:cNvPr>
          <p:cNvSpPr txBox="1"/>
          <p:nvPr/>
        </p:nvSpPr>
        <p:spPr>
          <a:xfrm>
            <a:off x="0" y="2794000"/>
            <a:ext cx="1219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pPr algn="ctr"/>
            <a:r>
              <a:rPr lang="en-US" sz="4400" b="1">
                <a:solidFill>
                  <a:srgbClr val="1765CC"/>
                </a:solidFill>
                <a:latin typeface="Calibri" panose="020F0502020204030204" pitchFamily="34" charset="0"/>
              </a:rPr>
              <a:t>Landshield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4EF684-6065-CF20-CA9E-B7A680AAB967}"/>
              </a:ext>
            </a:extLst>
          </p:cNvPr>
          <p:cNvSpPr txBox="1"/>
          <p:nvPr/>
        </p:nvSpPr>
        <p:spPr>
          <a:xfrm>
            <a:off x="0" y="3429000"/>
            <a:ext cx="1219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pPr algn="ctr"/>
            <a:r>
              <a:rPr lang="en-US" sz="1600">
                <a:solidFill>
                  <a:srgbClr val="5F6368"/>
                </a:solidFill>
                <a:latin typeface="Calibri" panose="020F0502020204030204" pitchFamily="34" charset="0"/>
              </a:rPr>
              <a:t>AI-powered due diligence for Indian land documents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6CDF5E-7658-ADBE-4A87-F49EAF23A2D8}"/>
              </a:ext>
            </a:extLst>
          </p:cNvPr>
          <p:cNvSpPr/>
          <p:nvPr/>
        </p:nvSpPr>
        <p:spPr>
          <a:xfrm>
            <a:off x="3556000" y="4445000"/>
            <a:ext cx="5080000" cy="558800"/>
          </a:xfrm>
          <a:prstGeom prst="round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Calibri" panose="020F0502020204030204" pitchFamily="34" charset="0"/>
              </a:rPr>
              <a:t>Infosys Gemini Hackathon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FF5E7-CC93-AEBB-370A-9A61E999538D}"/>
              </a:ext>
            </a:extLst>
          </p:cNvPr>
          <p:cNvSpPr txBox="1"/>
          <p:nvPr/>
        </p:nvSpPr>
        <p:spPr>
          <a:xfrm>
            <a:off x="0" y="5207000"/>
            <a:ext cx="1219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pPr algn="ctr"/>
            <a:r>
              <a:rPr lang="en-US" sz="1200">
                <a:solidFill>
                  <a:srgbClr val="5F6368"/>
                </a:solidFill>
                <a:latin typeface="Calibri" panose="020F0502020204030204" pitchFamily="34" charset="0"/>
              </a:rPr>
              <a:t>AI Agents in 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AF29C0-FCDE-6460-E727-08DAB3B1CBB8}"/>
              </a:ext>
            </a:extLst>
          </p:cNvPr>
          <p:cNvSpPr txBox="1"/>
          <p:nvPr/>
        </p:nvSpPr>
        <p:spPr>
          <a:xfrm>
            <a:off x="0" y="6350000"/>
            <a:ext cx="1219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pPr algn="ctr"/>
            <a:r>
              <a:rPr lang="en-US" sz="1000">
                <a:solidFill>
                  <a:srgbClr val="5F6368"/>
                </a:solidFill>
                <a:latin typeface="Calibri" panose="020F0502020204030204" pitchFamily="34" charset="0"/>
              </a:rPr>
              <a:t>Confidential - Team Submission - 2026</a:t>
            </a:r>
          </a:p>
        </p:txBody>
      </p:sp>
    </p:spTree>
    <p:extLst>
      <p:ext uri="{BB962C8B-B14F-4D97-AF65-F5344CB8AC3E}">
        <p14:creationId xmlns:p14="http://schemas.microsoft.com/office/powerpoint/2010/main" val="831271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A29797-7207-6AEF-F89D-02AB4C95F40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F36C4-2D61-F99B-F4EE-71F88D2B8BD7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2400" b="1">
                <a:solidFill>
                  <a:srgbClr val="1765CC"/>
                </a:solidFill>
                <a:latin typeface="Calibri" panose="020F0502020204030204" pitchFamily="34" charset="0"/>
              </a:rPr>
              <a:t>Team and use case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9FD201-30FA-3F42-A2A4-86C2FBC16222}"/>
              </a:ext>
            </a:extLst>
          </p:cNvPr>
          <p:cNvSpPr/>
          <p:nvPr/>
        </p:nvSpPr>
        <p:spPr>
          <a:xfrm>
            <a:off x="508000" y="889000"/>
            <a:ext cx="11176000" cy="3556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B05B75-441A-280D-915B-66B1A25D7CAC}"/>
              </a:ext>
            </a:extLst>
          </p:cNvPr>
          <p:cNvSpPr txBox="1"/>
          <p:nvPr/>
        </p:nvSpPr>
        <p:spPr>
          <a:xfrm>
            <a:off x="508000" y="889000"/>
            <a:ext cx="2413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Calibri" panose="020F0502020204030204" pitchFamily="34" charset="0"/>
              </a:rPr>
              <a:t>TEAM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E05D5-8E4D-570E-2C2A-434BAD95408D}"/>
              </a:ext>
            </a:extLst>
          </p:cNvPr>
          <p:cNvSpPr txBox="1"/>
          <p:nvPr/>
        </p:nvSpPr>
        <p:spPr>
          <a:xfrm>
            <a:off x="2921000" y="889000"/>
            <a:ext cx="304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Calibri" panose="020F0502020204030204" pitchFamily="34" charset="0"/>
              </a:rPr>
              <a:t>MEMBER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BC45C2-E63E-120B-6137-C5DB4DC2DA76}"/>
              </a:ext>
            </a:extLst>
          </p:cNvPr>
          <p:cNvSpPr txBox="1"/>
          <p:nvPr/>
        </p:nvSpPr>
        <p:spPr>
          <a:xfrm>
            <a:off x="5969000" y="889000"/>
            <a:ext cx="4064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Calibri" panose="020F0502020204030204" pitchFamily="34" charset="0"/>
              </a:rPr>
              <a:t>EMAIL ID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CC75D-35CC-2B41-FF65-E6C21C04F8C8}"/>
              </a:ext>
            </a:extLst>
          </p:cNvPr>
          <p:cNvSpPr txBox="1"/>
          <p:nvPr/>
        </p:nvSpPr>
        <p:spPr>
          <a:xfrm>
            <a:off x="10033000" y="8890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 b="1">
                <a:solidFill>
                  <a:srgbClr val="FFFFFF"/>
                </a:solidFill>
                <a:latin typeface="Calibri" panose="020F0502020204030204" pitchFamily="34" charset="0"/>
              </a:rPr>
              <a:t>DU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2A8076-398D-52D7-0EA8-49C5C029CE70}"/>
              </a:ext>
            </a:extLst>
          </p:cNvPr>
          <p:cNvSpPr/>
          <p:nvPr/>
        </p:nvSpPr>
        <p:spPr>
          <a:xfrm>
            <a:off x="508000" y="1244600"/>
            <a:ext cx="11176000" cy="3810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DB15D-8601-5943-AE84-BF206A5B42E2}"/>
              </a:ext>
            </a:extLst>
          </p:cNvPr>
          <p:cNvSpPr txBox="1"/>
          <p:nvPr/>
        </p:nvSpPr>
        <p:spPr>
          <a:xfrm>
            <a:off x="508000" y="1244600"/>
            <a:ext cx="2413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AA1EB-6FE3-93F7-76F6-FFED5230ABB3}"/>
              </a:ext>
            </a:extLst>
          </p:cNvPr>
          <p:cNvSpPr txBox="1"/>
          <p:nvPr/>
        </p:nvSpPr>
        <p:spPr>
          <a:xfrm>
            <a:off x="2921000" y="1244600"/>
            <a:ext cx="3048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061E84-78DF-E94E-4A08-7CE8228E5429}"/>
              </a:ext>
            </a:extLst>
          </p:cNvPr>
          <p:cNvSpPr txBox="1"/>
          <p:nvPr/>
        </p:nvSpPr>
        <p:spPr>
          <a:xfrm>
            <a:off x="5969000" y="1244600"/>
            <a:ext cx="4064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EEAF7-F432-38D1-7659-D075737D06FC}"/>
              </a:ext>
            </a:extLst>
          </p:cNvPr>
          <p:cNvSpPr txBox="1"/>
          <p:nvPr/>
        </p:nvSpPr>
        <p:spPr>
          <a:xfrm>
            <a:off x="10033000" y="1244600"/>
            <a:ext cx="165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8B626A-24D6-1BDF-BBC4-2683E6A5307A}"/>
              </a:ext>
            </a:extLst>
          </p:cNvPr>
          <p:cNvSpPr/>
          <p:nvPr/>
        </p:nvSpPr>
        <p:spPr>
          <a:xfrm>
            <a:off x="508000" y="1651000"/>
            <a:ext cx="11176000" cy="3810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507FE3-F40B-128F-1CA3-AF9B04712D8A}"/>
              </a:ext>
            </a:extLst>
          </p:cNvPr>
          <p:cNvSpPr txBox="1"/>
          <p:nvPr/>
        </p:nvSpPr>
        <p:spPr>
          <a:xfrm>
            <a:off x="508000" y="1651000"/>
            <a:ext cx="2413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9A4DF0-0909-118F-17AE-4A812DBA1D7B}"/>
              </a:ext>
            </a:extLst>
          </p:cNvPr>
          <p:cNvSpPr txBox="1"/>
          <p:nvPr/>
        </p:nvSpPr>
        <p:spPr>
          <a:xfrm>
            <a:off x="2921000" y="1651000"/>
            <a:ext cx="3048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1CFFE7-A979-D011-EFD2-435D0BFFD2F9}"/>
              </a:ext>
            </a:extLst>
          </p:cNvPr>
          <p:cNvSpPr txBox="1"/>
          <p:nvPr/>
        </p:nvSpPr>
        <p:spPr>
          <a:xfrm>
            <a:off x="5969000" y="1651000"/>
            <a:ext cx="4064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81A4DA-DD86-35FA-F2E8-E76D40567299}"/>
              </a:ext>
            </a:extLst>
          </p:cNvPr>
          <p:cNvSpPr txBox="1"/>
          <p:nvPr/>
        </p:nvSpPr>
        <p:spPr>
          <a:xfrm>
            <a:off x="10033000" y="1651000"/>
            <a:ext cx="165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9F0041-14BF-599D-4C6F-BF72E63DCFFB}"/>
              </a:ext>
            </a:extLst>
          </p:cNvPr>
          <p:cNvSpPr/>
          <p:nvPr/>
        </p:nvSpPr>
        <p:spPr>
          <a:xfrm>
            <a:off x="508000" y="2057400"/>
            <a:ext cx="11176000" cy="3810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DE87DE-A0F6-8FF5-896A-2EA6C6353E21}"/>
              </a:ext>
            </a:extLst>
          </p:cNvPr>
          <p:cNvSpPr txBox="1"/>
          <p:nvPr/>
        </p:nvSpPr>
        <p:spPr>
          <a:xfrm>
            <a:off x="508000" y="2057400"/>
            <a:ext cx="2413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0CCA10-4563-06A3-8A82-1D7DBC96D803}"/>
              </a:ext>
            </a:extLst>
          </p:cNvPr>
          <p:cNvSpPr txBox="1"/>
          <p:nvPr/>
        </p:nvSpPr>
        <p:spPr>
          <a:xfrm>
            <a:off x="2921000" y="2057400"/>
            <a:ext cx="3048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9EF859-48D3-0839-AD92-46BEA76A9AA8}"/>
              </a:ext>
            </a:extLst>
          </p:cNvPr>
          <p:cNvSpPr txBox="1"/>
          <p:nvPr/>
        </p:nvSpPr>
        <p:spPr>
          <a:xfrm>
            <a:off x="5969000" y="2057400"/>
            <a:ext cx="4064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FEB98A-04CF-85C1-24FE-C791E6B04296}"/>
              </a:ext>
            </a:extLst>
          </p:cNvPr>
          <p:cNvSpPr txBox="1"/>
          <p:nvPr/>
        </p:nvSpPr>
        <p:spPr>
          <a:xfrm>
            <a:off x="10033000" y="2057400"/>
            <a:ext cx="165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208D3A6-7116-D6A1-9E3E-8AF3F339A553}"/>
              </a:ext>
            </a:extLst>
          </p:cNvPr>
          <p:cNvSpPr/>
          <p:nvPr/>
        </p:nvSpPr>
        <p:spPr>
          <a:xfrm>
            <a:off x="508000" y="2463800"/>
            <a:ext cx="11176000" cy="3810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AA7957-AB6E-E019-1D9D-4A4E2264A6D6}"/>
              </a:ext>
            </a:extLst>
          </p:cNvPr>
          <p:cNvSpPr txBox="1"/>
          <p:nvPr/>
        </p:nvSpPr>
        <p:spPr>
          <a:xfrm>
            <a:off x="508000" y="2463800"/>
            <a:ext cx="2413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42DB3C-6C95-0F7F-59F5-3F156A143579}"/>
              </a:ext>
            </a:extLst>
          </p:cNvPr>
          <p:cNvSpPr txBox="1"/>
          <p:nvPr/>
        </p:nvSpPr>
        <p:spPr>
          <a:xfrm>
            <a:off x="2921000" y="2463800"/>
            <a:ext cx="3048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B07B17-953F-039C-A955-C2F6EAF74D0C}"/>
              </a:ext>
            </a:extLst>
          </p:cNvPr>
          <p:cNvSpPr txBox="1"/>
          <p:nvPr/>
        </p:nvSpPr>
        <p:spPr>
          <a:xfrm>
            <a:off x="5969000" y="2463800"/>
            <a:ext cx="4064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0D4AC1-4E68-A577-930A-448163BA586D}"/>
              </a:ext>
            </a:extLst>
          </p:cNvPr>
          <p:cNvSpPr txBox="1"/>
          <p:nvPr/>
        </p:nvSpPr>
        <p:spPr>
          <a:xfrm>
            <a:off x="10033000" y="2463800"/>
            <a:ext cx="165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202424"/>
                </a:solidFill>
                <a:latin typeface="Calibri" panose="020F0502020204030204" pitchFamily="34" charset="0"/>
              </a:rPr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F0F01F-AE16-31A9-19EB-028E65668DF1}"/>
              </a:ext>
            </a:extLst>
          </p:cNvPr>
          <p:cNvSpPr txBox="1"/>
          <p:nvPr/>
        </p:nvSpPr>
        <p:spPr>
          <a:xfrm>
            <a:off x="508000" y="3022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Use case details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490F6A2-D362-36EE-399C-B09D569EF79F}"/>
              </a:ext>
            </a:extLst>
          </p:cNvPr>
          <p:cNvSpPr/>
          <p:nvPr/>
        </p:nvSpPr>
        <p:spPr>
          <a:xfrm>
            <a:off x="508000" y="3378200"/>
            <a:ext cx="50800" cy="3556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7CD8C8-C349-27B8-9F4E-37AE583ABFFD}"/>
              </a:ext>
            </a:extLst>
          </p:cNvPr>
          <p:cNvSpPr txBox="1"/>
          <p:nvPr/>
        </p:nvSpPr>
        <p:spPr>
          <a:xfrm>
            <a:off x="685800" y="33782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Use case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0001A8-2FE4-5944-C0F3-E9FFF8F84EB3}"/>
              </a:ext>
            </a:extLst>
          </p:cNvPr>
          <p:cNvSpPr txBox="1"/>
          <p:nvPr/>
        </p:nvSpPr>
        <p:spPr>
          <a:xfrm>
            <a:off x="2413000" y="3378200"/>
            <a:ext cx="927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Landshield - AI-powered land document verification for Indian buyers.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BBF6CC-0979-46A9-A7FD-9821E02691EE}"/>
              </a:ext>
            </a:extLst>
          </p:cNvPr>
          <p:cNvSpPr/>
          <p:nvPr/>
        </p:nvSpPr>
        <p:spPr>
          <a:xfrm>
            <a:off x="508000" y="3784600"/>
            <a:ext cx="50800" cy="3556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FECF81B-F1D0-1531-3CF3-6BDD10670A89}"/>
              </a:ext>
            </a:extLst>
          </p:cNvPr>
          <p:cNvSpPr txBox="1"/>
          <p:nvPr/>
        </p:nvSpPr>
        <p:spPr>
          <a:xfrm>
            <a:off x="685800" y="37846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Domain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2BCB73-BFF4-F187-103A-4D3D5D20B778}"/>
              </a:ext>
            </a:extLst>
          </p:cNvPr>
          <p:cNvSpPr txBox="1"/>
          <p:nvPr/>
        </p:nvSpPr>
        <p:spPr>
          <a:xfrm>
            <a:off x="2413000" y="3784600"/>
            <a:ext cx="927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Real Estate / Legal Tech.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7F39BB-3FE3-EF1C-CA96-B41A7108179D}"/>
              </a:ext>
            </a:extLst>
          </p:cNvPr>
          <p:cNvSpPr/>
          <p:nvPr/>
        </p:nvSpPr>
        <p:spPr>
          <a:xfrm>
            <a:off x="508000" y="4191000"/>
            <a:ext cx="50800" cy="3556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C05883-5282-CC14-946C-CF95E4F7DC55}"/>
              </a:ext>
            </a:extLst>
          </p:cNvPr>
          <p:cNvSpPr txBox="1"/>
          <p:nvPr/>
        </p:nvSpPr>
        <p:spPr>
          <a:xfrm>
            <a:off x="685800" y="41910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Sub-domain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4BDA79-5FEB-DAE6-9DD8-68F47AF7EEAD}"/>
              </a:ext>
            </a:extLst>
          </p:cNvPr>
          <p:cNvSpPr txBox="1"/>
          <p:nvPr/>
        </p:nvSpPr>
        <p:spPr>
          <a:xfrm>
            <a:off x="2413000" y="4191000"/>
            <a:ext cx="927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fr-FR" sz="1000">
                <a:solidFill>
                  <a:srgbClr val="3C4043"/>
                </a:solidFill>
                <a:latin typeface="Calibri" panose="020F0502020204030204" pitchFamily="34" charset="0"/>
              </a:rPr>
              <a:t>Document verification, fraud detection, due-diligence assistance.</a:t>
            </a:r>
            <a:endParaRPr lang="en-US" sz="1000">
              <a:solidFill>
                <a:srgbClr val="3C4043"/>
              </a:solidFill>
              <a:latin typeface="Calibri" panose="020F050202020403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FF23A8E-D99C-6E09-D555-030E25DBA586}"/>
              </a:ext>
            </a:extLst>
          </p:cNvPr>
          <p:cNvSpPr/>
          <p:nvPr/>
        </p:nvSpPr>
        <p:spPr>
          <a:xfrm>
            <a:off x="508000" y="4597400"/>
            <a:ext cx="50800" cy="889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ED7DCC-8190-D47F-273D-B192371D3584}"/>
              </a:ext>
            </a:extLst>
          </p:cNvPr>
          <p:cNvSpPr txBox="1"/>
          <p:nvPr/>
        </p:nvSpPr>
        <p:spPr>
          <a:xfrm>
            <a:off x="685800" y="45974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Description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05969B-08D3-16D8-E85B-A26B771B281E}"/>
              </a:ext>
            </a:extLst>
          </p:cNvPr>
          <p:cNvSpPr txBox="1"/>
          <p:nvPr/>
        </p:nvSpPr>
        <p:spPr>
          <a:xfrm>
            <a:off x="2413000" y="4597400"/>
            <a:ext cx="927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A Gen AI agent system that ingests a bundle of land documents (sale deed, EC, mutation, tax receipt, building plan), extracts structured data, validates against Indian land laws (TPA, Roshni Act, tribal-land rules, RERA), flags fraud indicators (name mismatch, chain-of-title gaps, undervaluation), and produces a lawyer-style report graded by severity.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FC32C0-1149-083A-C1B5-167CE8C35E88}"/>
              </a:ext>
            </a:extLst>
          </p:cNvPr>
          <p:cNvSpPr/>
          <p:nvPr/>
        </p:nvSpPr>
        <p:spPr>
          <a:xfrm>
            <a:off x="508000" y="5537200"/>
            <a:ext cx="50800" cy="3556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951072-072A-6ACD-6D2E-88AC3CF53F5E}"/>
              </a:ext>
            </a:extLst>
          </p:cNvPr>
          <p:cNvSpPr txBox="1"/>
          <p:nvPr/>
        </p:nvSpPr>
        <p:spPr>
          <a:xfrm>
            <a:off x="685800" y="5537200"/>
            <a:ext cx="165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Outcome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3A16DA-2EF1-0364-9643-9C776DB1C763}"/>
              </a:ext>
            </a:extLst>
          </p:cNvPr>
          <p:cNvSpPr txBox="1"/>
          <p:nvPr/>
        </p:nvSpPr>
        <p:spPr>
          <a:xfrm>
            <a:off x="2413000" y="5537200"/>
            <a:ext cx="927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Buyer gets a clear go / clarify / stop verdict in seconds instead of weeks of manual due diligence.</a:t>
            </a:r>
          </a:p>
        </p:txBody>
      </p:sp>
    </p:spTree>
    <p:extLst>
      <p:ext uri="{BB962C8B-B14F-4D97-AF65-F5344CB8AC3E}">
        <p14:creationId xmlns:p14="http://schemas.microsoft.com/office/powerpoint/2010/main" val="1415966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695171-BAFC-6DF6-DFB5-25977EB3284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D449F-E7C7-9526-6D37-043E016D4D97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3200" b="1">
                <a:solidFill>
                  <a:srgbClr val="1765CC"/>
                </a:solidFill>
                <a:latin typeface="Calibri" panose="020F0502020204030204" pitchFamily="34" charset="0"/>
              </a:rPr>
              <a:t>Solution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448634-927A-BA03-8405-49202761E542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600">
                <a:solidFill>
                  <a:srgbClr val="5F6368"/>
                </a:solidFill>
                <a:latin typeface="Calibri" panose="020F0502020204030204" pitchFamily="34" charset="0"/>
              </a:rPr>
              <a:t>Component-by-component breakdown of what each service does.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A290F6-B370-F931-8B14-7F551DDB55EE}"/>
              </a:ext>
            </a:extLst>
          </p:cNvPr>
          <p:cNvSpPr/>
          <p:nvPr/>
        </p:nvSpPr>
        <p:spPr>
          <a:xfrm>
            <a:off x="508000" y="12192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E95E1-2702-AABA-5F2C-242255E89C73}"/>
              </a:ext>
            </a:extLst>
          </p:cNvPr>
          <p:cNvSpPr txBox="1"/>
          <p:nvPr/>
        </p:nvSpPr>
        <p:spPr>
          <a:xfrm>
            <a:off x="685800" y="12192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Orchestrator (FastAPI / Cloud Run)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D013E5-1410-1A1E-0D2C-F41E3A592109}"/>
              </a:ext>
            </a:extLst>
          </p:cNvPr>
          <p:cNvSpPr txBox="1"/>
          <p:nvPr/>
        </p:nvSpPr>
        <p:spPr>
          <a:xfrm>
            <a:off x="4013200" y="12192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Receives the bundle, fans out parallel agent calls, streams progress via SSE, persists findings to Firestore.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9C8B48-CCBC-E9E9-355F-877C22F12D16}"/>
              </a:ext>
            </a:extLst>
          </p:cNvPr>
          <p:cNvSpPr/>
          <p:nvPr/>
        </p:nvSpPr>
        <p:spPr>
          <a:xfrm>
            <a:off x="508000" y="17780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4E02E5-95A6-191F-507B-170DB18C99D1}"/>
              </a:ext>
            </a:extLst>
          </p:cNvPr>
          <p:cNvSpPr txBox="1"/>
          <p:nvPr/>
        </p:nvSpPr>
        <p:spPr>
          <a:xfrm>
            <a:off x="685800" y="17780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Parser Agent (Gemini)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61CF37-9C48-7C07-4C36-0CBBBC37F204}"/>
              </a:ext>
            </a:extLst>
          </p:cNvPr>
          <p:cNvSpPr txBox="1"/>
          <p:nvPr/>
        </p:nvSpPr>
        <p:spPr>
          <a:xfrm>
            <a:off x="4013200" y="17780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Reads PDFs natively. Extracts parties, area, stamp duty, registration details, chain of title, dates.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DBD9BF-7D18-EC79-004D-7748D407219B}"/>
              </a:ext>
            </a:extLst>
          </p:cNvPr>
          <p:cNvSpPr/>
          <p:nvPr/>
        </p:nvSpPr>
        <p:spPr>
          <a:xfrm>
            <a:off x="508000" y="23368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09B3E4-23AA-5127-A1F3-5548BF738F8C}"/>
              </a:ext>
            </a:extLst>
          </p:cNvPr>
          <p:cNvSpPr txBox="1"/>
          <p:nvPr/>
        </p:nvSpPr>
        <p:spPr>
          <a:xfrm>
            <a:off x="685800" y="23368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Legal Rules Agent (Gemini)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0E820-A389-7EE7-7CCA-FC15BA30363A}"/>
              </a:ext>
            </a:extLst>
          </p:cNvPr>
          <p:cNvSpPr txBox="1"/>
          <p:nvPr/>
        </p:nvSpPr>
        <p:spPr>
          <a:xfrm>
            <a:off x="4013200" y="23368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Maps extracted data against Indian land law: registration, stamp duty, state restrictions, RERA.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97A03A-EA81-67EA-4D5E-4C25FEF0456B}"/>
              </a:ext>
            </a:extLst>
          </p:cNvPr>
          <p:cNvSpPr/>
          <p:nvPr/>
        </p:nvSpPr>
        <p:spPr>
          <a:xfrm>
            <a:off x="508000" y="28956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7E5E58-41EC-D5B1-B730-CA3657B50E1F}"/>
              </a:ext>
            </a:extLst>
          </p:cNvPr>
          <p:cNvSpPr txBox="1"/>
          <p:nvPr/>
        </p:nvSpPr>
        <p:spPr>
          <a:xfrm>
            <a:off x="685800" y="28956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Fraud Detection Agent (Gemini)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3E432E-8E8A-AF11-59DC-422E08DF8051}"/>
              </a:ext>
            </a:extLst>
          </p:cNvPr>
          <p:cNvSpPr txBox="1"/>
          <p:nvPr/>
        </p:nvSpPr>
        <p:spPr>
          <a:xfrm>
            <a:off x="4013200" y="28956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Flags name mismatches, chain-of-title gaps, undervaluation, fake registration patterns.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C52434-B232-B1DE-CFF3-0751902CF9B0}"/>
              </a:ext>
            </a:extLst>
          </p:cNvPr>
          <p:cNvSpPr/>
          <p:nvPr/>
        </p:nvSpPr>
        <p:spPr>
          <a:xfrm>
            <a:off x="508000" y="34544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E73B69-7D55-EA10-4BA2-FF2F99123370}"/>
              </a:ext>
            </a:extLst>
          </p:cNvPr>
          <p:cNvSpPr txBox="1"/>
          <p:nvPr/>
        </p:nvSpPr>
        <p:spPr>
          <a:xfrm>
            <a:off x="685800" y="34544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Report Agent (Gemini)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E3D696-2B5B-8A57-B4D4-84B1CDB8358C}"/>
              </a:ext>
            </a:extLst>
          </p:cNvPr>
          <p:cNvSpPr txBox="1"/>
          <p:nvPr/>
        </p:nvSpPr>
        <p:spPr>
          <a:xfrm>
            <a:off x="4013200" y="34544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Consolidates findings into a lawyer-style summary with severity grading and recommendations.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6045A-ADD4-8AD2-5789-6F15B2C76C5B}"/>
              </a:ext>
            </a:extLst>
          </p:cNvPr>
          <p:cNvSpPr/>
          <p:nvPr/>
        </p:nvSpPr>
        <p:spPr>
          <a:xfrm>
            <a:off x="508000" y="40132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79C25-8E99-E8C7-8985-972B52ED3A21}"/>
              </a:ext>
            </a:extLst>
          </p:cNvPr>
          <p:cNvSpPr txBox="1"/>
          <p:nvPr/>
        </p:nvSpPr>
        <p:spPr>
          <a:xfrm>
            <a:off x="685800" y="40132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Storage (GCS + Firestore)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F6BBFC-25B3-A8E4-6633-2BE60E6DB9A2}"/>
              </a:ext>
            </a:extLst>
          </p:cNvPr>
          <p:cNvSpPr txBox="1"/>
          <p:nvPr/>
        </p:nvSpPr>
        <p:spPr>
          <a:xfrm>
            <a:off x="4013200" y="40132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GCS holds source PDFs (signed URLs). Firestore holds analysis state, findings, audit log.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502F7E-E4FC-0B75-9713-D4A75EEAC510}"/>
              </a:ext>
            </a:extLst>
          </p:cNvPr>
          <p:cNvSpPr/>
          <p:nvPr/>
        </p:nvSpPr>
        <p:spPr>
          <a:xfrm>
            <a:off x="508000" y="45720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968DCB-FECC-8339-C30A-09D347B09BF8}"/>
              </a:ext>
            </a:extLst>
          </p:cNvPr>
          <p:cNvSpPr txBox="1"/>
          <p:nvPr/>
        </p:nvSpPr>
        <p:spPr>
          <a:xfrm>
            <a:off x="685800" y="45720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Frontend (Next.js / Cloud Run)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6F9779-411D-D004-7874-3D81D75ACA81}"/>
              </a:ext>
            </a:extLst>
          </p:cNvPr>
          <p:cNvSpPr txBox="1"/>
          <p:nvPr/>
        </p:nvSpPr>
        <p:spPr>
          <a:xfrm>
            <a:off x="4013200" y="45720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Dashboard, upload, real-time progress, report viewer. Firebase Auth gates access.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B025E0-D387-4758-FCAB-D49D3E7DF7D6}"/>
              </a:ext>
            </a:extLst>
          </p:cNvPr>
          <p:cNvSpPr/>
          <p:nvPr/>
        </p:nvSpPr>
        <p:spPr>
          <a:xfrm>
            <a:off x="508000" y="5130800"/>
            <a:ext cx="50800" cy="5080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1A7FF9-7681-2530-32A2-08211C0E2420}"/>
              </a:ext>
            </a:extLst>
          </p:cNvPr>
          <p:cNvSpPr txBox="1"/>
          <p:nvPr/>
        </p:nvSpPr>
        <p:spPr>
          <a:xfrm>
            <a:off x="685800" y="5130800"/>
            <a:ext cx="3251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Observability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716705-376B-83A4-364F-F567ED5D42A5}"/>
              </a:ext>
            </a:extLst>
          </p:cNvPr>
          <p:cNvSpPr txBox="1"/>
          <p:nvPr/>
        </p:nvSpPr>
        <p:spPr>
          <a:xfrm>
            <a:off x="4013200" y="5130800"/>
            <a:ext cx="7670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Cloud Logging + Cloud Monitoring: structured logs, agent latency, model cost, alerts.</a:t>
            </a:r>
          </a:p>
        </p:txBody>
      </p:sp>
    </p:spTree>
    <p:extLst>
      <p:ext uri="{BB962C8B-B14F-4D97-AF65-F5344CB8AC3E}">
        <p14:creationId xmlns:p14="http://schemas.microsoft.com/office/powerpoint/2010/main" val="330931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6D916-08E5-08E1-3FCD-7F50563A132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646676-21A8-654F-8419-35D4CE8C73CA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2400" b="1">
                <a:solidFill>
                  <a:srgbClr val="1765CC"/>
                </a:solidFill>
                <a:latin typeface="Calibri" panose="020F0502020204030204" pitchFamily="34" charset="0"/>
              </a:rPr>
              <a:t>Solution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2AB06-F754-669C-36DE-38C57F4AC3B3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200">
                <a:solidFill>
                  <a:srgbClr val="5F6368"/>
                </a:solidFill>
                <a:latin typeface="Calibri" panose="020F0502020204030204" pitchFamily="34" charset="0"/>
              </a:rPr>
              <a:t>Layered view: presentation, orchestration, agents, data, observability.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5486DB-7986-E7B8-7AAB-3853DF08C254}"/>
              </a:ext>
            </a:extLst>
          </p:cNvPr>
          <p:cNvSpPr/>
          <p:nvPr/>
        </p:nvSpPr>
        <p:spPr>
          <a:xfrm>
            <a:off x="508000" y="1168400"/>
            <a:ext cx="11176000" cy="6350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CBFE4A-B91B-235C-9378-277C3C355668}"/>
              </a:ext>
            </a:extLst>
          </p:cNvPr>
          <p:cNvSpPr txBox="1"/>
          <p:nvPr/>
        </p:nvSpPr>
        <p:spPr>
          <a:xfrm>
            <a:off x="635000" y="11684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 b="1">
                <a:solidFill>
                  <a:srgbClr val="1A73E8"/>
                </a:solidFill>
                <a:latin typeface="Calibri" panose="020F0502020204030204" pitchFamily="34" charset="0"/>
              </a:rPr>
              <a:t>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752D49-FDBC-C305-AF34-F2B2F4ABA94D}"/>
              </a:ext>
            </a:extLst>
          </p:cNvPr>
          <p:cNvSpPr txBox="1"/>
          <p:nvPr/>
        </p:nvSpPr>
        <p:spPr>
          <a:xfrm>
            <a:off x="635000" y="14478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Next.js frontend on Cloud Run - Firebase Auth - dashboard, upload, real-time progress, report viewer.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7483A0-4AA4-3AA8-DEF6-FA05C39FACC7}"/>
              </a:ext>
            </a:extLst>
          </p:cNvPr>
          <p:cNvSpPr/>
          <p:nvPr/>
        </p:nvSpPr>
        <p:spPr>
          <a:xfrm>
            <a:off x="508000" y="1930400"/>
            <a:ext cx="11176000" cy="6350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0F8163-BF61-4A4B-5496-AA0ED3CFB75C}"/>
              </a:ext>
            </a:extLst>
          </p:cNvPr>
          <p:cNvSpPr txBox="1"/>
          <p:nvPr/>
        </p:nvSpPr>
        <p:spPr>
          <a:xfrm>
            <a:off x="635000" y="1930400"/>
            <a:ext cx="2794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 b="1">
                <a:solidFill>
                  <a:srgbClr val="1765CC"/>
                </a:solidFill>
                <a:latin typeface="Calibri" panose="020F0502020204030204" pitchFamily="34" charset="0"/>
              </a:rPr>
              <a:t>ORCHESTRATION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2DEA95-EDD9-D888-5D0E-FB910F98B6B4}"/>
              </a:ext>
            </a:extLst>
          </p:cNvPr>
          <p:cNvSpPr txBox="1"/>
          <p:nvPr/>
        </p:nvSpPr>
        <p:spPr>
          <a:xfrm>
            <a:off x="635000" y="22098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FastAPI orchestrator on Cloud Run - SSE streaming - fans out parallel agent calls - persists state to Firestore.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886716-2764-D776-C038-C9C56840DB54}"/>
              </a:ext>
            </a:extLst>
          </p:cNvPr>
          <p:cNvSpPr/>
          <p:nvPr/>
        </p:nvSpPr>
        <p:spPr>
          <a:xfrm>
            <a:off x="508000" y="2692400"/>
            <a:ext cx="11176000" cy="11430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8B4A9E-2463-7695-7562-39994B7D3D23}"/>
              </a:ext>
            </a:extLst>
          </p:cNvPr>
          <p:cNvSpPr txBox="1"/>
          <p:nvPr/>
        </p:nvSpPr>
        <p:spPr>
          <a:xfrm>
            <a:off x="635000" y="27686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 b="1">
                <a:solidFill>
                  <a:srgbClr val="1E8E3E"/>
                </a:solidFill>
                <a:latin typeface="Calibri" panose="020F0502020204030204" pitchFamily="34" charset="0"/>
              </a:rPr>
              <a:t>AGENTS (GEMINI 2.5)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387EB6-F073-74DB-9E9B-CBA79647B91E}"/>
              </a:ext>
            </a:extLst>
          </p:cNvPr>
          <p:cNvSpPr/>
          <p:nvPr/>
        </p:nvSpPr>
        <p:spPr>
          <a:xfrm>
            <a:off x="762000" y="3073400"/>
            <a:ext cx="2540000" cy="63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9DCE65-B253-52F8-B628-1EE89C569972}"/>
              </a:ext>
            </a:extLst>
          </p:cNvPr>
          <p:cNvSpPr txBox="1"/>
          <p:nvPr/>
        </p:nvSpPr>
        <p:spPr>
          <a:xfrm>
            <a:off x="762000" y="30988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Parser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983796-769D-E0E5-1511-3421E16D53ED}"/>
              </a:ext>
            </a:extLst>
          </p:cNvPr>
          <p:cNvSpPr txBox="1"/>
          <p:nvPr/>
        </p:nvSpPr>
        <p:spPr>
          <a:xfrm>
            <a:off x="762000" y="33782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DCFE345-351A-952C-BE88-E20411EBEE54}"/>
              </a:ext>
            </a:extLst>
          </p:cNvPr>
          <p:cNvSpPr/>
          <p:nvPr/>
        </p:nvSpPr>
        <p:spPr>
          <a:xfrm>
            <a:off x="3429000" y="3073400"/>
            <a:ext cx="2540000" cy="63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C25D6F-FDFB-4C8A-ED60-18B6D775232A}"/>
              </a:ext>
            </a:extLst>
          </p:cNvPr>
          <p:cNvSpPr txBox="1"/>
          <p:nvPr/>
        </p:nvSpPr>
        <p:spPr>
          <a:xfrm>
            <a:off x="3429000" y="30988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Legal Rules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422FBF-E0A2-7598-E6A5-7531CFD2A294}"/>
              </a:ext>
            </a:extLst>
          </p:cNvPr>
          <p:cNvSpPr txBox="1"/>
          <p:nvPr/>
        </p:nvSpPr>
        <p:spPr>
          <a:xfrm>
            <a:off x="3429000" y="33782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62AEFC5-4442-0E99-C75F-68A8A984E3A6}"/>
              </a:ext>
            </a:extLst>
          </p:cNvPr>
          <p:cNvSpPr/>
          <p:nvPr/>
        </p:nvSpPr>
        <p:spPr>
          <a:xfrm>
            <a:off x="6096000" y="3073400"/>
            <a:ext cx="2540000" cy="63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B15EE3-9E8D-F696-BA98-65C312C05AE9}"/>
              </a:ext>
            </a:extLst>
          </p:cNvPr>
          <p:cNvSpPr txBox="1"/>
          <p:nvPr/>
        </p:nvSpPr>
        <p:spPr>
          <a:xfrm>
            <a:off x="6096000" y="30988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Fraud Detection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B89776-D96B-037C-C0BB-ABFEFA0A982E}"/>
              </a:ext>
            </a:extLst>
          </p:cNvPr>
          <p:cNvSpPr txBox="1"/>
          <p:nvPr/>
        </p:nvSpPr>
        <p:spPr>
          <a:xfrm>
            <a:off x="6096000" y="33782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887D94-AF97-159A-A0F3-CD23FAA30918}"/>
              </a:ext>
            </a:extLst>
          </p:cNvPr>
          <p:cNvSpPr/>
          <p:nvPr/>
        </p:nvSpPr>
        <p:spPr>
          <a:xfrm>
            <a:off x="8763000" y="3073400"/>
            <a:ext cx="2540000" cy="63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3A49A6-105F-657E-B31B-A82DF9A5CD21}"/>
              </a:ext>
            </a:extLst>
          </p:cNvPr>
          <p:cNvSpPr txBox="1"/>
          <p:nvPr/>
        </p:nvSpPr>
        <p:spPr>
          <a:xfrm>
            <a:off x="8763000" y="30988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Report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40A10D-D18B-6E7A-080A-4C84DEEA6493}"/>
              </a:ext>
            </a:extLst>
          </p:cNvPr>
          <p:cNvSpPr txBox="1"/>
          <p:nvPr/>
        </p:nvSpPr>
        <p:spPr>
          <a:xfrm>
            <a:off x="8763000" y="3378200"/>
            <a:ext cx="254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B86EF8-7F82-AD9D-4197-D4D5C9143D91}"/>
              </a:ext>
            </a:extLst>
          </p:cNvPr>
          <p:cNvSpPr/>
          <p:nvPr/>
        </p:nvSpPr>
        <p:spPr>
          <a:xfrm>
            <a:off x="508000" y="3962400"/>
            <a:ext cx="5334000" cy="6350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AEF74C-10CE-4E01-2E75-B8D82C6BD9A1}"/>
              </a:ext>
            </a:extLst>
          </p:cNvPr>
          <p:cNvSpPr txBox="1"/>
          <p:nvPr/>
        </p:nvSpPr>
        <p:spPr>
          <a:xfrm>
            <a:off x="635000" y="39624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 b="1">
                <a:solidFill>
                  <a:srgbClr val="1765CC"/>
                </a:solidFill>
                <a:latin typeface="Calibri" panose="020F0502020204030204" pitchFamily="34" charset="0"/>
              </a:rPr>
              <a:t>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FC482-9A03-08AB-BF2A-A5A82954DE52}"/>
              </a:ext>
            </a:extLst>
          </p:cNvPr>
          <p:cNvSpPr txBox="1"/>
          <p:nvPr/>
        </p:nvSpPr>
        <p:spPr>
          <a:xfrm>
            <a:off x="635000" y="42418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GCS (PDFs, signed URLs) - Firestore (findings, audit log)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376B7DA-24F3-E8A4-6277-CF320F1B2B6C}"/>
              </a:ext>
            </a:extLst>
          </p:cNvPr>
          <p:cNvSpPr/>
          <p:nvPr/>
        </p:nvSpPr>
        <p:spPr>
          <a:xfrm>
            <a:off x="6350000" y="3962400"/>
            <a:ext cx="5334000" cy="635000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FAC7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D090C10-9E1A-92AD-E31D-B2D250AC666A}"/>
              </a:ext>
            </a:extLst>
          </p:cNvPr>
          <p:cNvSpPr txBox="1"/>
          <p:nvPr/>
        </p:nvSpPr>
        <p:spPr>
          <a:xfrm>
            <a:off x="6477000" y="39624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000" b="1">
                <a:solidFill>
                  <a:srgbClr val="1765CC"/>
                </a:solidFill>
                <a:latin typeface="Calibri" panose="020F0502020204030204" pitchFamily="34" charset="0"/>
              </a:rPr>
              <a:t>CROSS-CUTTING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9357D1-40C8-CBC0-3FFB-C83B7D9BC9FC}"/>
              </a:ext>
            </a:extLst>
          </p:cNvPr>
          <p:cNvSpPr txBox="1"/>
          <p:nvPr/>
        </p:nvSpPr>
        <p:spPr>
          <a:xfrm>
            <a:off x="6477000" y="42418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Cloud Logging - Monitoring - IAM - Secret Manager - Artifact Registry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FD4D339-96F9-EB92-1A74-344D11139565}"/>
              </a:ext>
            </a:extLst>
          </p:cNvPr>
          <p:cNvCxnSpPr/>
          <p:nvPr/>
        </p:nvCxnSpPr>
        <p:spPr>
          <a:xfrm>
            <a:off x="6096000" y="1803400"/>
            <a:ext cx="0" cy="1270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1C4AD1D-7B6C-FD05-3C97-97E2FE515A19}"/>
              </a:ext>
            </a:extLst>
          </p:cNvPr>
          <p:cNvCxnSpPr/>
          <p:nvPr/>
        </p:nvCxnSpPr>
        <p:spPr>
          <a:xfrm>
            <a:off x="6096000" y="2565400"/>
            <a:ext cx="0" cy="1270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678100-A4FE-6CCD-E863-79CBF97F4B71}"/>
              </a:ext>
            </a:extLst>
          </p:cNvPr>
          <p:cNvCxnSpPr/>
          <p:nvPr/>
        </p:nvCxnSpPr>
        <p:spPr>
          <a:xfrm>
            <a:off x="6096000" y="3835400"/>
            <a:ext cx="0" cy="1270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368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3E3CED-B739-1CCC-A292-1ED70AACF06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4D0F17-1F52-FB65-4577-6E9E1301245A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3200" b="1">
                <a:solidFill>
                  <a:srgbClr val="1765CC"/>
                </a:solidFill>
                <a:latin typeface="Calibri" panose="020F0502020204030204" pitchFamily="34" charset="0"/>
              </a:rPr>
              <a:t>Data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A916B7-41A4-6152-6CB2-BD0652032F51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600">
                <a:solidFill>
                  <a:srgbClr val="5F6368"/>
                </a:solidFill>
                <a:latin typeface="Calibri" panose="020F0502020204030204" pitchFamily="34" charset="0"/>
              </a:rPr>
              <a:t>From upload to final report.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89102FC-9CA9-5D08-8684-FB8A1E7B1E38}"/>
              </a:ext>
            </a:extLst>
          </p:cNvPr>
          <p:cNvSpPr/>
          <p:nvPr/>
        </p:nvSpPr>
        <p:spPr>
          <a:xfrm>
            <a:off x="635000" y="12192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7345EE-BABF-2B89-272B-87E9323A94CA}"/>
              </a:ext>
            </a:extLst>
          </p:cNvPr>
          <p:cNvSpPr txBox="1"/>
          <p:nvPr/>
        </p:nvSpPr>
        <p:spPr>
          <a:xfrm>
            <a:off x="1168400" y="12192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User uploads a bundle of land documents and selects state + land type.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5EBF72-C467-2BC7-3E79-29D3820356C4}"/>
              </a:ext>
            </a:extLst>
          </p:cNvPr>
          <p:cNvSpPr/>
          <p:nvPr/>
        </p:nvSpPr>
        <p:spPr>
          <a:xfrm>
            <a:off x="635000" y="17018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D54D67-3599-0F32-3E34-DB0587A7468F}"/>
              </a:ext>
            </a:extLst>
          </p:cNvPr>
          <p:cNvSpPr txBox="1"/>
          <p:nvPr/>
        </p:nvSpPr>
        <p:spPr>
          <a:xfrm>
            <a:off x="1168400" y="17018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Frontend pushes files to backend; backend stores them in GCS and creates a Firestore record.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EF7CB68-D8E8-AD15-A720-5559AC411BA1}"/>
              </a:ext>
            </a:extLst>
          </p:cNvPr>
          <p:cNvSpPr/>
          <p:nvPr/>
        </p:nvSpPr>
        <p:spPr>
          <a:xfrm>
            <a:off x="635000" y="21844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93AC12-BC1C-654F-F062-FDA9571B5ED2}"/>
              </a:ext>
            </a:extLst>
          </p:cNvPr>
          <p:cNvSpPr txBox="1"/>
          <p:nvPr/>
        </p:nvSpPr>
        <p:spPr>
          <a:xfrm>
            <a:off x="1168400" y="21844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Orchestrator triggers Parser Agent; Gemini reads each PDF and extracts structured fields.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669452-4392-78CA-8A58-8C94FDB02B3D}"/>
              </a:ext>
            </a:extLst>
          </p:cNvPr>
          <p:cNvSpPr/>
          <p:nvPr/>
        </p:nvSpPr>
        <p:spPr>
          <a:xfrm>
            <a:off x="635000" y="26670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AA095-CE0C-951C-9A85-F6BE4D9A68C0}"/>
              </a:ext>
            </a:extLst>
          </p:cNvPr>
          <p:cNvSpPr txBox="1"/>
          <p:nvPr/>
        </p:nvSpPr>
        <p:spPr>
          <a:xfrm>
            <a:off x="1168400" y="26670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Legal Rules Agent and Fraud Detection Agent run in parallel on the extracted data.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358EDE5-40F6-E5F6-D658-21B7CFC17812}"/>
              </a:ext>
            </a:extLst>
          </p:cNvPr>
          <p:cNvSpPr/>
          <p:nvPr/>
        </p:nvSpPr>
        <p:spPr>
          <a:xfrm>
            <a:off x="635000" y="31496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E7F7C-59C2-1BF5-D5E1-42ABD99DCE2B}"/>
              </a:ext>
            </a:extLst>
          </p:cNvPr>
          <p:cNvSpPr txBox="1"/>
          <p:nvPr/>
        </p:nvSpPr>
        <p:spPr>
          <a:xfrm>
            <a:off x="1168400" y="31496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Findings are normalised, deduplicated, consolidated, and graded by severity.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F944382-AA9E-1043-3FD1-DBD390869FCC}"/>
              </a:ext>
            </a:extLst>
          </p:cNvPr>
          <p:cNvSpPr/>
          <p:nvPr/>
        </p:nvSpPr>
        <p:spPr>
          <a:xfrm>
            <a:off x="635000" y="36322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EB2043-779D-8742-0E71-6CD08C4D5C78}"/>
              </a:ext>
            </a:extLst>
          </p:cNvPr>
          <p:cNvSpPr txBox="1"/>
          <p:nvPr/>
        </p:nvSpPr>
        <p:spPr>
          <a:xfrm>
            <a:off x="1168400" y="36322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Report Agent generates a lawyer-style summary with severity counts and recommended actions.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BCC552-0263-293D-7DDD-DFD4BCE91433}"/>
              </a:ext>
            </a:extLst>
          </p:cNvPr>
          <p:cNvSpPr/>
          <p:nvPr/>
        </p:nvSpPr>
        <p:spPr>
          <a:xfrm>
            <a:off x="635000" y="41148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12748F-F8BD-5591-3EC8-C346BCF55F03}"/>
              </a:ext>
            </a:extLst>
          </p:cNvPr>
          <p:cNvSpPr txBox="1"/>
          <p:nvPr/>
        </p:nvSpPr>
        <p:spPr>
          <a:xfrm>
            <a:off x="1168400" y="41148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Backend persists the report to Firestore and streams progress to the frontend via SSE.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010A1F-22EF-CCD2-15B2-BC87D893B610}"/>
              </a:ext>
            </a:extLst>
          </p:cNvPr>
          <p:cNvSpPr/>
          <p:nvPr/>
        </p:nvSpPr>
        <p:spPr>
          <a:xfrm>
            <a:off x="635000" y="45974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9DC3EF-E453-96BA-E537-ADA42935920A}"/>
              </a:ext>
            </a:extLst>
          </p:cNvPr>
          <p:cNvSpPr txBox="1"/>
          <p:nvPr/>
        </p:nvSpPr>
        <p:spPr>
          <a:xfrm>
            <a:off x="1168400" y="45974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User views the report: property facts, findings, checklist, parties, document inventory.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0BB13AA-E24C-2813-A908-CBCB7FE3C521}"/>
              </a:ext>
            </a:extLst>
          </p:cNvPr>
          <p:cNvSpPr/>
          <p:nvPr/>
        </p:nvSpPr>
        <p:spPr>
          <a:xfrm>
            <a:off x="635000" y="5080000"/>
            <a:ext cx="381000" cy="381000"/>
          </a:xfrm>
          <a:prstGeom prst="ellipse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Ins="76200" bIns="3810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60AD4E-6083-E721-F3AC-8620B91A31BE}"/>
              </a:ext>
            </a:extLst>
          </p:cNvPr>
          <p:cNvSpPr txBox="1"/>
          <p:nvPr/>
        </p:nvSpPr>
        <p:spPr>
          <a:xfrm>
            <a:off x="1168400" y="5080000"/>
            <a:ext cx="1054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Cloud Logging and Cloud Monitoring capture latency, errors, and cost throughout.</a:t>
            </a:r>
          </a:p>
        </p:txBody>
      </p:sp>
    </p:spTree>
    <p:extLst>
      <p:ext uri="{BB962C8B-B14F-4D97-AF65-F5344CB8AC3E}">
        <p14:creationId xmlns:p14="http://schemas.microsoft.com/office/powerpoint/2010/main" val="3663972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83D133-15AC-0461-697E-4EB174A9609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2F594-0D11-B459-AE57-B9A5172A3611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2400" b="1">
                <a:solidFill>
                  <a:srgbClr val="1765CC"/>
                </a:solidFill>
                <a:latin typeface="Calibri" panose="020F0502020204030204" pitchFamily="34" charset="0"/>
              </a:rPr>
              <a:t>Flow diagram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D5BA1-E805-9460-4694-EF5F355F0BE6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200">
                <a:solidFill>
                  <a:srgbClr val="5F6368"/>
                </a:solidFill>
                <a:latin typeface="Calibri" panose="020F0502020204030204" pitchFamily="34" charset="0"/>
              </a:rPr>
              <a:t>End-to-end request flow visualised.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1000705-4087-CFC8-72B5-300F13BD9FF7}"/>
              </a:ext>
            </a:extLst>
          </p:cNvPr>
          <p:cNvSpPr/>
          <p:nvPr/>
        </p:nvSpPr>
        <p:spPr>
          <a:xfrm>
            <a:off x="508000" y="12954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3D509D-4F41-381A-C81E-80779E3EE4F6}"/>
              </a:ext>
            </a:extLst>
          </p:cNvPr>
          <p:cNvSpPr txBox="1"/>
          <p:nvPr/>
        </p:nvSpPr>
        <p:spPr>
          <a:xfrm>
            <a:off x="508000" y="13970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A73E8"/>
                </a:solidFill>
                <a:latin typeface="Calibri" panose="020F0502020204030204" pitchFamily="34" charset="0"/>
              </a:rPr>
              <a:t>User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A8A032-C14A-8B73-050A-95C69707C3F6}"/>
              </a:ext>
            </a:extLst>
          </p:cNvPr>
          <p:cNvSpPr/>
          <p:nvPr/>
        </p:nvSpPr>
        <p:spPr>
          <a:xfrm>
            <a:off x="2603500" y="12954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B1FEA3-40C8-3397-6051-050D3B346D90}"/>
              </a:ext>
            </a:extLst>
          </p:cNvPr>
          <p:cNvSpPr txBox="1"/>
          <p:nvPr/>
        </p:nvSpPr>
        <p:spPr>
          <a:xfrm>
            <a:off x="2603500" y="13970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A73E8"/>
                </a:solidFill>
                <a:latin typeface="Calibri" panose="020F0502020204030204" pitchFamily="34" charset="0"/>
              </a:rPr>
              <a:t>Next.js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6F4F6-5D03-D221-9076-F8B910ECC41C}"/>
              </a:ext>
            </a:extLst>
          </p:cNvPr>
          <p:cNvSpPr txBox="1"/>
          <p:nvPr/>
        </p:nvSpPr>
        <p:spPr>
          <a:xfrm>
            <a:off x="2603500" y="16764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Frontend / Cloud Run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2198D16-319A-6C36-BC32-4E4A8B4B690F}"/>
              </a:ext>
            </a:extLst>
          </p:cNvPr>
          <p:cNvSpPr/>
          <p:nvPr/>
        </p:nvSpPr>
        <p:spPr>
          <a:xfrm>
            <a:off x="4699000" y="1295400"/>
            <a:ext cx="1778000" cy="711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608EE2-098B-E103-C99B-5F8B3D5021F9}"/>
              </a:ext>
            </a:extLst>
          </p:cNvPr>
          <p:cNvSpPr txBox="1"/>
          <p:nvPr/>
        </p:nvSpPr>
        <p:spPr>
          <a:xfrm>
            <a:off x="4699000" y="13970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Orchestrator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9680BB-5C30-9CA9-8641-851DD6CD05E5}"/>
              </a:ext>
            </a:extLst>
          </p:cNvPr>
          <p:cNvSpPr txBox="1"/>
          <p:nvPr/>
        </p:nvSpPr>
        <p:spPr>
          <a:xfrm>
            <a:off x="4699000" y="16764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FastAPI / Cloud Run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366FDC-7296-AC1E-C5AC-8B7118301F14}"/>
              </a:ext>
            </a:extLst>
          </p:cNvPr>
          <p:cNvSpPr/>
          <p:nvPr/>
        </p:nvSpPr>
        <p:spPr>
          <a:xfrm>
            <a:off x="6794500" y="1295400"/>
            <a:ext cx="1778000" cy="7112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7082FB-2EDE-AE83-6013-915BF6EF5171}"/>
              </a:ext>
            </a:extLst>
          </p:cNvPr>
          <p:cNvSpPr txBox="1"/>
          <p:nvPr/>
        </p:nvSpPr>
        <p:spPr>
          <a:xfrm>
            <a:off x="6794500" y="13970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GCS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0D7ED3-6612-4A49-38A1-E8FE5BD03C4A}"/>
              </a:ext>
            </a:extLst>
          </p:cNvPr>
          <p:cNvSpPr txBox="1"/>
          <p:nvPr/>
        </p:nvSpPr>
        <p:spPr>
          <a:xfrm>
            <a:off x="6794500" y="16764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PDFs (signed URL)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ED1F711-4988-9FE2-698F-AAAD93A69FDB}"/>
              </a:ext>
            </a:extLst>
          </p:cNvPr>
          <p:cNvSpPr/>
          <p:nvPr/>
        </p:nvSpPr>
        <p:spPr>
          <a:xfrm>
            <a:off x="8890000" y="1295400"/>
            <a:ext cx="1778000" cy="711200"/>
          </a:xfrm>
          <a:prstGeom prst="roundRect">
            <a:avLst/>
          </a:prstGeom>
          <a:solidFill>
            <a:srgbClr val="FEF7E0"/>
          </a:solidFill>
          <a:ln w="9525">
            <a:solidFill>
              <a:srgbClr val="FADD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FEED18-C94F-F425-3EA3-D1263F572E16}"/>
              </a:ext>
            </a:extLst>
          </p:cNvPr>
          <p:cNvSpPr txBox="1"/>
          <p:nvPr/>
        </p:nvSpPr>
        <p:spPr>
          <a:xfrm>
            <a:off x="8890000" y="13970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Firestore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C9D1E-5BD8-1409-5CF7-D355A39C4639}"/>
              </a:ext>
            </a:extLst>
          </p:cNvPr>
          <p:cNvSpPr txBox="1"/>
          <p:nvPr/>
        </p:nvSpPr>
        <p:spPr>
          <a:xfrm>
            <a:off x="8890000" y="1676400"/>
            <a:ext cx="1778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Findings + audit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C23EB1-CE0B-8DD5-F937-A50BA6820C89}"/>
              </a:ext>
            </a:extLst>
          </p:cNvPr>
          <p:cNvCxnSpPr/>
          <p:nvPr/>
        </p:nvCxnSpPr>
        <p:spPr>
          <a:xfrm>
            <a:off x="2286000" y="1651000"/>
            <a:ext cx="317500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AE44562-13A5-620F-4B5F-13A3A274D710}"/>
              </a:ext>
            </a:extLst>
          </p:cNvPr>
          <p:cNvCxnSpPr/>
          <p:nvPr/>
        </p:nvCxnSpPr>
        <p:spPr>
          <a:xfrm>
            <a:off x="4381500" y="1651000"/>
            <a:ext cx="317500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B1585-B1FD-40C0-BC63-3D5C6BF8B20D}"/>
              </a:ext>
            </a:extLst>
          </p:cNvPr>
          <p:cNvCxnSpPr/>
          <p:nvPr/>
        </p:nvCxnSpPr>
        <p:spPr>
          <a:xfrm>
            <a:off x="6477000" y="1651000"/>
            <a:ext cx="317500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AF4A153-74CF-5C23-FF98-A12BFC5EE551}"/>
              </a:ext>
            </a:extLst>
          </p:cNvPr>
          <p:cNvCxnSpPr/>
          <p:nvPr/>
        </p:nvCxnSpPr>
        <p:spPr>
          <a:xfrm>
            <a:off x="8572500" y="1651000"/>
            <a:ext cx="317500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9FCF22-AD4C-8942-3CB5-E866984F84AA}"/>
              </a:ext>
            </a:extLst>
          </p:cNvPr>
          <p:cNvCxnSpPr/>
          <p:nvPr/>
        </p:nvCxnSpPr>
        <p:spPr>
          <a:xfrm>
            <a:off x="5588000" y="2006600"/>
            <a:ext cx="0" cy="3810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F5D5192-4A20-1DBA-C309-A23C72E319BD}"/>
              </a:ext>
            </a:extLst>
          </p:cNvPr>
          <p:cNvSpPr/>
          <p:nvPr/>
        </p:nvSpPr>
        <p:spPr>
          <a:xfrm>
            <a:off x="1143000" y="24511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DC87DF-2F02-A649-0F54-98C3EDF58095}"/>
              </a:ext>
            </a:extLst>
          </p:cNvPr>
          <p:cNvSpPr txBox="1"/>
          <p:nvPr/>
        </p:nvSpPr>
        <p:spPr>
          <a:xfrm>
            <a:off x="1143000" y="25527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Parser Agent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F97876-149B-5D3F-E457-B6FDB7B6A701}"/>
              </a:ext>
            </a:extLst>
          </p:cNvPr>
          <p:cNvSpPr txBox="1"/>
          <p:nvPr/>
        </p:nvSpPr>
        <p:spPr>
          <a:xfrm>
            <a:off x="1143000" y="28321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642638A-8E63-9BE8-4CD6-AAA9277F0B9B}"/>
              </a:ext>
            </a:extLst>
          </p:cNvPr>
          <p:cNvSpPr/>
          <p:nvPr/>
        </p:nvSpPr>
        <p:spPr>
          <a:xfrm>
            <a:off x="3683000" y="24511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600A9-59A4-1A66-C28A-42266F70681A}"/>
              </a:ext>
            </a:extLst>
          </p:cNvPr>
          <p:cNvSpPr txBox="1"/>
          <p:nvPr/>
        </p:nvSpPr>
        <p:spPr>
          <a:xfrm>
            <a:off x="3683000" y="25527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Legal Agent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F0FD97-1360-3A60-5D32-E755E3B8C697}"/>
              </a:ext>
            </a:extLst>
          </p:cNvPr>
          <p:cNvSpPr txBox="1"/>
          <p:nvPr/>
        </p:nvSpPr>
        <p:spPr>
          <a:xfrm>
            <a:off x="3683000" y="28321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15CF5D6-9CBB-6389-B81D-91CAE2238878}"/>
              </a:ext>
            </a:extLst>
          </p:cNvPr>
          <p:cNvSpPr/>
          <p:nvPr/>
        </p:nvSpPr>
        <p:spPr>
          <a:xfrm>
            <a:off x="6223000" y="24511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642947-9140-DB15-74C5-1520A2C56528}"/>
              </a:ext>
            </a:extLst>
          </p:cNvPr>
          <p:cNvSpPr txBox="1"/>
          <p:nvPr/>
        </p:nvSpPr>
        <p:spPr>
          <a:xfrm>
            <a:off x="6223000" y="25527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Fraud Agent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2115CB-ACA3-8CA4-8B22-278EA9E7CB0E}"/>
              </a:ext>
            </a:extLst>
          </p:cNvPr>
          <p:cNvSpPr txBox="1"/>
          <p:nvPr/>
        </p:nvSpPr>
        <p:spPr>
          <a:xfrm>
            <a:off x="6223000" y="28321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FCE4506-AB96-548B-360A-2D30CF0040E6}"/>
              </a:ext>
            </a:extLst>
          </p:cNvPr>
          <p:cNvSpPr/>
          <p:nvPr/>
        </p:nvSpPr>
        <p:spPr>
          <a:xfrm>
            <a:off x="8763000" y="2451100"/>
            <a:ext cx="2286000" cy="711200"/>
          </a:xfrm>
          <a:prstGeom prst="roundRect">
            <a:avLst/>
          </a:prstGeom>
          <a:solidFill>
            <a:srgbClr val="E6F4EA"/>
          </a:solidFill>
          <a:ln w="9525">
            <a:solidFill>
              <a:srgbClr val="BDE5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F89AF6-79A3-354C-1EEF-378D95EE45CC}"/>
              </a:ext>
            </a:extLst>
          </p:cNvPr>
          <p:cNvSpPr txBox="1"/>
          <p:nvPr/>
        </p:nvSpPr>
        <p:spPr>
          <a:xfrm>
            <a:off x="8763000" y="25527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Report Agent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7D93D7-3B89-30ED-B003-3979DD8E994F}"/>
              </a:ext>
            </a:extLst>
          </p:cNvPr>
          <p:cNvSpPr txBox="1"/>
          <p:nvPr/>
        </p:nvSpPr>
        <p:spPr>
          <a:xfrm>
            <a:off x="8763000" y="28321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Gemini 2.5-flash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6E5A086-827E-ED56-7B51-7D63E7A504C3}"/>
              </a:ext>
            </a:extLst>
          </p:cNvPr>
          <p:cNvCxnSpPr/>
          <p:nvPr/>
        </p:nvCxnSpPr>
        <p:spPr>
          <a:xfrm>
            <a:off x="6096000" y="3162300"/>
            <a:ext cx="0" cy="3175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A02B142-FCA5-DE2D-8402-458761A20A30}"/>
              </a:ext>
            </a:extLst>
          </p:cNvPr>
          <p:cNvSpPr/>
          <p:nvPr/>
        </p:nvSpPr>
        <p:spPr>
          <a:xfrm>
            <a:off x="3556000" y="3479800"/>
            <a:ext cx="5080000" cy="635000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FAC7B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F489AB-D8CD-011D-9F1C-CF441F7E35BD}"/>
              </a:ext>
            </a:extLst>
          </p:cNvPr>
          <p:cNvSpPr txBox="1"/>
          <p:nvPr/>
        </p:nvSpPr>
        <p:spPr>
          <a:xfrm>
            <a:off x="3556000" y="35814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765CC"/>
                </a:solidFill>
                <a:latin typeface="Calibri" panose="020F0502020204030204" pitchFamily="34" charset="0"/>
              </a:rPr>
              <a:t>Consolidation + Severity Grading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44F9F9-A3FB-B4EF-5A9A-99CFF1518ED4}"/>
              </a:ext>
            </a:extLst>
          </p:cNvPr>
          <p:cNvSpPr txBox="1"/>
          <p:nvPr/>
        </p:nvSpPr>
        <p:spPr>
          <a:xfrm>
            <a:off x="3556000" y="38608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dedupe - combine related - grade low/medium/high/critical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F4696BE-91AA-8548-27D2-1491CB347E78}"/>
              </a:ext>
            </a:extLst>
          </p:cNvPr>
          <p:cNvCxnSpPr/>
          <p:nvPr/>
        </p:nvCxnSpPr>
        <p:spPr>
          <a:xfrm>
            <a:off x="6096000" y="4114800"/>
            <a:ext cx="0" cy="127000"/>
          </a:xfrm>
          <a:prstGeom prst="straightConnector1">
            <a:avLst/>
          </a:prstGeom>
          <a:ln w="15875">
            <a:solidFill>
              <a:srgbClr val="5F63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1984D02-12FE-88AD-BA70-7C43E4D14E0D}"/>
              </a:ext>
            </a:extLst>
          </p:cNvPr>
          <p:cNvSpPr/>
          <p:nvPr/>
        </p:nvSpPr>
        <p:spPr>
          <a:xfrm>
            <a:off x="3556000" y="4241800"/>
            <a:ext cx="5080000" cy="584200"/>
          </a:xfrm>
          <a:prstGeom prst="roundRect">
            <a:avLst/>
          </a:prstGeom>
          <a:solidFill>
            <a:srgbClr val="EAE2FE"/>
          </a:solidFill>
          <a:ln w="9525">
            <a:solidFill>
              <a:srgbClr val="C8C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9F2F7C-37C6-31B0-8F7C-F577DBD6ED22}"/>
              </a:ext>
            </a:extLst>
          </p:cNvPr>
          <p:cNvSpPr txBox="1"/>
          <p:nvPr/>
        </p:nvSpPr>
        <p:spPr>
          <a:xfrm>
            <a:off x="3556000" y="43180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A73E8"/>
                </a:solidFill>
                <a:latin typeface="Calibri" panose="020F0502020204030204" pitchFamily="34" charset="0"/>
              </a:rPr>
              <a:t>Final Report streamed to Frontend (SSE)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64CAC1-4E7F-B1DF-DFFC-4A8A56488CA8}"/>
              </a:ext>
            </a:extLst>
          </p:cNvPr>
          <p:cNvSpPr txBox="1"/>
          <p:nvPr/>
        </p:nvSpPr>
        <p:spPr>
          <a:xfrm>
            <a:off x="3556000" y="4572000"/>
            <a:ext cx="5080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pPr algn="ctr"/>
            <a:r>
              <a:rPr lang="en-US" sz="900">
                <a:solidFill>
                  <a:srgbClr val="5F6368"/>
                </a:solidFill>
                <a:latin typeface="Calibri" panose="020F0502020204030204" pitchFamily="34" charset="0"/>
              </a:rPr>
              <a:t>property facts - findings - checklist - parties</a:t>
            </a:r>
          </a:p>
        </p:txBody>
      </p:sp>
    </p:spTree>
    <p:extLst>
      <p:ext uri="{BB962C8B-B14F-4D97-AF65-F5344CB8AC3E}">
        <p14:creationId xmlns:p14="http://schemas.microsoft.com/office/powerpoint/2010/main" val="742869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FC3C64-7FB3-337D-4D2B-3D9AFE720C64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5E58DE-E83F-CF1C-5D63-861AB38B06A5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2400" b="1">
                <a:solidFill>
                  <a:srgbClr val="1765CC"/>
                </a:solidFill>
                <a:latin typeface="Calibri" panose="020F0502020204030204" pitchFamily="34" charset="0"/>
              </a:rPr>
              <a:t>Agent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4EBEF0-CF85-F8A9-BB94-6A12A7DCE346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200">
                <a:solidFill>
                  <a:srgbClr val="5F6368"/>
                </a:solidFill>
                <a:latin typeface="Calibri" panose="020F0502020204030204" pitchFamily="34" charset="0"/>
              </a:rPr>
              <a:t>Four focused agents, orchestrated by a single controller.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9A7075-59B5-2F5E-3A4C-289781FE47D0}"/>
              </a:ext>
            </a:extLst>
          </p:cNvPr>
          <p:cNvSpPr/>
          <p:nvPr/>
        </p:nvSpPr>
        <p:spPr>
          <a:xfrm>
            <a:off x="508000" y="11684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B4CBC2-DE9C-CE98-4968-FF8E5FD27629}"/>
              </a:ext>
            </a:extLst>
          </p:cNvPr>
          <p:cNvSpPr txBox="1"/>
          <p:nvPr/>
        </p:nvSpPr>
        <p:spPr>
          <a:xfrm>
            <a:off x="635000" y="11684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Orchestrator (Controller)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7DE4D-4C84-FBB5-C1BE-84C6065E302B}"/>
              </a:ext>
            </a:extLst>
          </p:cNvPr>
          <p:cNvSpPr txBox="1"/>
          <p:nvPr/>
        </p:nvSpPr>
        <p:spPr>
          <a:xfrm>
            <a:off x="711200" y="154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Primary entry point - receives the bundle, validates, and coordinates the rest.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AED42-D4C0-1C99-3C46-BC09525841FD}"/>
              </a:ext>
            </a:extLst>
          </p:cNvPr>
          <p:cNvSpPr txBox="1"/>
          <p:nvPr/>
        </p:nvSpPr>
        <p:spPr>
          <a:xfrm>
            <a:off x="711200" y="18542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Fans out parallel calls: Parser first, then Legal + Fraud in parallel, then Report.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ED51B-F6E3-8849-6816-FA6F489853AC}"/>
              </a:ext>
            </a:extLst>
          </p:cNvPr>
          <p:cNvSpPr txBox="1"/>
          <p:nvPr/>
        </p:nvSpPr>
        <p:spPr>
          <a:xfrm>
            <a:off x="711200" y="2159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Streams progress via SSE. Persists state to Firestore at every step.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1551D8-D995-83B4-CCB9-716D0EE6A32F}"/>
              </a:ext>
            </a:extLst>
          </p:cNvPr>
          <p:cNvSpPr/>
          <p:nvPr/>
        </p:nvSpPr>
        <p:spPr>
          <a:xfrm>
            <a:off x="508000" y="25654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2BB302-A4B1-5BEF-8063-E9A40039C74A}"/>
              </a:ext>
            </a:extLst>
          </p:cNvPr>
          <p:cNvSpPr txBox="1"/>
          <p:nvPr/>
        </p:nvSpPr>
        <p:spPr>
          <a:xfrm>
            <a:off x="635000" y="25654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Specialised Gemini agents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6B1E42-5D59-A8B8-9EF1-9DC6C741F4B2}"/>
              </a:ext>
            </a:extLst>
          </p:cNvPr>
          <p:cNvSpPr txBox="1"/>
          <p:nvPr/>
        </p:nvSpPr>
        <p:spPr>
          <a:xfrm>
            <a:off x="711200" y="2946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Each agent has its own focused system prompt and JSON output schema.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7194A9-C2F1-F6C5-A2A4-E537283F7A73}"/>
              </a:ext>
            </a:extLst>
          </p:cNvPr>
          <p:cNvSpPr txBox="1"/>
          <p:nvPr/>
        </p:nvSpPr>
        <p:spPr>
          <a:xfrm>
            <a:off x="711200" y="32512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Parser is multimodal (reads PDFs natively); the rest consume structured JSON.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A92902-99D0-19FC-89C4-297F121CC26B}"/>
              </a:ext>
            </a:extLst>
          </p:cNvPr>
          <p:cNvSpPr txBox="1"/>
          <p:nvPr/>
        </p:nvSpPr>
        <p:spPr>
          <a:xfrm>
            <a:off x="711200" y="3556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Stateless - exchange JSON, allowing easy retry and parallelism.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415104-0122-5E80-2A4E-8F96AB977C69}"/>
              </a:ext>
            </a:extLst>
          </p:cNvPr>
          <p:cNvSpPr/>
          <p:nvPr/>
        </p:nvSpPr>
        <p:spPr>
          <a:xfrm>
            <a:off x="508000" y="39624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C95F0-35ED-A1AF-E52F-4B8CD8D059E8}"/>
              </a:ext>
            </a:extLst>
          </p:cNvPr>
          <p:cNvSpPr txBox="1"/>
          <p:nvPr/>
        </p:nvSpPr>
        <p:spPr>
          <a:xfrm>
            <a:off x="635000" y="39624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Agent communication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1E9382-8C96-F0DF-6DB7-41875A6B3F96}"/>
              </a:ext>
            </a:extLst>
          </p:cNvPr>
          <p:cNvSpPr txBox="1"/>
          <p:nvPr/>
        </p:nvSpPr>
        <p:spPr>
          <a:xfrm>
            <a:off x="711200" y="4343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In-process Python calls today (sub-second latency, lower cost).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E5BE7A-98A3-1ED9-885E-8D1702A5AD06}"/>
              </a:ext>
            </a:extLst>
          </p:cNvPr>
          <p:cNvSpPr txBox="1"/>
          <p:nvPr/>
        </p:nvSpPr>
        <p:spPr>
          <a:xfrm>
            <a:off x="711200" y="46482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Designed so any agent can be promoted to its own Cloud Run service via HTTP/JSON.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6B4632-1AE8-CA1C-15C3-A30987A70F29}"/>
              </a:ext>
            </a:extLst>
          </p:cNvPr>
          <p:cNvSpPr txBox="1"/>
          <p:nvPr/>
        </p:nvSpPr>
        <p:spPr>
          <a:xfrm>
            <a:off x="711200" y="4953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>
                <a:solidFill>
                  <a:srgbClr val="3C4043"/>
                </a:solidFill>
                <a:latin typeface="Calibri" panose="020F0502020204030204" pitchFamily="34" charset="0"/>
              </a:rPr>
              <a:t>-  A shared ExtractedData schema keeps contracts stable across agents.</a:t>
            </a:r>
          </a:p>
        </p:txBody>
      </p:sp>
    </p:spTree>
    <p:extLst>
      <p:ext uri="{BB962C8B-B14F-4D97-AF65-F5344CB8AC3E}">
        <p14:creationId xmlns:p14="http://schemas.microsoft.com/office/powerpoint/2010/main" val="2258974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56EC98-7AC4-DD37-2B62-54C15D097DB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BE454C-27AF-A438-4DB9-7940D1BBD719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2400" b="1">
                <a:solidFill>
                  <a:srgbClr val="1765CC"/>
                </a:solidFill>
                <a:latin typeface="Calibri" panose="020F0502020204030204" pitchFamily="34" charset="0"/>
              </a:rPr>
              <a:t>Agent details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7DC23B-D155-521C-BDA6-37FB735B9B11}"/>
              </a:ext>
            </a:extLst>
          </p:cNvPr>
          <p:cNvSpPr/>
          <p:nvPr/>
        </p:nvSpPr>
        <p:spPr>
          <a:xfrm>
            <a:off x="508000" y="889000"/>
            <a:ext cx="11176000" cy="3810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E29C11-3458-0996-4DBC-A52435813D9C}"/>
              </a:ext>
            </a:extLst>
          </p:cNvPr>
          <p:cNvSpPr txBox="1"/>
          <p:nvPr/>
        </p:nvSpPr>
        <p:spPr>
          <a:xfrm>
            <a:off x="635000" y="889000"/>
            <a:ext cx="2286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Calibri" panose="020F0502020204030204" pitchFamily="34" charset="0"/>
              </a:rPr>
              <a:t>AGENT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6F01A-8C19-0BDA-F5BE-B05517D25889}"/>
              </a:ext>
            </a:extLst>
          </p:cNvPr>
          <p:cNvSpPr txBox="1"/>
          <p:nvPr/>
        </p:nvSpPr>
        <p:spPr>
          <a:xfrm>
            <a:off x="2921000" y="889000"/>
            <a:ext cx="5842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Calibri" panose="020F0502020204030204" pitchFamily="34" charset="0"/>
              </a:rPr>
              <a:t>WHAT IT DOES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96ECCA-DA6B-33AF-6ABD-EC7277B5100F}"/>
              </a:ext>
            </a:extLst>
          </p:cNvPr>
          <p:cNvSpPr txBox="1"/>
          <p:nvPr/>
        </p:nvSpPr>
        <p:spPr>
          <a:xfrm>
            <a:off x="8763000" y="889000"/>
            <a:ext cx="2921000" cy="381000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FFFFFF"/>
                </a:solidFill>
                <a:latin typeface="Calibri" panose="020F0502020204030204" pitchFamily="34" charset="0"/>
              </a:rPr>
              <a:t>GOOGLE SERVICE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2771A-41A3-9D60-DCA1-0B80A6E6506B}"/>
              </a:ext>
            </a:extLst>
          </p:cNvPr>
          <p:cNvSpPr/>
          <p:nvPr/>
        </p:nvSpPr>
        <p:spPr>
          <a:xfrm>
            <a:off x="508000" y="1295400"/>
            <a:ext cx="11176000" cy="7112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0C606-E008-FC5D-6996-B9204CA308C7}"/>
              </a:ext>
            </a:extLst>
          </p:cNvPr>
          <p:cNvSpPr txBox="1"/>
          <p:nvPr/>
        </p:nvSpPr>
        <p:spPr>
          <a:xfrm>
            <a:off x="635000" y="12954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Orchestrator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6D8C2B-D2BD-71D0-BBF8-7F121315F6EA}"/>
              </a:ext>
            </a:extLst>
          </p:cNvPr>
          <p:cNvSpPr txBox="1"/>
          <p:nvPr/>
        </p:nvSpPr>
        <p:spPr>
          <a:xfrm>
            <a:off x="2921000" y="1295400"/>
            <a:ext cx="584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Receives the bundle, fans out parallel agent calls, streams progress, persists state.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A9250F-BCF8-97F1-8648-CB2569278B98}"/>
              </a:ext>
            </a:extLst>
          </p:cNvPr>
          <p:cNvSpPr txBox="1"/>
          <p:nvPr/>
        </p:nvSpPr>
        <p:spPr>
          <a:xfrm>
            <a:off x="8763000" y="1295400"/>
            <a:ext cx="292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1A73E8"/>
                </a:solidFill>
                <a:latin typeface="Calibri" panose="020F0502020204030204" pitchFamily="34" charset="0"/>
              </a:rPr>
              <a:t>FastAPI / Cloud Run + Firestore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C5055A-EE31-D23F-753B-4CB2EE7ACAD2}"/>
              </a:ext>
            </a:extLst>
          </p:cNvPr>
          <p:cNvSpPr/>
          <p:nvPr/>
        </p:nvSpPr>
        <p:spPr>
          <a:xfrm>
            <a:off x="508000" y="2057400"/>
            <a:ext cx="11176000" cy="7112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697124-D23A-ECB7-29D5-1DC076983A20}"/>
              </a:ext>
            </a:extLst>
          </p:cNvPr>
          <p:cNvSpPr txBox="1"/>
          <p:nvPr/>
        </p:nvSpPr>
        <p:spPr>
          <a:xfrm>
            <a:off x="635000" y="20574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Parser Agent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62B969-5A51-20E3-6769-61B9EC9B5B5E}"/>
              </a:ext>
            </a:extLst>
          </p:cNvPr>
          <p:cNvSpPr txBox="1"/>
          <p:nvPr/>
        </p:nvSpPr>
        <p:spPr>
          <a:xfrm>
            <a:off x="2921000" y="2057400"/>
            <a:ext cx="584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Reads PDFs natively. Extracts parties, area, stamp duty, registration details, chain of title.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23653C-F0C3-F374-7F33-D52D5B66C86D}"/>
              </a:ext>
            </a:extLst>
          </p:cNvPr>
          <p:cNvSpPr txBox="1"/>
          <p:nvPr/>
        </p:nvSpPr>
        <p:spPr>
          <a:xfrm>
            <a:off x="8763000" y="2057400"/>
            <a:ext cx="292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1A73E8"/>
                </a:solidFill>
                <a:latin typeface="Calibri" panose="020F0502020204030204" pitchFamily="34" charset="0"/>
              </a:rPr>
              <a:t>Vertex AI Gemini 2.5-flash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552223-1CED-5700-BA8E-C1CA968E9168}"/>
              </a:ext>
            </a:extLst>
          </p:cNvPr>
          <p:cNvSpPr/>
          <p:nvPr/>
        </p:nvSpPr>
        <p:spPr>
          <a:xfrm>
            <a:off x="508000" y="2819400"/>
            <a:ext cx="11176000" cy="7112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685C2E-5BEF-2D4E-18B2-FCC96D1BB290}"/>
              </a:ext>
            </a:extLst>
          </p:cNvPr>
          <p:cNvSpPr txBox="1"/>
          <p:nvPr/>
        </p:nvSpPr>
        <p:spPr>
          <a:xfrm>
            <a:off x="635000" y="28194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Legal Rules Agent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71154F-6116-CC5F-B784-E361ABD5B40E}"/>
              </a:ext>
            </a:extLst>
          </p:cNvPr>
          <p:cNvSpPr txBox="1"/>
          <p:nvPr/>
        </p:nvSpPr>
        <p:spPr>
          <a:xfrm>
            <a:off x="2921000" y="2819400"/>
            <a:ext cx="584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Maps extracted data against Indian land law. Flags only concrete document-specific issues.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E822FE-B175-D248-4744-1CDFEEE2CE69}"/>
              </a:ext>
            </a:extLst>
          </p:cNvPr>
          <p:cNvSpPr txBox="1"/>
          <p:nvPr/>
        </p:nvSpPr>
        <p:spPr>
          <a:xfrm>
            <a:off x="8763000" y="2819400"/>
            <a:ext cx="292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1A73E8"/>
                </a:solidFill>
                <a:latin typeface="Calibri" panose="020F0502020204030204" pitchFamily="34" charset="0"/>
              </a:rPr>
              <a:t>Vertex AI Gemini 2.5-flash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BB4090-0B53-5276-6ED2-E7732FB696DC}"/>
              </a:ext>
            </a:extLst>
          </p:cNvPr>
          <p:cNvSpPr/>
          <p:nvPr/>
        </p:nvSpPr>
        <p:spPr>
          <a:xfrm>
            <a:off x="508000" y="3581400"/>
            <a:ext cx="11176000" cy="7112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3A3F4E-4032-9F9A-B280-0A46B6366B48}"/>
              </a:ext>
            </a:extLst>
          </p:cNvPr>
          <p:cNvSpPr txBox="1"/>
          <p:nvPr/>
        </p:nvSpPr>
        <p:spPr>
          <a:xfrm>
            <a:off x="635000" y="35814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Fraud Detection Agent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F21B6C-754B-B79A-2ABB-D8BCC61EFCC8}"/>
              </a:ext>
            </a:extLst>
          </p:cNvPr>
          <p:cNvSpPr txBox="1"/>
          <p:nvPr/>
        </p:nvSpPr>
        <p:spPr>
          <a:xfrm>
            <a:off x="2921000" y="3581400"/>
            <a:ext cx="584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Detects name mismatches, chain-of-title gaps, undervaluation. Consolidates related observations into single findings.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5340C2-4D40-5CBA-FF35-5FA31051B4CA}"/>
              </a:ext>
            </a:extLst>
          </p:cNvPr>
          <p:cNvSpPr txBox="1"/>
          <p:nvPr/>
        </p:nvSpPr>
        <p:spPr>
          <a:xfrm>
            <a:off x="8763000" y="3581400"/>
            <a:ext cx="292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1A73E8"/>
                </a:solidFill>
                <a:latin typeface="Calibri" panose="020F0502020204030204" pitchFamily="34" charset="0"/>
              </a:rPr>
              <a:t>Vertex AI Gemini 2.5-flash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B92B7AF-7DB7-7EE7-8709-2844B6B3870F}"/>
              </a:ext>
            </a:extLst>
          </p:cNvPr>
          <p:cNvSpPr/>
          <p:nvPr/>
        </p:nvSpPr>
        <p:spPr>
          <a:xfrm>
            <a:off x="508000" y="4343400"/>
            <a:ext cx="11176000" cy="711200"/>
          </a:xfrm>
          <a:prstGeom prst="rect">
            <a:avLst/>
          </a:prstGeom>
          <a:solidFill>
            <a:srgbClr val="FAFAFA"/>
          </a:solidFill>
          <a:ln w="9525">
            <a:solidFill>
              <a:srgbClr val="E0E0E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E52CE9-9437-A94C-8568-EDA482F43207}"/>
              </a:ext>
            </a:extLst>
          </p:cNvPr>
          <p:cNvSpPr txBox="1"/>
          <p:nvPr/>
        </p:nvSpPr>
        <p:spPr>
          <a:xfrm>
            <a:off x="635000" y="4343400"/>
            <a:ext cx="228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100" b="1">
                <a:solidFill>
                  <a:srgbClr val="1765CC"/>
                </a:solidFill>
                <a:latin typeface="Calibri" panose="020F0502020204030204" pitchFamily="34" charset="0"/>
              </a:rPr>
              <a:t>Report Agent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28D386-8226-1E82-58A6-EC2904702BCE}"/>
              </a:ext>
            </a:extLst>
          </p:cNvPr>
          <p:cNvSpPr txBox="1"/>
          <p:nvPr/>
        </p:nvSpPr>
        <p:spPr>
          <a:xfrm>
            <a:off x="2921000" y="4343400"/>
            <a:ext cx="584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3C4043"/>
                </a:solidFill>
                <a:latin typeface="Calibri" panose="020F0502020204030204" pitchFamily="34" charset="0"/>
              </a:rPr>
              <a:t>Synthesises findings into a lawyer-style summary, grades severity, and recommends next steps.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82EF9E-BE05-4F80-1126-8567A06715BF}"/>
              </a:ext>
            </a:extLst>
          </p:cNvPr>
          <p:cNvSpPr txBox="1"/>
          <p:nvPr/>
        </p:nvSpPr>
        <p:spPr>
          <a:xfrm>
            <a:off x="8763000" y="4343400"/>
            <a:ext cx="2921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000">
                <a:solidFill>
                  <a:srgbClr val="1A73E8"/>
                </a:solidFill>
                <a:latin typeface="Calibri" panose="020F0502020204030204" pitchFamily="34" charset="0"/>
              </a:rPr>
              <a:t>Vertex AI Gemini 2.5-flash</a:t>
            </a:r>
          </a:p>
        </p:txBody>
      </p:sp>
    </p:spTree>
    <p:extLst>
      <p:ext uri="{BB962C8B-B14F-4D97-AF65-F5344CB8AC3E}">
        <p14:creationId xmlns:p14="http://schemas.microsoft.com/office/powerpoint/2010/main" val="49607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829C59-F5D8-AACD-4F69-D47D1425643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7233BA-A642-90A1-95BE-7480BEB3FBF5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3600" b="1">
                <a:solidFill>
                  <a:srgbClr val="1765CC"/>
                </a:solidFill>
                <a:latin typeface="Calibri" panose="020F0502020204030204" pitchFamily="34" charset="0"/>
              </a:rPr>
              <a:t>Deployment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DC0807-482F-87BA-5DB4-27B26128605F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>
                <a:solidFill>
                  <a:srgbClr val="5F6368"/>
                </a:solidFill>
                <a:latin typeface="Calibri" panose="020F0502020204030204" pitchFamily="34" charset="0"/>
              </a:rPr>
              <a:t>How Landshield ships to production.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13DF76-C1AF-239F-3DBF-E4911F87CE1C}"/>
              </a:ext>
            </a:extLst>
          </p:cNvPr>
          <p:cNvSpPr/>
          <p:nvPr/>
        </p:nvSpPr>
        <p:spPr>
          <a:xfrm>
            <a:off x="508000" y="1219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3D8382-E31B-2579-B99E-EDFE4858A168}"/>
              </a:ext>
            </a:extLst>
          </p:cNvPr>
          <p:cNvSpPr txBox="1"/>
          <p:nvPr/>
        </p:nvSpPr>
        <p:spPr>
          <a:xfrm>
            <a:off x="685800" y="1219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Frontend (Next.js)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229292-8896-6982-9210-2E20FA272D6A}"/>
              </a:ext>
            </a:extLst>
          </p:cNvPr>
          <p:cNvSpPr txBox="1"/>
          <p:nvPr/>
        </p:nvSpPr>
        <p:spPr>
          <a:xfrm>
            <a:off x="3632200" y="1219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Containerised with Docker - deployed to Cloud Run - custom domain - CDN-cached static assets.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386735-9FA1-40FD-614E-BD25C76BF382}"/>
              </a:ext>
            </a:extLst>
          </p:cNvPr>
          <p:cNvSpPr/>
          <p:nvPr/>
        </p:nvSpPr>
        <p:spPr>
          <a:xfrm>
            <a:off x="508000" y="1727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94AF1C-7348-5098-E92C-652E8862F4CD}"/>
              </a:ext>
            </a:extLst>
          </p:cNvPr>
          <p:cNvSpPr txBox="1"/>
          <p:nvPr/>
        </p:nvSpPr>
        <p:spPr>
          <a:xfrm>
            <a:off x="685800" y="1727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Backend (FastAPI)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9BB65F-F2E4-3969-0D1D-4B093643BA18}"/>
              </a:ext>
            </a:extLst>
          </p:cNvPr>
          <p:cNvSpPr txBox="1"/>
          <p:nvPr/>
        </p:nvSpPr>
        <p:spPr>
          <a:xfrm>
            <a:off x="3632200" y="1727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Containerised with Docker - deployed to Cloud Run - auto-scales 0 to N - tuned for Gemini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D9913C-76EC-CA5D-CBBD-612CECC13574}"/>
              </a:ext>
            </a:extLst>
          </p:cNvPr>
          <p:cNvSpPr/>
          <p:nvPr/>
        </p:nvSpPr>
        <p:spPr>
          <a:xfrm>
            <a:off x="508000" y="2235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55803F-6D37-D78E-E0EB-901F950D41F2}"/>
              </a:ext>
            </a:extLst>
          </p:cNvPr>
          <p:cNvSpPr txBox="1"/>
          <p:nvPr/>
        </p:nvSpPr>
        <p:spPr>
          <a:xfrm>
            <a:off x="685800" y="2235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CI/CD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73DADA-2419-156A-65C1-B35092C06C7D}"/>
              </a:ext>
            </a:extLst>
          </p:cNvPr>
          <p:cNvSpPr txBox="1"/>
          <p:nvPr/>
        </p:nvSpPr>
        <p:spPr>
          <a:xfrm>
            <a:off x="3632200" y="2235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GitHub push to main -&gt; Cloud Build -&gt; builds both images -&gt; Artifact Registry -&gt; deploys to Cloud Run.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B00E19-5DCD-871B-177F-4E2E42FDF1C0}"/>
              </a:ext>
            </a:extLst>
          </p:cNvPr>
          <p:cNvSpPr/>
          <p:nvPr/>
        </p:nvSpPr>
        <p:spPr>
          <a:xfrm>
            <a:off x="508000" y="2743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A57AC-DDBF-8FAF-6B00-69A877FF51D6}"/>
              </a:ext>
            </a:extLst>
          </p:cNvPr>
          <p:cNvSpPr txBox="1"/>
          <p:nvPr/>
        </p:nvSpPr>
        <p:spPr>
          <a:xfrm>
            <a:off x="685800" y="2743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Artifact Registry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A081D0-2D24-27AC-3EC2-204821CC1F9E}"/>
              </a:ext>
            </a:extLst>
          </p:cNvPr>
          <p:cNvSpPr txBox="1"/>
          <p:nvPr/>
        </p:nvSpPr>
        <p:spPr>
          <a:xfrm>
            <a:off x="3632200" y="2743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Stores backend + frontend Docker images. Vulnerability scanning enabled.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7A2AF6-80F1-49CE-3454-04C6A3507546}"/>
              </a:ext>
            </a:extLst>
          </p:cNvPr>
          <p:cNvSpPr/>
          <p:nvPr/>
        </p:nvSpPr>
        <p:spPr>
          <a:xfrm>
            <a:off x="508000" y="3251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A0D826-9BDB-BEF7-26E8-D35DD90EDEAB}"/>
              </a:ext>
            </a:extLst>
          </p:cNvPr>
          <p:cNvSpPr txBox="1"/>
          <p:nvPr/>
        </p:nvSpPr>
        <p:spPr>
          <a:xfrm>
            <a:off x="685800" y="3251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Secret Manager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042973-FFFE-C15E-962A-89AE466817A8}"/>
              </a:ext>
            </a:extLst>
          </p:cNvPr>
          <p:cNvSpPr txBox="1"/>
          <p:nvPr/>
        </p:nvSpPr>
        <p:spPr>
          <a:xfrm>
            <a:off x="3632200" y="3251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Holds Gemini API keys and Firebase admin credentials. Cloud Run reads at startup via service account.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4AE306-1DB6-C53E-5F2A-ADB7062AC4D5}"/>
              </a:ext>
            </a:extLst>
          </p:cNvPr>
          <p:cNvSpPr/>
          <p:nvPr/>
        </p:nvSpPr>
        <p:spPr>
          <a:xfrm>
            <a:off x="508000" y="3759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9DACAC-3FB9-7B4B-940E-B34AA0C88D01}"/>
              </a:ext>
            </a:extLst>
          </p:cNvPr>
          <p:cNvSpPr txBox="1"/>
          <p:nvPr/>
        </p:nvSpPr>
        <p:spPr>
          <a:xfrm>
            <a:off x="685800" y="3759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Cloud Storage (GCS)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46CD19-938C-E87A-F9BC-FC73B4964A51}"/>
              </a:ext>
            </a:extLst>
          </p:cNvPr>
          <p:cNvSpPr txBox="1"/>
          <p:nvPr/>
        </p:nvSpPr>
        <p:spPr>
          <a:xfrm>
            <a:off x="3632200" y="3759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Bucket for uploaded documents. Signed URLs with short TTL. Lifecycle rule to expire stale uploads.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112F31D-E1EB-BE4E-B871-136BB1B8608C}"/>
              </a:ext>
            </a:extLst>
          </p:cNvPr>
          <p:cNvSpPr/>
          <p:nvPr/>
        </p:nvSpPr>
        <p:spPr>
          <a:xfrm>
            <a:off x="508000" y="4267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15FA81-7326-30F5-8496-C711D0ECFDE1}"/>
              </a:ext>
            </a:extLst>
          </p:cNvPr>
          <p:cNvSpPr txBox="1"/>
          <p:nvPr/>
        </p:nvSpPr>
        <p:spPr>
          <a:xfrm>
            <a:off x="685800" y="4267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Firestore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8C73F3-3840-5B5B-2CC8-8D97C4AFC633}"/>
              </a:ext>
            </a:extLst>
          </p:cNvPr>
          <p:cNvSpPr txBox="1"/>
          <p:nvPr/>
        </p:nvSpPr>
        <p:spPr>
          <a:xfrm>
            <a:off x="3632200" y="4267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Native-mode database. Stores analysis records, findings, audit log. Composite indexes per user + status.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67EF6C-B663-C727-BD7C-E29467053E85}"/>
              </a:ext>
            </a:extLst>
          </p:cNvPr>
          <p:cNvSpPr/>
          <p:nvPr/>
        </p:nvSpPr>
        <p:spPr>
          <a:xfrm>
            <a:off x="508000" y="4775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BD924A-38FA-0437-AF01-A4F0EA25669F}"/>
              </a:ext>
            </a:extLst>
          </p:cNvPr>
          <p:cNvSpPr txBox="1"/>
          <p:nvPr/>
        </p:nvSpPr>
        <p:spPr>
          <a:xfrm>
            <a:off x="685800" y="4775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IAM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FC415F-4B03-73BD-4E38-8D91C3406E63}"/>
              </a:ext>
            </a:extLst>
          </p:cNvPr>
          <p:cNvSpPr txBox="1"/>
          <p:nvPr/>
        </p:nvSpPr>
        <p:spPr>
          <a:xfrm>
            <a:off x="3632200" y="4775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Dedicated service account per Cloud Run service. Least-privilege grants on Firestore, GCS, Secret Manager.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1E96C2-A93A-D5EA-75DC-0AEA539FC4F3}"/>
              </a:ext>
            </a:extLst>
          </p:cNvPr>
          <p:cNvSpPr/>
          <p:nvPr/>
        </p:nvSpPr>
        <p:spPr>
          <a:xfrm>
            <a:off x="508000" y="5283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EB3ED8-36A3-F281-F68C-C00A02308438}"/>
              </a:ext>
            </a:extLst>
          </p:cNvPr>
          <p:cNvSpPr txBox="1"/>
          <p:nvPr/>
        </p:nvSpPr>
        <p:spPr>
          <a:xfrm>
            <a:off x="685800" y="5283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Logging and Monitoring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372D52-0070-D6FF-726D-A0478306F84A}"/>
              </a:ext>
            </a:extLst>
          </p:cNvPr>
          <p:cNvSpPr txBox="1"/>
          <p:nvPr/>
        </p:nvSpPr>
        <p:spPr>
          <a:xfrm>
            <a:off x="3632200" y="5283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Structured JSON logs. Alert policies on error rate and Gemini latency. SLO: 95% of analyses &lt; 90s.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9D4593-3274-81F5-9E1A-FDEF236ABC3D}"/>
              </a:ext>
            </a:extLst>
          </p:cNvPr>
          <p:cNvSpPr/>
          <p:nvPr/>
        </p:nvSpPr>
        <p:spPr>
          <a:xfrm>
            <a:off x="508000" y="5791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855764-76F1-C5F5-FDC7-B931E7DFC13F}"/>
              </a:ext>
            </a:extLst>
          </p:cNvPr>
          <p:cNvSpPr txBox="1"/>
          <p:nvPr/>
        </p:nvSpPr>
        <p:spPr>
          <a:xfrm>
            <a:off x="685800" y="5791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b="1">
                <a:solidFill>
                  <a:srgbClr val="1765CC"/>
                </a:solidFill>
                <a:latin typeface="Calibri" panose="020F0502020204030204" pitchFamily="34" charset="0"/>
              </a:rPr>
              <a:t>Firebase Auth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075C6-81DD-12D6-E087-6A6681C121E9}"/>
              </a:ext>
            </a:extLst>
          </p:cNvPr>
          <p:cNvSpPr txBox="1"/>
          <p:nvPr/>
        </p:nvSpPr>
        <p:spPr>
          <a:xfrm>
            <a:off x="3632200" y="5791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>
                <a:solidFill>
                  <a:srgbClr val="3C4043"/>
                </a:solidFill>
                <a:latin typeface="Calibri" panose="020F0502020204030204" pitchFamily="34" charset="0"/>
              </a:rPr>
              <a:t>Email/password and Google sign-in. ID tokens passed to backend; verified server-side per request.</a:t>
            </a:r>
          </a:p>
        </p:txBody>
      </p:sp>
    </p:spTree>
    <p:extLst>
      <p:ext uri="{BB962C8B-B14F-4D97-AF65-F5344CB8AC3E}">
        <p14:creationId xmlns:p14="http://schemas.microsoft.com/office/powerpoint/2010/main" val="4241464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2EEADC-D05D-6C22-DF9B-A6180566E14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2284B-F4B6-2D4C-731D-32B6C88F6216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3200" b="1">
                <a:solidFill>
                  <a:srgbClr val="1765CC"/>
                </a:solidFill>
                <a:latin typeface="Calibri" panose="020F0502020204030204" pitchFamily="34" charset="0"/>
              </a:rPr>
              <a:t>Google Technology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5CE90F-39BB-D937-2623-A22001B2D06B}"/>
              </a:ext>
            </a:extLst>
          </p:cNvPr>
          <p:cNvSpPr txBox="1"/>
          <p:nvPr/>
        </p:nvSpPr>
        <p:spPr>
          <a:xfrm>
            <a:off x="508000" y="73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1600">
                <a:solidFill>
                  <a:srgbClr val="5F6368"/>
                </a:solidFill>
                <a:latin typeface="Calibri" panose="020F0502020204030204" pitchFamily="34" charset="0"/>
              </a:rPr>
              <a:t>Everything Landshield runs on is native Google Cloud.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BE5C89-8E3F-4F9A-D112-F6D499AA2A75}"/>
              </a:ext>
            </a:extLst>
          </p:cNvPr>
          <p:cNvSpPr/>
          <p:nvPr/>
        </p:nvSpPr>
        <p:spPr>
          <a:xfrm>
            <a:off x="508000" y="1219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609A5-275B-5BEF-31A8-289EB83172CB}"/>
              </a:ext>
            </a:extLst>
          </p:cNvPr>
          <p:cNvSpPr txBox="1"/>
          <p:nvPr/>
        </p:nvSpPr>
        <p:spPr>
          <a:xfrm>
            <a:off x="685800" y="1219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Vertex AI Gemini 2.5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957BC8-A9EB-5632-7CF4-16BD39004161}"/>
              </a:ext>
            </a:extLst>
          </p:cNvPr>
          <p:cNvSpPr txBox="1"/>
          <p:nvPr/>
        </p:nvSpPr>
        <p:spPr>
          <a:xfrm>
            <a:off x="3632200" y="1219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Multi-modal reasoning for parsing, legal analysis, fraud detection, and report synthesis.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FF247-0BFC-A4B2-6DC0-54A7BDFA05F3}"/>
              </a:ext>
            </a:extLst>
          </p:cNvPr>
          <p:cNvSpPr/>
          <p:nvPr/>
        </p:nvSpPr>
        <p:spPr>
          <a:xfrm>
            <a:off x="508000" y="1727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4DD4DD-E8BC-0D5F-D29C-16CE25C3C34D}"/>
              </a:ext>
            </a:extLst>
          </p:cNvPr>
          <p:cNvSpPr txBox="1"/>
          <p:nvPr/>
        </p:nvSpPr>
        <p:spPr>
          <a:xfrm>
            <a:off x="685800" y="1727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Cloud Run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EC6A1F-AD92-EFB0-E5E1-C98DF825D832}"/>
              </a:ext>
            </a:extLst>
          </p:cNvPr>
          <p:cNvSpPr txBox="1"/>
          <p:nvPr/>
        </p:nvSpPr>
        <p:spPr>
          <a:xfrm>
            <a:off x="3632200" y="1727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Serverless container hosting for the FastAPI backend and Next.js frontend. Auto-scales per request.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F0B5DF-B313-15F8-202C-8CFF06AD82FE}"/>
              </a:ext>
            </a:extLst>
          </p:cNvPr>
          <p:cNvSpPr/>
          <p:nvPr/>
        </p:nvSpPr>
        <p:spPr>
          <a:xfrm>
            <a:off x="508000" y="2235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F14BE4-665A-495A-B98A-2BECA53716C8}"/>
              </a:ext>
            </a:extLst>
          </p:cNvPr>
          <p:cNvSpPr txBox="1"/>
          <p:nvPr/>
        </p:nvSpPr>
        <p:spPr>
          <a:xfrm>
            <a:off x="685800" y="2235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Cloud Storage (GCS)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325E3-4BD1-A5F0-16AC-BFDF8421F1C0}"/>
              </a:ext>
            </a:extLst>
          </p:cNvPr>
          <p:cNvSpPr txBox="1"/>
          <p:nvPr/>
        </p:nvSpPr>
        <p:spPr>
          <a:xfrm>
            <a:off x="3632200" y="2235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Signed-URL storage for uploaded land documents (sale deeds, ECs, mutations).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18EDDF-7764-1316-E177-F91528405B12}"/>
              </a:ext>
            </a:extLst>
          </p:cNvPr>
          <p:cNvSpPr/>
          <p:nvPr/>
        </p:nvSpPr>
        <p:spPr>
          <a:xfrm>
            <a:off x="508000" y="2743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F7D095-D30F-7099-8B82-53B9FBCEE876}"/>
              </a:ext>
            </a:extLst>
          </p:cNvPr>
          <p:cNvSpPr txBox="1"/>
          <p:nvPr/>
        </p:nvSpPr>
        <p:spPr>
          <a:xfrm>
            <a:off x="685800" y="2743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Firestore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4295DB-857B-529C-A4E7-1DC25F899D7F}"/>
              </a:ext>
            </a:extLst>
          </p:cNvPr>
          <p:cNvSpPr txBox="1"/>
          <p:nvPr/>
        </p:nvSpPr>
        <p:spPr>
          <a:xfrm>
            <a:off x="3632200" y="2743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Document database for analysis state, bundles, findings, and audit trail.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293690-EC0F-55A6-AAE0-4322FC3D6FF8}"/>
              </a:ext>
            </a:extLst>
          </p:cNvPr>
          <p:cNvSpPr/>
          <p:nvPr/>
        </p:nvSpPr>
        <p:spPr>
          <a:xfrm>
            <a:off x="508000" y="3251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F54E1B-75EA-94F0-77A6-CBBEAB1FF248}"/>
              </a:ext>
            </a:extLst>
          </p:cNvPr>
          <p:cNvSpPr txBox="1"/>
          <p:nvPr/>
        </p:nvSpPr>
        <p:spPr>
          <a:xfrm>
            <a:off x="685800" y="3251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Firebase Authentication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5499B5-5CC7-BDA3-C83D-3D7A4EFB5596}"/>
              </a:ext>
            </a:extLst>
          </p:cNvPr>
          <p:cNvSpPr txBox="1"/>
          <p:nvPr/>
        </p:nvSpPr>
        <p:spPr>
          <a:xfrm>
            <a:off x="3632200" y="3251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Email/password and Google sign-in with secure tokens passed to the backend.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BBCF211-ECC1-EFAE-D058-954DB4D8DD3E}"/>
              </a:ext>
            </a:extLst>
          </p:cNvPr>
          <p:cNvSpPr/>
          <p:nvPr/>
        </p:nvSpPr>
        <p:spPr>
          <a:xfrm>
            <a:off x="508000" y="3759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10856-A35C-B50B-06B0-C22EE0D16109}"/>
              </a:ext>
            </a:extLst>
          </p:cNvPr>
          <p:cNvSpPr txBox="1"/>
          <p:nvPr/>
        </p:nvSpPr>
        <p:spPr>
          <a:xfrm>
            <a:off x="685800" y="3759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Cloud Build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571A86-7FC8-B31B-CBE1-D58F428026B4}"/>
              </a:ext>
            </a:extLst>
          </p:cNvPr>
          <p:cNvSpPr txBox="1"/>
          <p:nvPr/>
        </p:nvSpPr>
        <p:spPr>
          <a:xfrm>
            <a:off x="3632200" y="3759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CI/CD: GitHub push triggers Docker build, image push, Cloud Run deploy.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010755-7CE6-1383-4FA8-011946E0A91E}"/>
              </a:ext>
            </a:extLst>
          </p:cNvPr>
          <p:cNvSpPr/>
          <p:nvPr/>
        </p:nvSpPr>
        <p:spPr>
          <a:xfrm>
            <a:off x="508000" y="4267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BA1C4C-7FDB-59A4-1571-1E4F5617914E}"/>
              </a:ext>
            </a:extLst>
          </p:cNvPr>
          <p:cNvSpPr txBox="1"/>
          <p:nvPr/>
        </p:nvSpPr>
        <p:spPr>
          <a:xfrm>
            <a:off x="685800" y="4267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Artifact Registry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14AEEC-6A94-49DE-8AF6-5B3796DC97B1}"/>
              </a:ext>
            </a:extLst>
          </p:cNvPr>
          <p:cNvSpPr txBox="1"/>
          <p:nvPr/>
        </p:nvSpPr>
        <p:spPr>
          <a:xfrm>
            <a:off x="3632200" y="4267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Container image storage for backend and frontend Docker images.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0DFC7E9-1654-FF0C-6F72-1BC150241865}"/>
              </a:ext>
            </a:extLst>
          </p:cNvPr>
          <p:cNvSpPr/>
          <p:nvPr/>
        </p:nvSpPr>
        <p:spPr>
          <a:xfrm>
            <a:off x="508000" y="4775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0749F7-9BA8-28C6-411D-AAE3C6539E73}"/>
              </a:ext>
            </a:extLst>
          </p:cNvPr>
          <p:cNvSpPr txBox="1"/>
          <p:nvPr/>
        </p:nvSpPr>
        <p:spPr>
          <a:xfrm>
            <a:off x="685800" y="4775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Secret Manager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E5B4CD-48D5-C690-CE67-08644E9D4E5D}"/>
              </a:ext>
            </a:extLst>
          </p:cNvPr>
          <p:cNvSpPr txBox="1"/>
          <p:nvPr/>
        </p:nvSpPr>
        <p:spPr>
          <a:xfrm>
            <a:off x="3632200" y="4775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Stores Gemini API keys and Firebase admin credentials at rest.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A076263-9A77-75F9-F95A-5025A6E8163A}"/>
              </a:ext>
            </a:extLst>
          </p:cNvPr>
          <p:cNvSpPr/>
          <p:nvPr/>
        </p:nvSpPr>
        <p:spPr>
          <a:xfrm>
            <a:off x="508000" y="5283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A42BBD-4915-40D4-6EB7-EA9E9E84B37E}"/>
              </a:ext>
            </a:extLst>
          </p:cNvPr>
          <p:cNvSpPr txBox="1"/>
          <p:nvPr/>
        </p:nvSpPr>
        <p:spPr>
          <a:xfrm>
            <a:off x="685800" y="5283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Cloud Logging and Monitoring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92C3B0-9A54-2362-201F-C331C11F4AA5}"/>
              </a:ext>
            </a:extLst>
          </p:cNvPr>
          <p:cNvSpPr txBox="1"/>
          <p:nvPr/>
        </p:nvSpPr>
        <p:spPr>
          <a:xfrm>
            <a:off x="3632200" y="5283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Centralised structured logs, latency metrics, and error alerting.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56DB1E-2CE7-FD85-076F-20C91716FE0F}"/>
              </a:ext>
            </a:extLst>
          </p:cNvPr>
          <p:cNvSpPr/>
          <p:nvPr/>
        </p:nvSpPr>
        <p:spPr>
          <a:xfrm>
            <a:off x="508000" y="5791200"/>
            <a:ext cx="50800" cy="457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DC3390-C5A0-76B0-FBF8-3EF97A3C4B6F}"/>
              </a:ext>
            </a:extLst>
          </p:cNvPr>
          <p:cNvSpPr txBox="1"/>
          <p:nvPr/>
        </p:nvSpPr>
        <p:spPr>
          <a:xfrm>
            <a:off x="685800" y="5791200"/>
            <a:ext cx="28702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600" b="1">
                <a:solidFill>
                  <a:srgbClr val="1765CC"/>
                </a:solidFill>
                <a:latin typeface="Calibri" panose="020F0502020204030204" pitchFamily="34" charset="0"/>
              </a:rPr>
              <a:t>Identity and Access Management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5FDD6A-9F45-BB81-3E28-4434458CE1CA}"/>
              </a:ext>
            </a:extLst>
          </p:cNvPr>
          <p:cNvSpPr txBox="1"/>
          <p:nvPr/>
        </p:nvSpPr>
        <p:spPr>
          <a:xfrm>
            <a:off x="3632200" y="5791200"/>
            <a:ext cx="80518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1400">
                <a:solidFill>
                  <a:srgbClr val="3C4043"/>
                </a:solidFill>
                <a:latin typeface="Calibri" panose="020F0502020204030204" pitchFamily="34" charset="0"/>
              </a:rPr>
              <a:t>Least-privilege service accounts for Cloud Run, Firestore, and GCS.</a:t>
            </a:r>
          </a:p>
        </p:txBody>
      </p:sp>
    </p:spTree>
    <p:extLst>
      <p:ext uri="{BB962C8B-B14F-4D97-AF65-F5344CB8AC3E}">
        <p14:creationId xmlns:p14="http://schemas.microsoft.com/office/powerpoint/2010/main" val="7418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94336D-F421-0957-44C4-5113C080233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73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DFD2E6-1354-B994-17F8-FDA900304E80}"/>
              </a:ext>
            </a:extLst>
          </p:cNvPr>
          <p:cNvSpPr txBox="1"/>
          <p:nvPr/>
        </p:nvSpPr>
        <p:spPr>
          <a:xfrm>
            <a:off x="508000" y="2794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t">
            <a:noAutofit/>
          </a:bodyPr>
          <a:lstStyle/>
          <a:p>
            <a:r>
              <a:rPr lang="en-US" sz="4000" b="1">
                <a:solidFill>
                  <a:srgbClr val="1765CC"/>
                </a:solidFill>
                <a:latin typeface="Calibri" panose="020F0502020204030204" pitchFamily="34" charset="0"/>
              </a:rPr>
              <a:t>How did we arrive at this solution?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F82F5F-010C-AF04-EF37-5AEBB26F91E6}"/>
              </a:ext>
            </a:extLst>
          </p:cNvPr>
          <p:cNvSpPr/>
          <p:nvPr/>
        </p:nvSpPr>
        <p:spPr>
          <a:xfrm>
            <a:off x="508000" y="8890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90C8C8-50D1-9F04-3E78-608F515E1AAD}"/>
              </a:ext>
            </a:extLst>
          </p:cNvPr>
          <p:cNvSpPr txBox="1"/>
          <p:nvPr/>
        </p:nvSpPr>
        <p:spPr>
          <a:xfrm>
            <a:off x="635000" y="8890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Problem we observed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44125-99E2-C874-5A07-F398F5DE8DC1}"/>
              </a:ext>
            </a:extLst>
          </p:cNvPr>
          <p:cNvSpPr txBox="1"/>
          <p:nvPr/>
        </p:nvSpPr>
        <p:spPr>
          <a:xfrm>
            <a:off x="711200" y="1270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Indian land transactions involve 8-10 documents per deal (sale deed, EC, mutation, tax receipt, building plan).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48D8-8D80-8661-0C0D-44EA86D1D7F6}"/>
              </a:ext>
            </a:extLst>
          </p:cNvPr>
          <p:cNvSpPr txBox="1"/>
          <p:nvPr/>
        </p:nvSpPr>
        <p:spPr>
          <a:xfrm>
            <a:off x="711200" y="15748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Buyers cannot verify them alone; lawyers are expensive and slow.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40179-E7FF-92A5-C829-50083100E3EA}"/>
              </a:ext>
            </a:extLst>
          </p:cNvPr>
          <p:cNvSpPr txBox="1"/>
          <p:nvPr/>
        </p:nvSpPr>
        <p:spPr>
          <a:xfrm>
            <a:off x="711200" y="1879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Fraud patterns (Roshni Act, tribal land sales, benami) are hard to spot manually.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D4DF34-AFCB-E249-561E-01770D8603F3}"/>
              </a:ext>
            </a:extLst>
          </p:cNvPr>
          <p:cNvSpPr/>
          <p:nvPr/>
        </p:nvSpPr>
        <p:spPr>
          <a:xfrm>
            <a:off x="508000" y="22860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43F221-B8D8-4AE6-3DFF-D3420D6126FC}"/>
              </a:ext>
            </a:extLst>
          </p:cNvPr>
          <p:cNvSpPr txBox="1"/>
          <p:nvPr/>
        </p:nvSpPr>
        <p:spPr>
          <a:xfrm>
            <a:off x="635000" y="22860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Why an AI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52ACD6-7B6E-01B9-CB7C-1DBF34529EB1}"/>
              </a:ext>
            </a:extLst>
          </p:cNvPr>
          <p:cNvSpPr txBox="1"/>
          <p:nvPr/>
        </p:nvSpPr>
        <p:spPr>
          <a:xfrm>
            <a:off x="711200" y="2667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Gemini 2.5 reads multi-page PDFs natively and extracts structured fields with high accuracy.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3BB61D-57CF-0631-67CB-C394F02B590C}"/>
              </a:ext>
            </a:extLst>
          </p:cNvPr>
          <p:cNvSpPr txBox="1"/>
          <p:nvPr/>
        </p:nvSpPr>
        <p:spPr>
          <a:xfrm>
            <a:off x="711200" y="29718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A multi-agent layout runs parser, legal, fraud, and report agents in parallel with focused prompts.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612DDC-D050-F934-39CA-AF7545488CA7}"/>
              </a:ext>
            </a:extLst>
          </p:cNvPr>
          <p:cNvSpPr txBox="1"/>
          <p:nvPr/>
        </p:nvSpPr>
        <p:spPr>
          <a:xfrm>
            <a:off x="711200" y="3276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Findings are consolidated and graded, so the user gets a lawyer-style summary, not raw text.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69360A-EA55-FD19-AAFC-98D897682793}"/>
              </a:ext>
            </a:extLst>
          </p:cNvPr>
          <p:cNvSpPr/>
          <p:nvPr/>
        </p:nvSpPr>
        <p:spPr>
          <a:xfrm>
            <a:off x="508000" y="3683000"/>
            <a:ext cx="11176000" cy="330200"/>
          </a:xfrm>
          <a:prstGeom prst="rect">
            <a:avLst/>
          </a:prstGeom>
          <a:solidFill>
            <a:srgbClr val="1765C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95143A-9D83-87BD-792F-A016DA92027F}"/>
              </a:ext>
            </a:extLst>
          </p:cNvPr>
          <p:cNvSpPr txBox="1"/>
          <p:nvPr/>
        </p:nvSpPr>
        <p:spPr>
          <a:xfrm>
            <a:off x="635000" y="3683000"/>
            <a:ext cx="10922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Why Google Cloud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BB3B37-ABEC-8F43-7A39-F6EE595E347B}"/>
              </a:ext>
            </a:extLst>
          </p:cNvPr>
          <p:cNvSpPr txBox="1"/>
          <p:nvPr/>
        </p:nvSpPr>
        <p:spPr>
          <a:xfrm>
            <a:off x="711200" y="40640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Vertex AI Gemini gives best-in-class multimodal reasoning without managing models ourselves.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5F7D3B-280E-44BF-CEA5-95CD62B28FAA}"/>
              </a:ext>
            </a:extLst>
          </p:cNvPr>
          <p:cNvSpPr txBox="1"/>
          <p:nvPr/>
        </p:nvSpPr>
        <p:spPr>
          <a:xfrm>
            <a:off x="711200" y="43688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Cloud Run + Firestore scales from one document to thousands without infra 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A28842-1F26-B091-8232-421F5C8505E2}"/>
              </a:ext>
            </a:extLst>
          </p:cNvPr>
          <p:cNvSpPr txBox="1"/>
          <p:nvPr/>
        </p:nvSpPr>
        <p:spPr>
          <a:xfrm>
            <a:off x="711200" y="4673600"/>
            <a:ext cx="11176000" cy="369332"/>
          </a:xfrm>
          <a:prstGeom prst="rect">
            <a:avLst/>
          </a:prstGeom>
          <a:noFill/>
        </p:spPr>
        <p:txBody>
          <a:bodyPr vert="horz" wrap="square" lIns="76200" tIns="38100" rIns="76200" bIns="38100" rtlCol="0" anchor="ctr">
            <a:noAutofit/>
          </a:bodyPr>
          <a:lstStyle/>
          <a:p>
            <a:r>
              <a:rPr lang="en-US">
                <a:solidFill>
                  <a:srgbClr val="3C4043"/>
                </a:solidFill>
                <a:latin typeface="Calibri" panose="020F0502020204030204" pitchFamily="34" charset="0"/>
              </a:rPr>
              <a:t>-  Firebase Auth + IAM gives a clean security boundary for sensitive land data.</a:t>
            </a:r>
          </a:p>
        </p:txBody>
      </p:sp>
    </p:spTree>
    <p:extLst>
      <p:ext uri="{BB962C8B-B14F-4D97-AF65-F5344CB8AC3E}">
        <p14:creationId xmlns:p14="http://schemas.microsoft.com/office/powerpoint/2010/main" val="2501696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80EF12-AB73-948B-A51B-587E2C1BADB0}"/>
              </a:ext>
            </a:extLst>
          </p:cNvPr>
          <p:cNvSpPr txBox="1"/>
          <p:nvPr/>
        </p:nvSpPr>
        <p:spPr>
          <a:xfrm>
            <a:off x="970908" y="1220919"/>
            <a:ext cx="5425781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6D7A32-94EE-B1BB-DBCB-08B8B85407B4}"/>
              </a:ext>
            </a:extLst>
          </p:cNvPr>
          <p:cNvSpPr txBox="1"/>
          <p:nvPr/>
        </p:nvSpPr>
        <p:spPr>
          <a:xfrm>
            <a:off x="970908" y="3700594"/>
            <a:ext cx="5425781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Landshield - verify your land. Before you sign.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538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1539</Words>
  <Application>Microsoft Office PowerPoint</Application>
  <PresentationFormat>Widescreen</PresentationFormat>
  <Paragraphs>210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Abhishek Partap Singh</dc:creator>
  <cp:lastModifiedBy>Abhishek Partap Singh</cp:lastModifiedBy>
  <cp:revision>2</cp:revision>
  <dcterms:created xsi:type="dcterms:W3CDTF">2026-05-17T13:38:59Z</dcterms:created>
  <dcterms:modified xsi:type="dcterms:W3CDTF">2026-05-17T14:03:41Z</dcterms:modified>
</cp:coreProperties>
</file>