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0A47B-DF7D-E9DC-BE56-1AA18073F0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6212DF-AB6D-7670-AD62-CC9A1519F6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D07322-0247-A0A4-291E-066839E1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10632-9A01-4467-ACBB-4774DF0A0BAE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3245DC-D2BF-7D55-E2AB-07D9E6FB4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0A7A9-CC6B-4470-7D3F-DA7C4AD5D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408D6-A18F-4DEF-8108-D3F1A5E4F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0969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96CA6-41F0-55D9-C5F4-8730F30C6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BC767-4A44-17C3-9B26-6D3AC654B8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10CA87-AA7B-5BB5-A622-B3744BEF8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10632-9A01-4467-ACBB-4774DF0A0BAE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426443-6266-3E90-0C8D-8A073752C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9B5794-4816-8AD9-BC77-AA9E25418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408D6-A18F-4DEF-8108-D3F1A5E4F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9897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CFB9F-9423-7A27-8A73-1DC8631EA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73789F-5C68-4586-788A-7F4AB6AF0F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A5602-C53F-D7A7-2BC4-F817BBDE3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10632-9A01-4467-ACBB-4774DF0A0BAE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35731F-A6E7-E74E-3A39-8E4B8DEFB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B5B282-B7B5-73F1-70DD-06D99EE4E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408D6-A18F-4DEF-8108-D3F1A5E4F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4319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F9052-F53C-7889-DA0B-2481F2A02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400276-D16F-A274-A96F-F0AFBDAE16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6E390D-49AE-DAC2-FDF5-2772506CC2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788E07-95D8-5B0B-68D5-500B704109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10632-9A01-4467-ACBB-4774DF0A0BAE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7BD0C-FE67-977F-7325-4FE9EA44D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57E283-E78E-A7DD-EEB3-1C0CE905F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408D6-A18F-4DEF-8108-D3F1A5E4F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33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C3CE-51FF-AE05-DDEF-E8F42015D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B7696F-74B4-6DB2-64AE-5726F6978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51848C-615E-046C-8266-07715430AD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7CAA35-B17F-3BDD-65BE-00B19100F1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6E24479-2B7C-097D-166A-DC52F62134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D7B130-CB00-6968-63D8-6B07FB2F2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10632-9A01-4467-ACBB-4774DF0A0BAE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FCC561-F409-A54F-D1E6-A4B93F098C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A92300-3C93-6D8E-896B-372DD802D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408D6-A18F-4DEF-8108-D3F1A5E4F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482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545A1F-597F-4E96-FF2E-6FAE7CA789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C42043-30CB-D362-087A-FAD9AE6F1D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10632-9A01-4467-ACBB-4774DF0A0BAE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5881A7-42C7-46A6-CD9F-4C0460B58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A2D19A-E454-09E9-BF0D-971144350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408D6-A18F-4DEF-8108-D3F1A5E4F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276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73C142-AA4D-13B4-1240-D9092F5FC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10632-9A01-4467-ACBB-4774DF0A0BAE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0F776A-BFCA-7114-EA47-1E45D3A5FA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ED7D4-3CDE-71B2-A09B-15F86DFE5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408D6-A18F-4DEF-8108-D3F1A5E4F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2561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AFD8F-24EC-785D-D6F4-3DCF0AA96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E5AB8-9492-4540-5017-580BEC6FD1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27A1E2-6A0D-B817-ABD5-F8A99C6573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DF2115-F993-FBB6-C2F6-C5E251BE6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10632-9A01-4467-ACBB-4774DF0A0BAE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AAD9F7-5C66-34D3-6C27-D1B279B38F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AA44A5-1734-EAE3-FEE8-0A0D6AC69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408D6-A18F-4DEF-8108-D3F1A5E4F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038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85FC8-673F-C279-C579-01A9108AF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DDDF45-487E-0CAF-0F93-C4A0F013FA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EB93A7-F790-72AB-4CEE-FEC2DE1478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79527B-1D48-C6B4-784C-37F313A83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10632-9A01-4467-ACBB-4774DF0A0BAE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8086E3-7FE7-BD9A-E81C-6944DB4DB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F74A6E-EACD-0B90-C8E1-C0E1CEFD3F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408D6-A18F-4DEF-8108-D3F1A5E4F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5744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35836-CB8F-5D7B-FFE4-0833BC9FBA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EAE8D1-762F-A0F2-0625-7F5FB70C62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AAC82A-9ECB-4D72-DECA-E84072BA2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10632-9A01-4467-ACBB-4774DF0A0BAE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8DF57-3472-23E3-323A-0CCC37847C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3E61DE-436E-4E6C-819C-E24CA9B6B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408D6-A18F-4DEF-8108-D3F1A5E4F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152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EB733AF-EA82-C37B-59F2-301962AC2C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5E8E32-4C1D-F7B0-2CD7-D51C088BC2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5BEDA3-ECCF-54CF-2680-69779B009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10632-9A01-4467-ACBB-4774DF0A0BAE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2DD451-70B1-AD72-B2D2-090058470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03ABAD-970D-0A83-E289-AD86279B1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408D6-A18F-4DEF-8108-D3F1A5E4F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4968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D3AFC-3BB3-0A45-5E62-3AEC25589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F9EF71-D0FE-0409-5780-662EA7F7BF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3EFD3-0959-7804-9C38-8BBE899E65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10632-9A01-4467-ACBB-4774DF0A0BAE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09FAD9-B459-9A70-F0B3-68BF79412C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BE94B9-3D53-0E03-8E4E-FD0857AC2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408D6-A18F-4DEF-8108-D3F1A5E4F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174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FEF5E5-949B-B333-1E64-1A020E847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9DD7B6-D007-A326-A532-B634A4CB8B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033C3A-FEA4-B92B-3716-9BA11DE67E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210632-9A01-4467-ACBB-4774DF0A0BAE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BA0E47-842D-AD03-2E59-69BE688263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3D77C9-91A0-4EA9-7386-44DA1D870D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1408D6-A18F-4DEF-8108-D3F1A5E4F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174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752CB-C5E9-9EB6-103A-AC725D5E45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</a:rPr>
              <a:t>Landshield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D41C07-A0E2-7324-3931-341FB42A25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</a:rPr>
              <a:t>AI-powered due diligence for Indian land documents</a:t>
            </a:r>
          </a:p>
          <a:p>
            <a:r>
              <a:rPr lang="en-US">
                <a:latin typeface="Calibri" panose="020F0502020204030204" pitchFamily="34" charset="0"/>
              </a:rPr>
              <a:t>Infosys Gemini Hackathon 2026 - Team Submission</a:t>
            </a:r>
          </a:p>
        </p:txBody>
      </p:sp>
    </p:spTree>
    <p:extLst>
      <p:ext uri="{BB962C8B-B14F-4D97-AF65-F5344CB8AC3E}">
        <p14:creationId xmlns:p14="http://schemas.microsoft.com/office/powerpoint/2010/main" val="27258603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97970-780D-474F-937B-3583186E2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</a:rPr>
              <a:t>Team &amp; Use Case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E29A1-659F-1F08-E65A-D5D117DA31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>
                <a:latin typeface="Calibri" panose="020F0502020204030204" pitchFamily="34" charset="0"/>
              </a:rPr>
              <a:t>Team: Landshield - Member: Abhishek Partap S - DU: AI Altitude</a:t>
            </a:r>
          </a:p>
          <a:p>
            <a:r>
              <a:rPr lang="en-US" sz="1800">
                <a:latin typeface="Calibri" panose="020F0502020204030204" pitchFamily="34" charset="0"/>
              </a:rPr>
              <a:t>Use case: AI-powered land document verification for Indian buyers</a:t>
            </a:r>
          </a:p>
          <a:p>
            <a:r>
              <a:rPr lang="en-US" sz="1800">
                <a:latin typeface="Calibri" panose="020F0502020204030204" pitchFamily="34" charset="0"/>
              </a:rPr>
              <a:t>Domain: Real Estate / Legal Tech - Sub-domain: Document verification, fraud detection, due-diligence assistance</a:t>
            </a:r>
          </a:p>
          <a:p>
            <a:r>
              <a:rPr lang="en-US" sz="1800">
                <a:latin typeface="Calibri" panose="020F0502020204030204" pitchFamily="34" charset="0"/>
              </a:rPr>
              <a:t>What it does: Ingests a bundle of land documents (sale deed, EC, mutation, tax receipt, building plan), extracts structured data, validates against Indian land law (TPA, Roshni Act, tribal-land rules, RERA), flags fraud indicators, and produces a lawyer-style report graded by severity</a:t>
            </a:r>
          </a:p>
          <a:p>
            <a:r>
              <a:rPr lang="en-US" sz="1800">
                <a:latin typeface="Calibri" panose="020F0502020204030204" pitchFamily="34" charset="0"/>
              </a:rPr>
              <a:t>Outcome: Buyer gets a clear go / clarify / stop verdict in seconds instead of weeks of manual due diligence</a:t>
            </a:r>
          </a:p>
        </p:txBody>
      </p:sp>
    </p:spTree>
    <p:extLst>
      <p:ext uri="{BB962C8B-B14F-4D97-AF65-F5344CB8AC3E}">
        <p14:creationId xmlns:p14="http://schemas.microsoft.com/office/powerpoint/2010/main" val="356699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476A41-68C3-62EC-AFAC-00F26B6CBD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</a:rPr>
              <a:t>Solution Design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05C3B3-5C08-4304-AA18-C7B3A30B82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>
                <a:latin typeface="Calibri" panose="020F0502020204030204" pitchFamily="34" charset="0"/>
              </a:rPr>
              <a:t>Orchestrator (FastAPI on Cloud Run): receives the bundle, fans out parallel agent calls, streams progress via SSE, persists to Firestore</a:t>
            </a:r>
          </a:p>
          <a:p>
            <a:r>
              <a:rPr lang="en-US">
                <a:latin typeface="Calibri" panose="020F0502020204030204" pitchFamily="34" charset="0"/>
              </a:rPr>
              <a:t>Parser Agent (Gemini): reads PDFs natively, extracts parties, area, stamp duty, registration details, chain of title, dates</a:t>
            </a:r>
          </a:p>
          <a:p>
            <a:r>
              <a:rPr lang="en-US">
                <a:latin typeface="Calibri" panose="020F0502020204030204" pitchFamily="34" charset="0"/>
              </a:rPr>
              <a:t>Legal Rules Agent (Gemini): maps extracted data against Indian land law - registration, stamp duty, state restrictions, RERA</a:t>
            </a:r>
          </a:p>
          <a:p>
            <a:r>
              <a:rPr lang="en-US">
                <a:latin typeface="Calibri" panose="020F0502020204030204" pitchFamily="34" charset="0"/>
              </a:rPr>
              <a:t>Fraud Detection Agent (Gemini): flags name mismatches, chain-of-title gaps, undervaluation, fake registration patterns</a:t>
            </a:r>
          </a:p>
          <a:p>
            <a:r>
              <a:rPr lang="en-US">
                <a:latin typeface="Calibri" panose="020F0502020204030204" pitchFamily="34" charset="0"/>
              </a:rPr>
              <a:t>Report Agent (Gemini): consolidates findings into a lawyer-style summary with severity grading and recommendations</a:t>
            </a:r>
          </a:p>
          <a:p>
            <a:r>
              <a:rPr lang="en-US">
                <a:latin typeface="Calibri" panose="020F0502020204030204" pitchFamily="34" charset="0"/>
              </a:rPr>
              <a:t>Storage: GCS for source PDFs (signed URLs), Firestore for analysis state and audit log</a:t>
            </a:r>
          </a:p>
          <a:p>
            <a:r>
              <a:rPr lang="en-US">
                <a:latin typeface="Calibri" panose="020F0502020204030204" pitchFamily="34" charset="0"/>
              </a:rPr>
              <a:t>Frontend (Next.js on Cloud Run): dashboard, upload, real-time progress, report viewer - Firebase Auth gates access</a:t>
            </a:r>
          </a:p>
          <a:p>
            <a:r>
              <a:rPr lang="en-US">
                <a:latin typeface="Calibri" panose="020F0502020204030204" pitchFamily="34" charset="0"/>
              </a:rPr>
              <a:t>Observability: Cloud Logging + Monitoring - structured logs, agent latency, model cost, alerts</a:t>
            </a:r>
          </a:p>
        </p:txBody>
      </p:sp>
    </p:spTree>
    <p:extLst>
      <p:ext uri="{BB962C8B-B14F-4D97-AF65-F5344CB8AC3E}">
        <p14:creationId xmlns:p14="http://schemas.microsoft.com/office/powerpoint/2010/main" val="26945052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8BD56-881D-B1CD-4857-957B9343C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</a:rPr>
              <a:t>Solution Architecture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3B262EA-03AD-2908-5A58-33D164C98943}"/>
              </a:ext>
            </a:extLst>
          </p:cNvPr>
          <p:cNvSpPr/>
          <p:nvPr/>
        </p:nvSpPr>
        <p:spPr>
          <a:xfrm>
            <a:off x="508000" y="1524000"/>
            <a:ext cx="11176000" cy="635000"/>
          </a:xfrm>
          <a:prstGeom prst="roundRect">
            <a:avLst/>
          </a:prstGeom>
          <a:solidFill>
            <a:srgbClr val="EAE2FE"/>
          </a:solidFill>
          <a:ln w="9525">
            <a:solidFill>
              <a:srgbClr val="C8C8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77800" tIns="25400" rIns="50800" bIns="25400" rtlCol="0" anchor="ctr"/>
          <a:lstStyle/>
          <a:p>
            <a:r>
              <a:rPr lang="en-US" sz="1100">
                <a:solidFill>
                  <a:srgbClr val="1765CC"/>
                </a:solidFill>
                <a:latin typeface="Calibri" panose="020F0502020204030204" pitchFamily="34" charset="0"/>
              </a:rPr>
              <a:t>PRESENTATION</a:t>
            </a:r>
          </a:p>
          <a:p>
            <a:r>
              <a:rPr lang="en-US" sz="1100">
                <a:solidFill>
                  <a:srgbClr val="1765CC"/>
                </a:solidFill>
                <a:latin typeface="Calibri" panose="020F0502020204030204" pitchFamily="34" charset="0"/>
              </a:rPr>
              <a:t>Next.js frontend on Cloud Run - Firebase Auth - dashboard - upload - real-time progress - report viewer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AE276D9-B72A-CDA4-DCF3-1D8AF5BDEE64}"/>
              </a:ext>
            </a:extLst>
          </p:cNvPr>
          <p:cNvSpPr/>
          <p:nvPr/>
        </p:nvSpPr>
        <p:spPr>
          <a:xfrm>
            <a:off x="508000" y="2286000"/>
            <a:ext cx="11176000" cy="635000"/>
          </a:xfrm>
          <a:prstGeom prst="roundRect">
            <a:avLst/>
          </a:prstGeom>
          <a:solidFill>
            <a:srgbClr val="EAE2FE"/>
          </a:solidFill>
          <a:ln w="9525">
            <a:solidFill>
              <a:srgbClr val="C8C8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77800" tIns="25400" rIns="50800" bIns="25400" rtlCol="0" anchor="ctr"/>
          <a:lstStyle/>
          <a:p>
            <a:r>
              <a:rPr lang="en-US" sz="1100">
                <a:solidFill>
                  <a:srgbClr val="1765CC"/>
                </a:solidFill>
                <a:latin typeface="Calibri" panose="020F0502020204030204" pitchFamily="34" charset="0"/>
              </a:rPr>
              <a:t>ORCHESTRATION</a:t>
            </a:r>
          </a:p>
          <a:p>
            <a:r>
              <a:rPr lang="en-US" sz="1100">
                <a:solidFill>
                  <a:srgbClr val="1765CC"/>
                </a:solidFill>
                <a:latin typeface="Calibri" panose="020F0502020204030204" pitchFamily="34" charset="0"/>
              </a:rPr>
              <a:t>FastAPI orchestrator on Cloud Run - SSE streaming - fans out parallel agent calls - persists state to Firestore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809D94A-5CE8-3BB7-FFA3-DA7098EE0C09}"/>
              </a:ext>
            </a:extLst>
          </p:cNvPr>
          <p:cNvSpPr/>
          <p:nvPr/>
        </p:nvSpPr>
        <p:spPr>
          <a:xfrm>
            <a:off x="508000" y="3048000"/>
            <a:ext cx="11176000" cy="1270000"/>
          </a:xfrm>
          <a:prstGeom prst="roundRect">
            <a:avLst/>
          </a:prstGeom>
          <a:solidFill>
            <a:srgbClr val="E6F4EA"/>
          </a:solidFill>
          <a:ln w="9525">
            <a:solidFill>
              <a:srgbClr val="BDE5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77800" tIns="101600" rIns="50800" bIns="25400" rtlCol="0" anchor="t"/>
          <a:lstStyle/>
          <a:p>
            <a:r>
              <a:rPr lang="en-US" sz="1100" b="1">
                <a:solidFill>
                  <a:srgbClr val="1E8E3E"/>
                </a:solidFill>
                <a:latin typeface="Calibri" panose="020F0502020204030204" pitchFamily="34" charset="0"/>
              </a:rPr>
              <a:t>AGENTS (GEMINI 2.5-FLASH)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31161AC-B009-1BB8-FDAD-422FBFFB6645}"/>
              </a:ext>
            </a:extLst>
          </p:cNvPr>
          <p:cNvSpPr/>
          <p:nvPr/>
        </p:nvSpPr>
        <p:spPr>
          <a:xfrm>
            <a:off x="762000" y="3454400"/>
            <a:ext cx="2540000" cy="711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E5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1200" b="1">
                <a:solidFill>
                  <a:srgbClr val="1765CC"/>
                </a:solidFill>
                <a:latin typeface="Calibri" panose="020F0502020204030204" pitchFamily="34" charset="0"/>
              </a:rPr>
              <a:t>Parser</a:t>
            </a:r>
          </a:p>
          <a:p>
            <a:pPr algn="ctr"/>
            <a:r>
              <a:rPr lang="en-US" sz="1200" b="1">
                <a:solidFill>
                  <a:srgbClr val="1765CC"/>
                </a:solidFill>
                <a:latin typeface="Calibri" panose="020F0502020204030204" pitchFamily="34" charset="0"/>
              </a:rPr>
              <a:t>Gemini 2.5-flash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76DE2B3-0C1D-721B-A828-C78BFFA7B9E3}"/>
              </a:ext>
            </a:extLst>
          </p:cNvPr>
          <p:cNvSpPr/>
          <p:nvPr/>
        </p:nvSpPr>
        <p:spPr>
          <a:xfrm>
            <a:off x="3429000" y="3454400"/>
            <a:ext cx="2540000" cy="711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E5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1200" b="1">
                <a:solidFill>
                  <a:srgbClr val="1765CC"/>
                </a:solidFill>
                <a:latin typeface="Calibri" panose="020F0502020204030204" pitchFamily="34" charset="0"/>
              </a:rPr>
              <a:t>Legal Rules</a:t>
            </a:r>
          </a:p>
          <a:p>
            <a:pPr algn="ctr"/>
            <a:r>
              <a:rPr lang="en-US" sz="1200" b="1">
                <a:solidFill>
                  <a:srgbClr val="1765CC"/>
                </a:solidFill>
                <a:latin typeface="Calibri" panose="020F0502020204030204" pitchFamily="34" charset="0"/>
              </a:rPr>
              <a:t>Gemini 2.5-flash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859766C-A204-B1D7-4BD5-65031A44454B}"/>
              </a:ext>
            </a:extLst>
          </p:cNvPr>
          <p:cNvSpPr/>
          <p:nvPr/>
        </p:nvSpPr>
        <p:spPr>
          <a:xfrm>
            <a:off x="6096000" y="3454400"/>
            <a:ext cx="2540000" cy="711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E5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1200" b="1">
                <a:solidFill>
                  <a:srgbClr val="1765CC"/>
                </a:solidFill>
                <a:latin typeface="Calibri" panose="020F0502020204030204" pitchFamily="34" charset="0"/>
              </a:rPr>
              <a:t>Fraud Detection</a:t>
            </a:r>
          </a:p>
          <a:p>
            <a:pPr algn="ctr"/>
            <a:r>
              <a:rPr lang="en-US" sz="1200" b="1">
                <a:solidFill>
                  <a:srgbClr val="1765CC"/>
                </a:solidFill>
                <a:latin typeface="Calibri" panose="020F0502020204030204" pitchFamily="34" charset="0"/>
              </a:rPr>
              <a:t>Gemini 2.5-flash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C2DB6B3-9673-C58A-BE02-94CFD8A65FF7}"/>
              </a:ext>
            </a:extLst>
          </p:cNvPr>
          <p:cNvSpPr/>
          <p:nvPr/>
        </p:nvSpPr>
        <p:spPr>
          <a:xfrm>
            <a:off x="8763000" y="3454400"/>
            <a:ext cx="2540000" cy="711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E5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1200" b="1">
                <a:solidFill>
                  <a:srgbClr val="1765CC"/>
                </a:solidFill>
                <a:latin typeface="Calibri" panose="020F0502020204030204" pitchFamily="34" charset="0"/>
              </a:rPr>
              <a:t>Report</a:t>
            </a:r>
          </a:p>
          <a:p>
            <a:pPr algn="ctr"/>
            <a:r>
              <a:rPr lang="en-US" sz="1200" b="1">
                <a:solidFill>
                  <a:srgbClr val="1765CC"/>
                </a:solidFill>
                <a:latin typeface="Calibri" panose="020F0502020204030204" pitchFamily="34" charset="0"/>
              </a:rPr>
              <a:t>Gemini 2.5-flash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FFF9E7B-6585-4045-FDB8-F799B70CB400}"/>
              </a:ext>
            </a:extLst>
          </p:cNvPr>
          <p:cNvSpPr/>
          <p:nvPr/>
        </p:nvSpPr>
        <p:spPr>
          <a:xfrm>
            <a:off x="508000" y="4445000"/>
            <a:ext cx="5334000" cy="635000"/>
          </a:xfrm>
          <a:prstGeom prst="roundRect">
            <a:avLst/>
          </a:prstGeom>
          <a:solidFill>
            <a:srgbClr val="FEF7E0"/>
          </a:solidFill>
          <a:ln w="9525">
            <a:solidFill>
              <a:srgbClr val="FADD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77800" tIns="25400" rIns="50800" bIns="25400" rtlCol="0" anchor="ctr"/>
          <a:lstStyle/>
          <a:p>
            <a:r>
              <a:rPr lang="en-US" sz="1100">
                <a:solidFill>
                  <a:srgbClr val="1765CC"/>
                </a:solidFill>
                <a:latin typeface="Calibri" panose="020F0502020204030204" pitchFamily="34" charset="0"/>
              </a:rPr>
              <a:t>DATA</a:t>
            </a:r>
          </a:p>
          <a:p>
            <a:r>
              <a:rPr lang="en-US" sz="1100">
                <a:solidFill>
                  <a:srgbClr val="1765CC"/>
                </a:solidFill>
                <a:latin typeface="Calibri" panose="020F0502020204030204" pitchFamily="34" charset="0"/>
              </a:rPr>
              <a:t>GCS (PDFs, signed URLs) - Firestore (findings, audit log)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60ECCCE-8AA8-86C4-AC10-5F588764F848}"/>
              </a:ext>
            </a:extLst>
          </p:cNvPr>
          <p:cNvSpPr/>
          <p:nvPr/>
        </p:nvSpPr>
        <p:spPr>
          <a:xfrm>
            <a:off x="6350000" y="4445000"/>
            <a:ext cx="5334000" cy="635000"/>
          </a:xfrm>
          <a:prstGeom prst="roundRect">
            <a:avLst/>
          </a:prstGeom>
          <a:solidFill>
            <a:srgbClr val="FCE8E6"/>
          </a:solidFill>
          <a:ln w="9525">
            <a:solidFill>
              <a:srgbClr val="FAC7B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77800" tIns="25400" rIns="50800" bIns="25400" rtlCol="0" anchor="ctr"/>
          <a:lstStyle/>
          <a:p>
            <a:r>
              <a:rPr lang="en-US" sz="1100">
                <a:solidFill>
                  <a:srgbClr val="1765CC"/>
                </a:solidFill>
                <a:latin typeface="Calibri" panose="020F0502020204030204" pitchFamily="34" charset="0"/>
              </a:rPr>
              <a:t>CROSS-CUTTING</a:t>
            </a:r>
          </a:p>
          <a:p>
            <a:r>
              <a:rPr lang="en-US" sz="1100">
                <a:solidFill>
                  <a:srgbClr val="1765CC"/>
                </a:solidFill>
                <a:latin typeface="Calibri" panose="020F0502020204030204" pitchFamily="34" charset="0"/>
              </a:rPr>
              <a:t>Cloud Logging - Monitoring - IAM - Secret Manager - Artifact Registry</a:t>
            </a:r>
          </a:p>
        </p:txBody>
      </p:sp>
    </p:spTree>
    <p:extLst>
      <p:ext uri="{BB962C8B-B14F-4D97-AF65-F5344CB8AC3E}">
        <p14:creationId xmlns:p14="http://schemas.microsoft.com/office/powerpoint/2010/main" val="41892920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13F4A-C048-FCE3-84B7-DE1A58E84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</a:rPr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817EF9-FBEE-4C9A-C155-1AFE9C9055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>
                <a:latin typeface="Calibri" panose="020F0502020204030204" pitchFamily="34" charset="0"/>
              </a:rPr>
              <a:t>User uploads a bundle of land documents and selects state + land type</a:t>
            </a:r>
          </a:p>
          <a:p>
            <a:r>
              <a:rPr lang="en-US">
                <a:latin typeface="Calibri" panose="020F0502020204030204" pitchFamily="34" charset="0"/>
              </a:rPr>
              <a:t>Frontend pushes files to backend; backend stores them in GCS and creates a Firestore record</a:t>
            </a:r>
          </a:p>
          <a:p>
            <a:r>
              <a:rPr lang="en-US">
                <a:latin typeface="Calibri" panose="020F0502020204030204" pitchFamily="34" charset="0"/>
              </a:rPr>
              <a:t>Orchestrator triggers Parser Agent; Gemini reads each PDF and extracts structured fields</a:t>
            </a:r>
          </a:p>
          <a:p>
            <a:r>
              <a:rPr lang="en-US">
                <a:latin typeface="Calibri" panose="020F0502020204030204" pitchFamily="34" charset="0"/>
              </a:rPr>
              <a:t>Legal Rules Agent and Fraud Detection Agent run in parallel on the extracted data</a:t>
            </a:r>
          </a:p>
          <a:p>
            <a:r>
              <a:rPr lang="en-US">
                <a:latin typeface="Calibri" panose="020F0502020204030204" pitchFamily="34" charset="0"/>
              </a:rPr>
              <a:t>Findings are normalised, deduplicated, consolidated, and graded by severity</a:t>
            </a:r>
          </a:p>
          <a:p>
            <a:r>
              <a:rPr lang="en-US">
                <a:latin typeface="Calibri" panose="020F0502020204030204" pitchFamily="34" charset="0"/>
              </a:rPr>
              <a:t>Report Agent generates a lawyer-style summary with severity counts and recommended actions</a:t>
            </a:r>
          </a:p>
          <a:p>
            <a:r>
              <a:rPr lang="en-US">
                <a:latin typeface="Calibri" panose="020F0502020204030204" pitchFamily="34" charset="0"/>
              </a:rPr>
              <a:t>Backend persists the report to Firestore and streams progress to the frontend via SSE</a:t>
            </a:r>
          </a:p>
          <a:p>
            <a:r>
              <a:rPr lang="en-US">
                <a:latin typeface="Calibri" panose="020F0502020204030204" pitchFamily="34" charset="0"/>
              </a:rPr>
              <a:t>User views the report: property facts, findings, checklist, parties, document inventory</a:t>
            </a:r>
          </a:p>
          <a:p>
            <a:r>
              <a:rPr lang="en-US">
                <a:latin typeface="Calibri" panose="020F0502020204030204" pitchFamily="34" charset="0"/>
              </a:rPr>
              <a:t>Cloud Logging and Monitoring capture latency, errors, and cost throughout</a:t>
            </a:r>
          </a:p>
        </p:txBody>
      </p:sp>
    </p:spTree>
    <p:extLst>
      <p:ext uri="{BB962C8B-B14F-4D97-AF65-F5344CB8AC3E}">
        <p14:creationId xmlns:p14="http://schemas.microsoft.com/office/powerpoint/2010/main" val="23967084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00F460-94BD-D2A8-EDA1-DD2454C5E9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</a:rPr>
              <a:t>Flow Diagram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F136DA8-C310-354F-F139-49677D7B1AA7}"/>
              </a:ext>
            </a:extLst>
          </p:cNvPr>
          <p:cNvSpPr/>
          <p:nvPr/>
        </p:nvSpPr>
        <p:spPr>
          <a:xfrm>
            <a:off x="508000" y="1524000"/>
            <a:ext cx="1778000" cy="711200"/>
          </a:xfrm>
          <a:prstGeom prst="roundRect">
            <a:avLst/>
          </a:prstGeom>
          <a:solidFill>
            <a:srgbClr val="EAE2FE"/>
          </a:solidFill>
          <a:ln w="9525">
            <a:solidFill>
              <a:srgbClr val="C8C8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1100" b="1">
                <a:solidFill>
                  <a:srgbClr val="1A73E8"/>
                </a:solidFill>
                <a:latin typeface="Calibri" panose="020F0502020204030204" pitchFamily="34" charset="0"/>
              </a:rPr>
              <a:t>User</a:t>
            </a:r>
          </a:p>
          <a:p>
            <a:pPr algn="ctr"/>
            <a:endParaRPr lang="en-US" sz="1100" b="1">
              <a:solidFill>
                <a:srgbClr val="1A73E8"/>
              </a:solidFill>
              <a:latin typeface="Calibri" panose="020F050202020403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CA93944-E8DD-FCAB-9156-4119613BCB42}"/>
              </a:ext>
            </a:extLst>
          </p:cNvPr>
          <p:cNvSpPr/>
          <p:nvPr/>
        </p:nvSpPr>
        <p:spPr>
          <a:xfrm>
            <a:off x="2603500" y="1524000"/>
            <a:ext cx="1778000" cy="711200"/>
          </a:xfrm>
          <a:prstGeom prst="roundRect">
            <a:avLst/>
          </a:prstGeom>
          <a:solidFill>
            <a:srgbClr val="EAE2FE"/>
          </a:solidFill>
          <a:ln w="9525">
            <a:solidFill>
              <a:srgbClr val="C8C8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1100" b="1">
                <a:solidFill>
                  <a:srgbClr val="1A73E8"/>
                </a:solidFill>
                <a:latin typeface="Calibri" panose="020F0502020204030204" pitchFamily="34" charset="0"/>
              </a:rPr>
              <a:t>Next.js</a:t>
            </a:r>
          </a:p>
          <a:p>
            <a:pPr algn="ctr"/>
            <a:r>
              <a:rPr lang="en-US" sz="1100" b="1">
                <a:solidFill>
                  <a:srgbClr val="1A73E8"/>
                </a:solidFill>
                <a:latin typeface="Calibri" panose="020F0502020204030204" pitchFamily="34" charset="0"/>
              </a:rPr>
              <a:t>Frontend / Cloud Run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C5E085D-BF18-26CB-51D6-7220F91FD4DD}"/>
              </a:ext>
            </a:extLst>
          </p:cNvPr>
          <p:cNvSpPr/>
          <p:nvPr/>
        </p:nvSpPr>
        <p:spPr>
          <a:xfrm>
            <a:off x="4699000" y="1524000"/>
            <a:ext cx="1778000" cy="711200"/>
          </a:xfrm>
          <a:prstGeom prst="roundRect">
            <a:avLst/>
          </a:prstGeom>
          <a:solidFill>
            <a:srgbClr val="EAE2FE"/>
          </a:solidFill>
          <a:ln w="9525">
            <a:solidFill>
              <a:srgbClr val="C8C8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1100" b="1">
                <a:solidFill>
                  <a:srgbClr val="1765CC"/>
                </a:solidFill>
                <a:latin typeface="Calibri" panose="020F0502020204030204" pitchFamily="34" charset="0"/>
              </a:rPr>
              <a:t>Orchestrator</a:t>
            </a:r>
          </a:p>
          <a:p>
            <a:pPr algn="ctr"/>
            <a:r>
              <a:rPr lang="en-US" sz="1100" b="1">
                <a:solidFill>
                  <a:srgbClr val="1765CC"/>
                </a:solidFill>
                <a:latin typeface="Calibri" panose="020F0502020204030204" pitchFamily="34" charset="0"/>
              </a:rPr>
              <a:t>FastAPI / Cloud Run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E0742AB-A94D-DFAC-1003-50713B499626}"/>
              </a:ext>
            </a:extLst>
          </p:cNvPr>
          <p:cNvSpPr/>
          <p:nvPr/>
        </p:nvSpPr>
        <p:spPr>
          <a:xfrm>
            <a:off x="6794500" y="1524000"/>
            <a:ext cx="1778000" cy="711200"/>
          </a:xfrm>
          <a:prstGeom prst="roundRect">
            <a:avLst/>
          </a:prstGeom>
          <a:solidFill>
            <a:srgbClr val="FEF7E0"/>
          </a:solidFill>
          <a:ln w="9525">
            <a:solidFill>
              <a:srgbClr val="FADD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1100" b="1">
                <a:solidFill>
                  <a:srgbClr val="1765CC"/>
                </a:solidFill>
                <a:latin typeface="Calibri" panose="020F0502020204030204" pitchFamily="34" charset="0"/>
              </a:rPr>
              <a:t>GCS</a:t>
            </a:r>
          </a:p>
          <a:p>
            <a:pPr algn="ctr"/>
            <a:r>
              <a:rPr lang="en-US" sz="1100" b="1">
                <a:solidFill>
                  <a:srgbClr val="1765CC"/>
                </a:solidFill>
                <a:latin typeface="Calibri" panose="020F0502020204030204" pitchFamily="34" charset="0"/>
              </a:rPr>
              <a:t>PDFs (signed URL)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E556407-3F03-3B42-0F85-3D6B73950DCD}"/>
              </a:ext>
            </a:extLst>
          </p:cNvPr>
          <p:cNvSpPr/>
          <p:nvPr/>
        </p:nvSpPr>
        <p:spPr>
          <a:xfrm>
            <a:off x="8890000" y="1524000"/>
            <a:ext cx="1778000" cy="711200"/>
          </a:xfrm>
          <a:prstGeom prst="roundRect">
            <a:avLst/>
          </a:prstGeom>
          <a:solidFill>
            <a:srgbClr val="FEF7E0"/>
          </a:solidFill>
          <a:ln w="9525">
            <a:solidFill>
              <a:srgbClr val="FADD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1100" b="1">
                <a:solidFill>
                  <a:srgbClr val="1765CC"/>
                </a:solidFill>
                <a:latin typeface="Calibri" panose="020F0502020204030204" pitchFamily="34" charset="0"/>
              </a:rPr>
              <a:t>Firestore</a:t>
            </a:r>
          </a:p>
          <a:p>
            <a:pPr algn="ctr"/>
            <a:r>
              <a:rPr lang="en-US" sz="1100" b="1">
                <a:solidFill>
                  <a:srgbClr val="1765CC"/>
                </a:solidFill>
                <a:latin typeface="Calibri" panose="020F0502020204030204" pitchFamily="34" charset="0"/>
              </a:rPr>
              <a:t>Findings + audit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F9DEC51-418F-7178-FD98-5D5DC7963410}"/>
              </a:ext>
            </a:extLst>
          </p:cNvPr>
          <p:cNvCxnSpPr/>
          <p:nvPr/>
        </p:nvCxnSpPr>
        <p:spPr>
          <a:xfrm>
            <a:off x="2286000" y="1879600"/>
            <a:ext cx="317500" cy="0"/>
          </a:xfrm>
          <a:prstGeom prst="straightConnector1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5D99B97-E7C1-DA31-C587-470213E3A280}"/>
              </a:ext>
            </a:extLst>
          </p:cNvPr>
          <p:cNvCxnSpPr/>
          <p:nvPr/>
        </p:nvCxnSpPr>
        <p:spPr>
          <a:xfrm>
            <a:off x="4381500" y="1879600"/>
            <a:ext cx="317500" cy="0"/>
          </a:xfrm>
          <a:prstGeom prst="straightConnector1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1A61B06-F4FF-CCE4-083F-1F9A51FBA09A}"/>
              </a:ext>
            </a:extLst>
          </p:cNvPr>
          <p:cNvCxnSpPr/>
          <p:nvPr/>
        </p:nvCxnSpPr>
        <p:spPr>
          <a:xfrm>
            <a:off x="6477000" y="1879600"/>
            <a:ext cx="317500" cy="0"/>
          </a:xfrm>
          <a:prstGeom prst="straightConnector1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FF4E336-5278-ADEF-6E8A-9DE96CDEC0C4}"/>
              </a:ext>
            </a:extLst>
          </p:cNvPr>
          <p:cNvCxnSpPr/>
          <p:nvPr/>
        </p:nvCxnSpPr>
        <p:spPr>
          <a:xfrm>
            <a:off x="8572500" y="1879600"/>
            <a:ext cx="317500" cy="0"/>
          </a:xfrm>
          <a:prstGeom prst="straightConnector1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067F8E9-A310-4CCD-CA60-3D99A9774F25}"/>
              </a:ext>
            </a:extLst>
          </p:cNvPr>
          <p:cNvCxnSpPr/>
          <p:nvPr/>
        </p:nvCxnSpPr>
        <p:spPr>
          <a:xfrm>
            <a:off x="5588000" y="2235200"/>
            <a:ext cx="0" cy="381000"/>
          </a:xfrm>
          <a:prstGeom prst="straightConnector1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AF6CFDE-5C73-AF6C-6D13-D72F444DA77E}"/>
              </a:ext>
            </a:extLst>
          </p:cNvPr>
          <p:cNvSpPr/>
          <p:nvPr/>
        </p:nvSpPr>
        <p:spPr>
          <a:xfrm>
            <a:off x="1143000" y="2679700"/>
            <a:ext cx="2286000" cy="711200"/>
          </a:xfrm>
          <a:prstGeom prst="roundRect">
            <a:avLst/>
          </a:prstGeom>
          <a:solidFill>
            <a:srgbClr val="E6F4EA"/>
          </a:solidFill>
          <a:ln w="9525">
            <a:solidFill>
              <a:srgbClr val="BDE5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1100" b="1">
                <a:solidFill>
                  <a:srgbClr val="1765CC"/>
                </a:solidFill>
                <a:latin typeface="Calibri" panose="020F0502020204030204" pitchFamily="34" charset="0"/>
              </a:rPr>
              <a:t>Parser Agent</a:t>
            </a:r>
          </a:p>
          <a:p>
            <a:pPr algn="ctr"/>
            <a:r>
              <a:rPr lang="en-US" sz="1100" b="1">
                <a:solidFill>
                  <a:srgbClr val="1765CC"/>
                </a:solidFill>
                <a:latin typeface="Calibri" panose="020F0502020204030204" pitchFamily="34" charset="0"/>
              </a:rPr>
              <a:t>Gemini 2.5-flash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8C21588-3554-EE29-05F5-2852B8C0D10C}"/>
              </a:ext>
            </a:extLst>
          </p:cNvPr>
          <p:cNvSpPr/>
          <p:nvPr/>
        </p:nvSpPr>
        <p:spPr>
          <a:xfrm>
            <a:off x="3683000" y="2679700"/>
            <a:ext cx="2286000" cy="711200"/>
          </a:xfrm>
          <a:prstGeom prst="roundRect">
            <a:avLst/>
          </a:prstGeom>
          <a:solidFill>
            <a:srgbClr val="E6F4EA"/>
          </a:solidFill>
          <a:ln w="9525">
            <a:solidFill>
              <a:srgbClr val="BDE5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1100" b="1">
                <a:solidFill>
                  <a:srgbClr val="1765CC"/>
                </a:solidFill>
                <a:latin typeface="Calibri" panose="020F0502020204030204" pitchFamily="34" charset="0"/>
              </a:rPr>
              <a:t>Legal Agent</a:t>
            </a:r>
          </a:p>
          <a:p>
            <a:pPr algn="ctr"/>
            <a:r>
              <a:rPr lang="en-US" sz="1100" b="1">
                <a:solidFill>
                  <a:srgbClr val="1765CC"/>
                </a:solidFill>
                <a:latin typeface="Calibri" panose="020F0502020204030204" pitchFamily="34" charset="0"/>
              </a:rPr>
              <a:t>Gemini 2.5-flash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B2461DA-5BBF-FD7B-A31E-13A0F93D2969}"/>
              </a:ext>
            </a:extLst>
          </p:cNvPr>
          <p:cNvSpPr/>
          <p:nvPr/>
        </p:nvSpPr>
        <p:spPr>
          <a:xfrm>
            <a:off x="6223000" y="2679700"/>
            <a:ext cx="2286000" cy="711200"/>
          </a:xfrm>
          <a:prstGeom prst="roundRect">
            <a:avLst/>
          </a:prstGeom>
          <a:solidFill>
            <a:srgbClr val="E6F4EA"/>
          </a:solidFill>
          <a:ln w="9525">
            <a:solidFill>
              <a:srgbClr val="BDE5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1100" b="1">
                <a:solidFill>
                  <a:srgbClr val="1765CC"/>
                </a:solidFill>
                <a:latin typeface="Calibri" panose="020F0502020204030204" pitchFamily="34" charset="0"/>
              </a:rPr>
              <a:t>Fraud Agent</a:t>
            </a:r>
          </a:p>
          <a:p>
            <a:pPr algn="ctr"/>
            <a:r>
              <a:rPr lang="en-US" sz="1100" b="1">
                <a:solidFill>
                  <a:srgbClr val="1765CC"/>
                </a:solidFill>
                <a:latin typeface="Calibri" panose="020F0502020204030204" pitchFamily="34" charset="0"/>
              </a:rPr>
              <a:t>Gemini 2.5-flash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D6CF232-67ED-06F8-3CDF-2FC975CABBCD}"/>
              </a:ext>
            </a:extLst>
          </p:cNvPr>
          <p:cNvSpPr/>
          <p:nvPr/>
        </p:nvSpPr>
        <p:spPr>
          <a:xfrm>
            <a:off x="8763000" y="2679700"/>
            <a:ext cx="2286000" cy="711200"/>
          </a:xfrm>
          <a:prstGeom prst="roundRect">
            <a:avLst/>
          </a:prstGeom>
          <a:solidFill>
            <a:srgbClr val="E6F4EA"/>
          </a:solidFill>
          <a:ln w="9525">
            <a:solidFill>
              <a:srgbClr val="BDE5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1100" b="1">
                <a:solidFill>
                  <a:srgbClr val="1765CC"/>
                </a:solidFill>
                <a:latin typeface="Calibri" panose="020F0502020204030204" pitchFamily="34" charset="0"/>
              </a:rPr>
              <a:t>Report Agent</a:t>
            </a:r>
          </a:p>
          <a:p>
            <a:pPr algn="ctr"/>
            <a:r>
              <a:rPr lang="en-US" sz="1100" b="1">
                <a:solidFill>
                  <a:srgbClr val="1765CC"/>
                </a:solidFill>
                <a:latin typeface="Calibri" panose="020F0502020204030204" pitchFamily="34" charset="0"/>
              </a:rPr>
              <a:t>Gemini 2.5-flash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71BCA18-8912-D861-CF8B-69EFC2F5073D}"/>
              </a:ext>
            </a:extLst>
          </p:cNvPr>
          <p:cNvCxnSpPr/>
          <p:nvPr/>
        </p:nvCxnSpPr>
        <p:spPr>
          <a:xfrm>
            <a:off x="6096000" y="3390900"/>
            <a:ext cx="0" cy="317500"/>
          </a:xfrm>
          <a:prstGeom prst="straightConnector1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40E9DDA-8286-9E81-A3A6-2D722B6CB92F}"/>
              </a:ext>
            </a:extLst>
          </p:cNvPr>
          <p:cNvSpPr/>
          <p:nvPr/>
        </p:nvSpPr>
        <p:spPr>
          <a:xfrm>
            <a:off x="3556000" y="3708400"/>
            <a:ext cx="5080000" cy="635000"/>
          </a:xfrm>
          <a:prstGeom prst="roundRect">
            <a:avLst/>
          </a:prstGeom>
          <a:solidFill>
            <a:srgbClr val="FCE8E6"/>
          </a:solidFill>
          <a:ln w="9525">
            <a:solidFill>
              <a:srgbClr val="FAC7B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1100" b="1">
                <a:solidFill>
                  <a:srgbClr val="1765CC"/>
                </a:solidFill>
                <a:latin typeface="Calibri" panose="020F0502020204030204" pitchFamily="34" charset="0"/>
              </a:rPr>
              <a:t>Consolidation + Severity Grading</a:t>
            </a:r>
          </a:p>
          <a:p>
            <a:pPr algn="ctr"/>
            <a:r>
              <a:rPr lang="en-US" sz="1100" b="1">
                <a:solidFill>
                  <a:srgbClr val="1765CC"/>
                </a:solidFill>
                <a:latin typeface="Calibri" panose="020F0502020204030204" pitchFamily="34" charset="0"/>
              </a:rPr>
              <a:t>dedupe - combine related - grade low/medium/high/critical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DDE99FA-9F33-A2F9-13F2-32C9D7372F8A}"/>
              </a:ext>
            </a:extLst>
          </p:cNvPr>
          <p:cNvCxnSpPr/>
          <p:nvPr/>
        </p:nvCxnSpPr>
        <p:spPr>
          <a:xfrm>
            <a:off x="6096000" y="4343400"/>
            <a:ext cx="0" cy="127000"/>
          </a:xfrm>
          <a:prstGeom prst="straightConnector1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021879C8-EFF6-7C88-9AD6-F5AC2871E01F}"/>
              </a:ext>
            </a:extLst>
          </p:cNvPr>
          <p:cNvSpPr/>
          <p:nvPr/>
        </p:nvSpPr>
        <p:spPr>
          <a:xfrm>
            <a:off x="3556000" y="4470400"/>
            <a:ext cx="5080000" cy="584200"/>
          </a:xfrm>
          <a:prstGeom prst="roundRect">
            <a:avLst/>
          </a:prstGeom>
          <a:solidFill>
            <a:srgbClr val="EAE2FE"/>
          </a:solidFill>
          <a:ln w="9525">
            <a:solidFill>
              <a:srgbClr val="C8C8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1100" b="1">
                <a:solidFill>
                  <a:srgbClr val="1A73E8"/>
                </a:solidFill>
                <a:latin typeface="Calibri" panose="020F0502020204030204" pitchFamily="34" charset="0"/>
              </a:rPr>
              <a:t>Final Report streamed to Frontend (SSE)</a:t>
            </a:r>
          </a:p>
          <a:p>
            <a:pPr algn="ctr"/>
            <a:r>
              <a:rPr lang="en-US" sz="1100" b="1">
                <a:solidFill>
                  <a:srgbClr val="1A73E8"/>
                </a:solidFill>
                <a:latin typeface="Calibri" panose="020F0502020204030204" pitchFamily="34" charset="0"/>
              </a:rPr>
              <a:t>property facts - findings - checklist - parties</a:t>
            </a:r>
          </a:p>
        </p:txBody>
      </p:sp>
    </p:spTree>
    <p:extLst>
      <p:ext uri="{BB962C8B-B14F-4D97-AF65-F5344CB8AC3E}">
        <p14:creationId xmlns:p14="http://schemas.microsoft.com/office/powerpoint/2010/main" val="11431593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6EF15-6A56-2ED9-35AD-EBBCB5120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</a:rPr>
              <a:t>Agent Design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FFA5C9-326B-7517-5621-0C7B287448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>
                <a:latin typeface="Calibri" panose="020F0502020204030204" pitchFamily="34" charset="0"/>
              </a:rPr>
              <a:t>Orchestrator (controller): primary entry point - validates the bundle and coordinates the rest</a:t>
            </a:r>
          </a:p>
          <a:p>
            <a:r>
              <a:rPr lang="en-US" sz="1800">
                <a:latin typeface="Calibri" panose="020F0502020204030204" pitchFamily="34" charset="0"/>
              </a:rPr>
              <a:t>Fan-out: Parser first, then Legal + Fraud in parallel, then Report - progress streamed via SSE</a:t>
            </a:r>
          </a:p>
          <a:p>
            <a:r>
              <a:rPr lang="en-US" sz="1800">
                <a:latin typeface="Calibri" panose="020F0502020204030204" pitchFamily="34" charset="0"/>
              </a:rPr>
              <a:t>Each specialised Gemini agent has its own focused system prompt and JSON output schema</a:t>
            </a:r>
          </a:p>
          <a:p>
            <a:r>
              <a:rPr lang="en-US" sz="1800">
                <a:latin typeface="Calibri" panose="020F0502020204030204" pitchFamily="34" charset="0"/>
              </a:rPr>
              <a:t>Parser is multimodal (reads PDFs natively); the rest consume structured JSON</a:t>
            </a:r>
          </a:p>
          <a:p>
            <a:r>
              <a:rPr lang="en-US" sz="1800">
                <a:latin typeface="Calibri" panose="020F0502020204030204" pitchFamily="34" charset="0"/>
              </a:rPr>
              <a:t>Stateless agents exchange JSON, allowing easy retry and parallelism</a:t>
            </a:r>
          </a:p>
          <a:p>
            <a:r>
              <a:rPr lang="en-US" sz="1800">
                <a:latin typeface="Calibri" panose="020F0502020204030204" pitchFamily="34" charset="0"/>
              </a:rPr>
              <a:t>In-process Python calls today (sub-second latency, lower cost)</a:t>
            </a:r>
          </a:p>
          <a:p>
            <a:r>
              <a:rPr lang="en-US" sz="1800">
                <a:latin typeface="Calibri" panose="020F0502020204030204" pitchFamily="34" charset="0"/>
              </a:rPr>
              <a:t>Designed so any agent can be promoted to its own Cloud Run service via HTTP/JSON</a:t>
            </a:r>
          </a:p>
          <a:p>
            <a:r>
              <a:rPr lang="en-US" sz="1800">
                <a:latin typeface="Calibri" panose="020F0502020204030204" pitchFamily="34" charset="0"/>
              </a:rPr>
              <a:t>A shared ExtractedData schema keeps contracts stable across agents</a:t>
            </a:r>
          </a:p>
        </p:txBody>
      </p:sp>
    </p:spTree>
    <p:extLst>
      <p:ext uri="{BB962C8B-B14F-4D97-AF65-F5344CB8AC3E}">
        <p14:creationId xmlns:p14="http://schemas.microsoft.com/office/powerpoint/2010/main" val="37123839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19DEA-85F9-A134-C7D5-5DC9BEABE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</a:rPr>
              <a:t>Agent Details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BA6C0EA-4818-A27E-9B34-9F478D9BEE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049789"/>
              </p:ext>
            </p:extLst>
          </p:nvPr>
        </p:nvGraphicFramePr>
        <p:xfrm>
          <a:off x="508000" y="1397000"/>
          <a:ext cx="11176000" cy="406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9000">
                  <a:extLst>
                    <a:ext uri="{9D8B030D-6E8A-4147-A177-3AD203B41FA5}">
                      <a16:colId xmlns:a16="http://schemas.microsoft.com/office/drawing/2014/main" val="2454653519"/>
                    </a:ext>
                  </a:extLst>
                </a:gridCol>
                <a:gridCol w="5969000">
                  <a:extLst>
                    <a:ext uri="{9D8B030D-6E8A-4147-A177-3AD203B41FA5}">
                      <a16:colId xmlns:a16="http://schemas.microsoft.com/office/drawing/2014/main" val="2229850854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458055944"/>
                    </a:ext>
                  </a:extLst>
                </a:gridCol>
              </a:tblGrid>
              <a:tr h="677333">
                <a:tc>
                  <a:txBody>
                    <a:bodyPr/>
                    <a:lstStyle/>
                    <a:p>
                      <a:r>
                        <a:rPr lang="en-US" b="1"/>
                        <a:t>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/>
                        <a:t>What it does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/>
                        <a:t>Google service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0642255"/>
                  </a:ext>
                </a:extLst>
              </a:tr>
              <a:tr h="677333">
                <a:tc>
                  <a:txBody>
                    <a:bodyPr/>
                    <a:lstStyle/>
                    <a:p>
                      <a:r>
                        <a:rPr lang="en-US"/>
                        <a:t>Orchestrator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Receives the bundle, fans out parallel agent calls, streams progress, persists state.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FastAPI / Cloud Run + Firestore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7874061"/>
                  </a:ext>
                </a:extLst>
              </a:tr>
              <a:tr h="677333">
                <a:tc>
                  <a:txBody>
                    <a:bodyPr/>
                    <a:lstStyle/>
                    <a:p>
                      <a:r>
                        <a:rPr lang="en-US"/>
                        <a:t>Parser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Reads PDFs natively. Extracts parties, area, stamp duty, registration details, chain of title.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Vertex AI Gemini 2.5-flash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374323"/>
                  </a:ext>
                </a:extLst>
              </a:tr>
              <a:tr h="677333">
                <a:tc>
                  <a:txBody>
                    <a:bodyPr/>
                    <a:lstStyle/>
                    <a:p>
                      <a:r>
                        <a:rPr lang="en-US"/>
                        <a:t>Legal Rules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Maps extracted data against Indian land law. Flags only concrete document-specific issues.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Vertex AI Gemini 2.5-flash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6433407"/>
                  </a:ext>
                </a:extLst>
              </a:tr>
              <a:tr h="677333">
                <a:tc>
                  <a:txBody>
                    <a:bodyPr/>
                    <a:lstStyle/>
                    <a:p>
                      <a:r>
                        <a:rPr lang="en-US"/>
                        <a:t>Fraud Detection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Detects name mismatches, chain-of-title gaps, undervaluation. Consolidates related observations.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Vertex AI Gemini 2.5-flash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373588"/>
                  </a:ext>
                </a:extLst>
              </a:tr>
              <a:tr h="677333">
                <a:tc>
                  <a:txBody>
                    <a:bodyPr/>
                    <a:lstStyle/>
                    <a:p>
                      <a:r>
                        <a:rPr lang="en-US"/>
                        <a:t>Report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Synthesises findings into a lawyer-style summary, grades severity, and recommends next steps.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Vertex AI Gemini 2.5-flash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8397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97419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C4DDC-0DB1-1F7E-8125-D1B9BB059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</a:rPr>
              <a:t>Deployment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2F24E0-88FB-36BA-AD1C-8569BED864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>
                <a:latin typeface="Calibri" panose="020F0502020204030204" pitchFamily="34" charset="0"/>
              </a:rPr>
              <a:t>Frontend (Next.js): Dockerised, deployed to Cloud Run, CDN-cached static assets</a:t>
            </a:r>
          </a:p>
          <a:p>
            <a:r>
              <a:rPr lang="en-US">
                <a:latin typeface="Calibri" panose="020F0502020204030204" pitchFamily="34" charset="0"/>
              </a:rPr>
              <a:t>Backend (FastAPI): Dockerised, deployed to Cloud Run, auto-scales 0 -&gt; N, Gunicorn + Uvicorn workers</a:t>
            </a:r>
          </a:p>
          <a:p>
            <a:r>
              <a:rPr lang="en-US">
                <a:latin typeface="Calibri" panose="020F0502020204030204" pitchFamily="34" charset="0"/>
              </a:rPr>
              <a:t>CI/CD: GitHub push -&gt; Cloud Build -&gt; builds both images -&gt; Artifact Registry -&gt; deploys to Cloud Run</a:t>
            </a:r>
          </a:p>
          <a:p>
            <a:r>
              <a:rPr lang="en-US">
                <a:latin typeface="Calibri" panose="020F0502020204030204" pitchFamily="34" charset="0"/>
              </a:rPr>
              <a:t>Artifact Registry: stores backend + frontend Docker images, vulnerability scanning enabled</a:t>
            </a:r>
          </a:p>
          <a:p>
            <a:r>
              <a:rPr lang="en-US">
                <a:latin typeface="Calibri" panose="020F0502020204030204" pitchFamily="34" charset="0"/>
              </a:rPr>
              <a:t>Secret Manager: holds Gemini API keys and Firebase admin credentials; Cloud Run reads at startup</a:t>
            </a:r>
          </a:p>
          <a:p>
            <a:r>
              <a:rPr lang="en-US">
                <a:latin typeface="Calibri" panose="020F0502020204030204" pitchFamily="34" charset="0"/>
              </a:rPr>
              <a:t>Cloud Storage: bucket for uploaded documents, signed URLs with short TTL, lifecycle expiry</a:t>
            </a:r>
          </a:p>
          <a:p>
            <a:r>
              <a:rPr lang="en-US">
                <a:latin typeface="Calibri" panose="020F0502020204030204" pitchFamily="34" charset="0"/>
              </a:rPr>
              <a:t>Firestore: native-mode database, stores analysis records, findings, audit log</a:t>
            </a:r>
          </a:p>
          <a:p>
            <a:r>
              <a:rPr lang="en-US">
                <a:latin typeface="Calibri" panose="020F0502020204030204" pitchFamily="34" charset="0"/>
              </a:rPr>
              <a:t>IAM: dedicated service account per Cloud Run service, least-privilege on Firestore / GCS / Secret Manager</a:t>
            </a:r>
          </a:p>
          <a:p>
            <a:r>
              <a:rPr lang="en-US">
                <a:latin typeface="Calibri" panose="020F0502020204030204" pitchFamily="34" charset="0"/>
              </a:rPr>
              <a:t>Logging &amp; Monitoring: structured JSON logs, alerts on error rate and Gemini latency</a:t>
            </a:r>
          </a:p>
          <a:p>
            <a:r>
              <a:rPr lang="en-US">
                <a:latin typeface="Calibri" panose="020F0502020204030204" pitchFamily="34" charset="0"/>
              </a:rPr>
              <a:t>Firebase Auth: email/password and Google sign-in, ID tokens verified server-side per request</a:t>
            </a:r>
          </a:p>
        </p:txBody>
      </p:sp>
    </p:spTree>
    <p:extLst>
      <p:ext uri="{BB962C8B-B14F-4D97-AF65-F5344CB8AC3E}">
        <p14:creationId xmlns:p14="http://schemas.microsoft.com/office/powerpoint/2010/main" val="37910127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B83ED-3C5D-060D-4C63-61B0353DC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</a:rPr>
              <a:t>Google Technology Stack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39BF1C-AEEE-B8EB-9B89-372134725A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>
                <a:latin typeface="Calibri" panose="020F0502020204030204" pitchFamily="34" charset="0"/>
              </a:rPr>
              <a:t>Vertex AI Gemini 2.5 - multimodal reasoning for parsing, legal analysis, fraud detection, report synthesis</a:t>
            </a:r>
          </a:p>
          <a:p>
            <a:r>
              <a:rPr lang="en-US">
                <a:latin typeface="Calibri" panose="020F0502020204030204" pitchFamily="34" charset="0"/>
              </a:rPr>
              <a:t>Cloud Run - serverless container hosting for FastAPI backend and Next.js frontend; auto-scales per request</a:t>
            </a:r>
          </a:p>
          <a:p>
            <a:r>
              <a:rPr lang="en-US">
                <a:latin typeface="Calibri" panose="020F0502020204030204" pitchFamily="34" charset="0"/>
              </a:rPr>
              <a:t>Cloud Storage - signed-URL storage for uploaded land documents</a:t>
            </a:r>
          </a:p>
          <a:p>
            <a:r>
              <a:rPr lang="en-US">
                <a:latin typeface="Calibri" panose="020F0502020204030204" pitchFamily="34" charset="0"/>
              </a:rPr>
              <a:t>Firestore - document database for analysis state, bundles, findings, audit trail</a:t>
            </a:r>
          </a:p>
          <a:p>
            <a:r>
              <a:rPr lang="en-US">
                <a:latin typeface="Calibri" panose="020F0502020204030204" pitchFamily="34" charset="0"/>
              </a:rPr>
              <a:t>Firebase Authentication - email/password and Google sign-in with secure tokens to the backend</a:t>
            </a:r>
          </a:p>
          <a:p>
            <a:r>
              <a:rPr lang="en-US">
                <a:latin typeface="Calibri" panose="020F0502020204030204" pitchFamily="34" charset="0"/>
              </a:rPr>
              <a:t>Cloud Build - GitHub push triggers Docker build, image push, Cloud Run deploy</a:t>
            </a:r>
          </a:p>
          <a:p>
            <a:r>
              <a:rPr lang="en-US">
                <a:latin typeface="Calibri" panose="020F0502020204030204" pitchFamily="34" charset="0"/>
              </a:rPr>
              <a:t>Artifact Registry - container image storage for backend and frontend</a:t>
            </a:r>
          </a:p>
          <a:p>
            <a:r>
              <a:rPr lang="en-US">
                <a:latin typeface="Calibri" panose="020F0502020204030204" pitchFamily="34" charset="0"/>
              </a:rPr>
              <a:t>Secret Manager - Gemini API keys and Firebase admin credentials at rest</a:t>
            </a:r>
          </a:p>
          <a:p>
            <a:r>
              <a:rPr lang="en-US">
                <a:latin typeface="Calibri" panose="020F0502020204030204" pitchFamily="34" charset="0"/>
              </a:rPr>
              <a:t>Cloud Logging &amp; Monitoring - centralised structured logs, latency metrics, error alerting</a:t>
            </a:r>
          </a:p>
          <a:p>
            <a:r>
              <a:rPr lang="en-US">
                <a:latin typeface="Calibri" panose="020F0502020204030204" pitchFamily="34" charset="0"/>
              </a:rPr>
              <a:t>IAM - least-privilege service accounts for Cloud Run, Firestore, and GCS</a:t>
            </a:r>
          </a:p>
        </p:txBody>
      </p:sp>
    </p:spTree>
    <p:extLst>
      <p:ext uri="{BB962C8B-B14F-4D97-AF65-F5344CB8AC3E}">
        <p14:creationId xmlns:p14="http://schemas.microsoft.com/office/powerpoint/2010/main" val="4091057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10B19-AA87-2698-6795-3AF60D752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</a:rPr>
              <a:t>How did we arrive at this solution?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4A4574-0314-BC89-FDB1-8A5FFBD603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>
                <a:latin typeface="Calibri" panose="020F0502020204030204" pitchFamily="34" charset="0"/>
              </a:rPr>
              <a:t>Problem observed: Indian land transactions involve 8-10 documents per deal; buyers cannot verify them alone</a:t>
            </a:r>
          </a:p>
          <a:p>
            <a:r>
              <a:rPr lang="en-US" sz="1800">
                <a:latin typeface="Calibri" panose="020F0502020204030204" pitchFamily="34" charset="0"/>
              </a:rPr>
              <a:t>Lawyers are expensive and slow; fraud patterns (Roshni Act, tribal land, benami) are hard to spot manually</a:t>
            </a:r>
          </a:p>
          <a:p>
            <a:r>
              <a:rPr lang="en-US" sz="1800">
                <a:latin typeface="Calibri" panose="020F0502020204030204" pitchFamily="34" charset="0"/>
              </a:rPr>
              <a:t>Why an AI agent: Gemini 2.5 reads multi-page PDFs natively and extracts structured fields with high accuracy</a:t>
            </a:r>
          </a:p>
          <a:p>
            <a:r>
              <a:rPr lang="en-US" sz="1800">
                <a:latin typeface="Calibri" panose="020F0502020204030204" pitchFamily="34" charset="0"/>
              </a:rPr>
              <a:t>A multi-agent layout runs parser, legal, fraud, and report agents in parallel with focused prompts</a:t>
            </a:r>
          </a:p>
          <a:p>
            <a:r>
              <a:rPr lang="en-US" sz="1800">
                <a:latin typeface="Calibri" panose="020F0502020204030204" pitchFamily="34" charset="0"/>
              </a:rPr>
              <a:t>Findings are consolidated and graded, so the user gets a lawyer-style summary, not raw text</a:t>
            </a:r>
          </a:p>
          <a:p>
            <a:r>
              <a:rPr lang="en-US" sz="1800">
                <a:latin typeface="Calibri" panose="020F0502020204030204" pitchFamily="34" charset="0"/>
              </a:rPr>
              <a:t>Why Google Cloud: Vertex AI Gemini gives best-in-class multimodal reasoning without managing models ourselves</a:t>
            </a:r>
          </a:p>
          <a:p>
            <a:r>
              <a:rPr lang="en-US" sz="1800">
                <a:latin typeface="Calibri" panose="020F0502020204030204" pitchFamily="34" charset="0"/>
              </a:rPr>
              <a:t>Cloud Run + Firestore scales from one document to thousands without infra work</a:t>
            </a:r>
          </a:p>
          <a:p>
            <a:r>
              <a:rPr lang="en-US" sz="1800">
                <a:latin typeface="Calibri" panose="020F0502020204030204" pitchFamily="34" charset="0"/>
              </a:rPr>
              <a:t>Firebase Auth + IAM gives a clean security boundary for sensitive land data</a:t>
            </a:r>
          </a:p>
        </p:txBody>
      </p:sp>
    </p:spTree>
    <p:extLst>
      <p:ext uri="{BB962C8B-B14F-4D97-AF65-F5344CB8AC3E}">
        <p14:creationId xmlns:p14="http://schemas.microsoft.com/office/powerpoint/2010/main" val="9337128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7A635-3B0B-5130-5972-2DA00E5A0C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</a:rPr>
              <a:t>Thank 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FAB935-F211-7144-86B6-A5028D19A61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</a:rPr>
              <a:t>Landshield - verify your land. Before you sign.</a:t>
            </a:r>
          </a:p>
        </p:txBody>
      </p:sp>
    </p:spTree>
    <p:extLst>
      <p:ext uri="{BB962C8B-B14F-4D97-AF65-F5344CB8AC3E}">
        <p14:creationId xmlns:p14="http://schemas.microsoft.com/office/powerpoint/2010/main" val="29670470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0819fa7-4367-4500-ba88-dd630d977609}" enabled="1" method="Standard" siteId="{63ce7d59-2f3e-42cd-a8cc-be764cff5eb6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1281</Words>
  <Application>Microsoft Office PowerPoint</Application>
  <PresentationFormat>Custom</PresentationFormat>
  <Paragraphs>129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Office Theme</vt:lpstr>
      <vt:lpstr>Landshield</vt:lpstr>
      <vt:lpstr>Team &amp; Use Case</vt:lpstr>
      <vt:lpstr>Solution Design</vt:lpstr>
      <vt:lpstr>Solution Architecture</vt:lpstr>
      <vt:lpstr>Data Flow</vt:lpstr>
      <vt:lpstr>Flow Diagram</vt:lpstr>
      <vt:lpstr>Agent Design</vt:lpstr>
      <vt:lpstr>Agent Details</vt:lpstr>
      <vt:lpstr>Deployment</vt:lpstr>
      <vt:lpstr>Google Technology Stack</vt:lpstr>
      <vt:lpstr>How did we arrive at this solution?</vt:lpstr>
      <vt:lpstr>Thank You</vt:lpstr>
    </vt:vector>
  </TitlesOfParts>
  <Company>Infosys Limited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Abhishek Partap Singh</dc:creator>
  <cp:lastModifiedBy>Abhishek Partap Singh</cp:lastModifiedBy>
  <cp:revision>1</cp:revision>
  <dcterms:created xsi:type="dcterms:W3CDTF">2026-05-20T15:26:39Z</dcterms:created>
  <dcterms:modified xsi:type="dcterms:W3CDTF">2026-05-20T15:26:39Z</dcterms:modified>
</cp:coreProperties>
</file>