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718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959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97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1012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469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249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62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642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352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75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85728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BC4C-E21F-D08F-A0C3-27632634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86217-A709-1F9D-3776-D1A287124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1CD7F-BBE9-2B64-6197-2B8CA5FC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E7AAD-3F30-EC84-F39D-4D32F080A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83B99-C521-C5CC-0E62-91FCE28EE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224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E2997-B109-4CE4-AFB1-78F134803C95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B5A31E5-CCDF-45E1-B52C-D30857F2ECD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819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17AC9-517C-58C0-438C-E0AD5E0D39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Landshield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6BE1BF-09E0-FDF2-51B0-FF401654FD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AI-powered due diligence for Indian land documents</a:t>
            </a:r>
          </a:p>
          <a:p>
            <a:r>
              <a:rPr lang="en-US">
                <a:latin typeface="Calibri" panose="020F0502020204030204" pitchFamily="34" charset="0"/>
              </a:rPr>
              <a:t>Infosys Gemini Hackathon 2026 - Team Submission</a:t>
            </a:r>
          </a:p>
        </p:txBody>
      </p:sp>
    </p:spTree>
    <p:extLst>
      <p:ext uri="{BB962C8B-B14F-4D97-AF65-F5344CB8AC3E}">
        <p14:creationId xmlns:p14="http://schemas.microsoft.com/office/powerpoint/2010/main" val="3251387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F97A2-78F7-1512-CD72-25F23D72C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Team &amp; Use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460256-12E8-A170-6640-20E504B8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Team Landshield - Abhishek Partap S - DU: AI Altitude</a:t>
            </a:r>
          </a:p>
          <a:p>
            <a:r>
              <a:rPr lang="en-US" sz="1800">
                <a:latin typeface="Calibri" panose="020F0502020204030204" pitchFamily="34" charset="0"/>
              </a:rPr>
              <a:t>Domain: Real Estate and Legal Tech - verifying land documents for Indian buyers</a:t>
            </a:r>
          </a:p>
          <a:p>
            <a:r>
              <a:rPr lang="en-US" sz="1800">
                <a:latin typeface="Calibri" panose="020F0502020204030204" pitchFamily="34" charset="0"/>
              </a:rPr>
              <a:t>Problem: buying land in India needs 8 to 10 documents - one wrong paper and the buyer loses everything</a:t>
            </a:r>
          </a:p>
          <a:p>
            <a:r>
              <a:rPr lang="en-US" sz="1800">
                <a:latin typeface="Calibri" panose="020F0502020204030204" pitchFamily="34" charset="0"/>
              </a:rPr>
              <a:t>Solution: an AI assistant that reads the full bundle - sale deed, EC, mutation, tax receipt, building plan</a:t>
            </a:r>
          </a:p>
          <a:p>
            <a:r>
              <a:rPr lang="en-US" sz="1800">
                <a:latin typeface="Calibri" panose="020F0502020204030204" pitchFamily="34" charset="0"/>
              </a:rPr>
              <a:t>It checks the documents against Indian land law and flags fraud signs in plain language</a:t>
            </a:r>
          </a:p>
          <a:p>
            <a:r>
              <a:rPr lang="en-US" sz="1800">
                <a:latin typeface="Calibri" panose="020F0502020204030204" pitchFamily="34" charset="0"/>
              </a:rPr>
              <a:t>Outcome: the buyer gets a clear Go, Clarify or Stop answer in under a minute, not weeks</a:t>
            </a:r>
          </a:p>
        </p:txBody>
      </p:sp>
    </p:spTree>
    <p:extLst>
      <p:ext uri="{BB962C8B-B14F-4D97-AF65-F5344CB8AC3E}">
        <p14:creationId xmlns:p14="http://schemas.microsoft.com/office/powerpoint/2010/main" val="1917626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E825B-F72E-3005-A28C-2E59E740B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Solution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99AF65-3BF3-8B7E-39D8-8BEA070BD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>
                <a:latin typeface="Calibri" panose="020F0502020204030204" pitchFamily="34" charset="0"/>
              </a:rPr>
              <a:t>Orchestrator: a backend that takes the documents and runs the four AI agents in order</a:t>
            </a:r>
          </a:p>
          <a:p>
            <a:r>
              <a:rPr lang="en-US">
                <a:latin typeface="Calibri" panose="020F0502020204030204" pitchFamily="34" charset="0"/>
              </a:rPr>
              <a:t>Parser Agent: reads each PDF and pulls out names, area, dates, stamp duty and registration details</a:t>
            </a:r>
          </a:p>
          <a:p>
            <a:r>
              <a:rPr lang="en-US">
                <a:latin typeface="Calibri" panose="020F0502020204030204" pitchFamily="34" charset="0"/>
              </a:rPr>
              <a:t>Legal Agent: checks if the documents follow Indian land law and flags any non-compliance</a:t>
            </a:r>
          </a:p>
          <a:p>
            <a:r>
              <a:rPr lang="en-US">
                <a:latin typeface="Calibri" panose="020F0502020204030204" pitchFamily="34" charset="0"/>
              </a:rPr>
              <a:t>Fraud Agent: looks for red flags like name mismatches, broken ownership chains and undervaluation</a:t>
            </a:r>
          </a:p>
          <a:p>
            <a:r>
              <a:rPr lang="en-US">
                <a:latin typeface="Calibri" panose="020F0502020204030204" pitchFamily="34" charset="0"/>
              </a:rPr>
              <a:t>Report Agent: combines all findings into a short summary with a severity grade and next steps</a:t>
            </a:r>
          </a:p>
          <a:p>
            <a:r>
              <a:rPr lang="en-US">
                <a:latin typeface="Calibri" panose="020F0502020204030204" pitchFamily="34" charset="0"/>
              </a:rPr>
              <a:t>Frontend: a simple web app that shows live progress and the final report, secured by Firebase login</a:t>
            </a:r>
          </a:p>
          <a:p>
            <a:r>
              <a:rPr lang="en-US">
                <a:latin typeface="Calibri" panose="020F0502020204030204" pitchFamily="34" charset="0"/>
              </a:rPr>
              <a:t>Storage: documents in Cloud Storage, results and audit trail in Firestore</a:t>
            </a:r>
          </a:p>
          <a:p>
            <a:r>
              <a:rPr lang="en-US">
                <a:latin typeface="Calibri" panose="020F0502020204030204" pitchFamily="34" charset="0"/>
              </a:rPr>
              <a:t>Everything is monitored: logs, latency and errors are tracked in Google Cloud Monitoring</a:t>
            </a:r>
          </a:p>
        </p:txBody>
      </p:sp>
    </p:spTree>
    <p:extLst>
      <p:ext uri="{BB962C8B-B14F-4D97-AF65-F5344CB8AC3E}">
        <p14:creationId xmlns:p14="http://schemas.microsoft.com/office/powerpoint/2010/main" val="112257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ACFB7-70DA-1DCD-360C-5CBCF48C2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Solution Architecture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CD40AB-5B64-0C44-75B4-E17F164FE59B}"/>
              </a:ext>
            </a:extLst>
          </p:cNvPr>
          <p:cNvSpPr/>
          <p:nvPr/>
        </p:nvSpPr>
        <p:spPr>
          <a:xfrm>
            <a:off x="508000" y="1524000"/>
            <a:ext cx="11176000" cy="6350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PRESENTATION</a:t>
            </a:r>
          </a:p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Next.js web app on Cloud Run - login, upload, live progress, final report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0C2F08-399A-39AA-D5B0-911C70858CAF}"/>
              </a:ext>
            </a:extLst>
          </p:cNvPr>
          <p:cNvSpPr/>
          <p:nvPr/>
        </p:nvSpPr>
        <p:spPr>
          <a:xfrm>
            <a:off x="508000" y="2286000"/>
            <a:ext cx="11176000" cy="6350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ORCHESTRATION</a:t>
            </a:r>
          </a:p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FastAPI backend on Cloud Run - runs the agents, streams progress, saves results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10A160D-A6FA-D493-4CF6-AB6FEE4A975F}"/>
              </a:ext>
            </a:extLst>
          </p:cNvPr>
          <p:cNvSpPr/>
          <p:nvPr/>
        </p:nvSpPr>
        <p:spPr>
          <a:xfrm>
            <a:off x="508000" y="3048000"/>
            <a:ext cx="11176000" cy="1270000"/>
          </a:xfrm>
          <a:prstGeom prst="roundRect">
            <a:avLst/>
          </a:prstGeom>
          <a:solidFill>
            <a:srgbClr val="FAF3DD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01600" rIns="50800" bIns="25400" rtlCol="0" anchor="t"/>
          <a:lstStyle/>
          <a:p>
            <a:r>
              <a:rPr lang="en-US" sz="1100" b="1">
                <a:solidFill>
                  <a:srgbClr val="B8860B"/>
                </a:solidFill>
                <a:latin typeface="Calibri" panose="020F0502020204030204" pitchFamily="34" charset="0"/>
              </a:rPr>
              <a:t>AGENTS (GEMINI 2.5-FLASH)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37E7E6D-0178-600E-8921-E109CE594CDF}"/>
              </a:ext>
            </a:extLst>
          </p:cNvPr>
          <p:cNvSpPr/>
          <p:nvPr/>
        </p:nvSpPr>
        <p:spPr>
          <a:xfrm>
            <a:off x="762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Parser</a:t>
            </a:r>
          </a:p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1FAB30E-D6A5-50D1-3402-EABD47436EF2}"/>
              </a:ext>
            </a:extLst>
          </p:cNvPr>
          <p:cNvSpPr/>
          <p:nvPr/>
        </p:nvSpPr>
        <p:spPr>
          <a:xfrm>
            <a:off x="3429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Legal Rules</a:t>
            </a:r>
          </a:p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9EFAF-C565-C93E-AA21-CE7B224C303E}"/>
              </a:ext>
            </a:extLst>
          </p:cNvPr>
          <p:cNvSpPr/>
          <p:nvPr/>
        </p:nvSpPr>
        <p:spPr>
          <a:xfrm>
            <a:off x="6096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Fraud Detection</a:t>
            </a:r>
          </a:p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E06A8F4-A78B-3F5C-7964-17A9152A47A0}"/>
              </a:ext>
            </a:extLst>
          </p:cNvPr>
          <p:cNvSpPr/>
          <p:nvPr/>
        </p:nvSpPr>
        <p:spPr>
          <a:xfrm>
            <a:off x="8763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Report</a:t>
            </a:r>
          </a:p>
          <a:p>
            <a:pPr algn="ctr"/>
            <a:r>
              <a:rPr lang="en-US" sz="12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FE0091-EBAC-6A46-F1E6-FC85D2D91068}"/>
              </a:ext>
            </a:extLst>
          </p:cNvPr>
          <p:cNvSpPr/>
          <p:nvPr/>
        </p:nvSpPr>
        <p:spPr>
          <a:xfrm>
            <a:off x="508000" y="4445000"/>
            <a:ext cx="5334000" cy="635000"/>
          </a:xfrm>
          <a:prstGeom prst="roundRect">
            <a:avLst/>
          </a:prstGeom>
          <a:solidFill>
            <a:srgbClr val="F0F4F8"/>
          </a:solidFill>
          <a:ln w="9525">
            <a:solidFill>
              <a:srgbClr val="B8C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DATA</a:t>
            </a:r>
          </a:p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Cloud Storage for PDFs - Firestore for results and audit log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AA3400-EDBD-28F8-4BD8-9DCDEB51DBBA}"/>
              </a:ext>
            </a:extLst>
          </p:cNvPr>
          <p:cNvSpPr/>
          <p:nvPr/>
        </p:nvSpPr>
        <p:spPr>
          <a:xfrm>
            <a:off x="6350000" y="4445000"/>
            <a:ext cx="5334000" cy="635000"/>
          </a:xfrm>
          <a:prstGeom prst="roundRect">
            <a:avLst/>
          </a:prstGeom>
          <a:solidFill>
            <a:srgbClr val="E6EDF3"/>
          </a:solidFill>
          <a:ln w="9525">
            <a:solidFill>
              <a:srgbClr val="C8D5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SECURITY and OPERATIONS</a:t>
            </a:r>
          </a:p>
          <a:p>
            <a:r>
              <a:rPr lang="en-US" sz="1100">
                <a:solidFill>
                  <a:srgbClr val="102A43"/>
                </a:solidFill>
                <a:latin typeface="Calibri" panose="020F0502020204030204" pitchFamily="34" charset="0"/>
              </a:rPr>
              <a:t>Logging, Monitoring, IAM, Secret Manager, Artifact Registry</a:t>
            </a:r>
          </a:p>
        </p:txBody>
      </p:sp>
    </p:spTree>
    <p:extLst>
      <p:ext uri="{BB962C8B-B14F-4D97-AF65-F5344CB8AC3E}">
        <p14:creationId xmlns:p14="http://schemas.microsoft.com/office/powerpoint/2010/main" val="3265047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8168E-9A6F-2B24-6A17-F8647DD69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184A2-96B5-5AAE-BB02-B83B4842C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800">
                <a:latin typeface="Calibri" panose="020F0502020204030204" pitchFamily="34" charset="0"/>
              </a:rPr>
              <a:t>User logs in, picks the state and land type, and uploads the document bundle</a:t>
            </a:r>
          </a:p>
          <a:p>
            <a:r>
              <a:rPr lang="en-US" sz="1800">
                <a:latin typeface="Calibri" panose="020F0502020204030204" pitchFamily="34" charset="0"/>
              </a:rPr>
              <a:t>Files are saved to Cloud Storage and a new analysis record is created in Firestore</a:t>
            </a:r>
          </a:p>
          <a:p>
            <a:r>
              <a:rPr lang="en-US" sz="1800">
                <a:latin typeface="Calibri" panose="020F0502020204030204" pitchFamily="34" charset="0"/>
              </a:rPr>
              <a:t>Parser Agent reads each PDF and extracts the key facts</a:t>
            </a:r>
          </a:p>
          <a:p>
            <a:r>
              <a:rPr lang="en-US" sz="1800">
                <a:latin typeface="Calibri" panose="020F0502020204030204" pitchFamily="34" charset="0"/>
              </a:rPr>
              <a:t>Legal Agent and Fraud Agent run at the same time on those facts</a:t>
            </a:r>
          </a:p>
          <a:p>
            <a:r>
              <a:rPr lang="en-US" sz="1800">
                <a:latin typeface="Calibri" panose="020F0502020204030204" pitchFamily="34" charset="0"/>
              </a:rPr>
              <a:t>Findings are deduplicated and graded as Low, Medium, High or Critical</a:t>
            </a:r>
          </a:p>
          <a:p>
            <a:r>
              <a:rPr lang="en-US" sz="1800">
                <a:latin typeface="Calibri" panose="020F0502020204030204" pitchFamily="34" charset="0"/>
              </a:rPr>
              <a:t>Report Agent writes a short summary with clear next steps</a:t>
            </a:r>
          </a:p>
          <a:p>
            <a:r>
              <a:rPr lang="en-US" sz="1800">
                <a:latin typeface="Calibri" panose="020F0502020204030204" pitchFamily="34" charset="0"/>
              </a:rPr>
              <a:t>Backend streams progress live; frontend shows the final report</a:t>
            </a:r>
          </a:p>
          <a:p>
            <a:r>
              <a:rPr lang="en-US" sz="1800">
                <a:latin typeface="Calibri" panose="020F0502020204030204" pitchFamily="34" charset="0"/>
              </a:rPr>
              <a:t>Every step is logged and monitored in Google Cloud</a:t>
            </a:r>
          </a:p>
        </p:txBody>
      </p:sp>
    </p:spTree>
    <p:extLst>
      <p:ext uri="{BB962C8B-B14F-4D97-AF65-F5344CB8AC3E}">
        <p14:creationId xmlns:p14="http://schemas.microsoft.com/office/powerpoint/2010/main" val="3528867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00DBD-1325-1D11-FFB0-76F5A4645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Flow Diagram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7067C4-25E0-15E5-A7D6-C3D22053718F}"/>
              </a:ext>
            </a:extLst>
          </p:cNvPr>
          <p:cNvSpPr/>
          <p:nvPr/>
        </p:nvSpPr>
        <p:spPr>
          <a:xfrm>
            <a:off x="508000" y="1524000"/>
            <a:ext cx="1778000" cy="7112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User</a:t>
            </a:r>
          </a:p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Browser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C7447C-B28C-ED91-6859-FD7553678200}"/>
              </a:ext>
            </a:extLst>
          </p:cNvPr>
          <p:cNvSpPr/>
          <p:nvPr/>
        </p:nvSpPr>
        <p:spPr>
          <a:xfrm>
            <a:off x="2603500" y="1524000"/>
            <a:ext cx="1778000" cy="7112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Frontend</a:t>
            </a:r>
          </a:p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Next.js on Cloud Run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A3CF10-786C-BB3E-DE94-D3DAB8C2D92B}"/>
              </a:ext>
            </a:extLst>
          </p:cNvPr>
          <p:cNvSpPr/>
          <p:nvPr/>
        </p:nvSpPr>
        <p:spPr>
          <a:xfrm>
            <a:off x="4699000" y="1524000"/>
            <a:ext cx="1778000" cy="7112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Backend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FastAPI on Cloud Run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675D81-7009-C592-9737-03262BC4CB87}"/>
              </a:ext>
            </a:extLst>
          </p:cNvPr>
          <p:cNvSpPr/>
          <p:nvPr/>
        </p:nvSpPr>
        <p:spPr>
          <a:xfrm>
            <a:off x="6794500" y="1524000"/>
            <a:ext cx="1778000" cy="711200"/>
          </a:xfrm>
          <a:prstGeom prst="roundRect">
            <a:avLst/>
          </a:prstGeom>
          <a:solidFill>
            <a:srgbClr val="F0F4F8"/>
          </a:solidFill>
          <a:ln w="9525">
            <a:solidFill>
              <a:srgbClr val="B8C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Documents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Cloud Storage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9E90C0-4D68-535B-5CFC-C745710AC187}"/>
              </a:ext>
            </a:extLst>
          </p:cNvPr>
          <p:cNvSpPr/>
          <p:nvPr/>
        </p:nvSpPr>
        <p:spPr>
          <a:xfrm>
            <a:off x="8890000" y="1524000"/>
            <a:ext cx="1778000" cy="711200"/>
          </a:xfrm>
          <a:prstGeom prst="roundRect">
            <a:avLst/>
          </a:prstGeom>
          <a:solidFill>
            <a:srgbClr val="F0F4F8"/>
          </a:solidFill>
          <a:ln w="9525">
            <a:solidFill>
              <a:srgbClr val="B8C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Results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Firestore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73594E-22A1-FF2D-5F4F-1FE1F9728925}"/>
              </a:ext>
            </a:extLst>
          </p:cNvPr>
          <p:cNvCxnSpPr/>
          <p:nvPr/>
        </p:nvCxnSpPr>
        <p:spPr>
          <a:xfrm>
            <a:off x="2286000" y="1879600"/>
            <a:ext cx="317500" cy="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0E800C4-BDCC-0306-2EFC-F27390E48B31}"/>
              </a:ext>
            </a:extLst>
          </p:cNvPr>
          <p:cNvCxnSpPr/>
          <p:nvPr/>
        </p:nvCxnSpPr>
        <p:spPr>
          <a:xfrm>
            <a:off x="4381500" y="1879600"/>
            <a:ext cx="317500" cy="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D165C0-ECDD-65B6-5F10-820921425FE2}"/>
              </a:ext>
            </a:extLst>
          </p:cNvPr>
          <p:cNvCxnSpPr/>
          <p:nvPr/>
        </p:nvCxnSpPr>
        <p:spPr>
          <a:xfrm>
            <a:off x="6477000" y="1879600"/>
            <a:ext cx="317500" cy="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310957-AB02-6DF4-4EEA-C812003A284E}"/>
              </a:ext>
            </a:extLst>
          </p:cNvPr>
          <p:cNvCxnSpPr/>
          <p:nvPr/>
        </p:nvCxnSpPr>
        <p:spPr>
          <a:xfrm>
            <a:off x="8572500" y="1879600"/>
            <a:ext cx="317500" cy="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73EF23-00BF-1C64-D9BF-1E36EBB9CDB9}"/>
              </a:ext>
            </a:extLst>
          </p:cNvPr>
          <p:cNvCxnSpPr/>
          <p:nvPr/>
        </p:nvCxnSpPr>
        <p:spPr>
          <a:xfrm>
            <a:off x="5588000" y="2235200"/>
            <a:ext cx="0" cy="38100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5F2E8D6-A8EE-BF10-2C3F-8F59349D8F39}"/>
              </a:ext>
            </a:extLst>
          </p:cNvPr>
          <p:cNvSpPr/>
          <p:nvPr/>
        </p:nvSpPr>
        <p:spPr>
          <a:xfrm>
            <a:off x="1143000" y="2679700"/>
            <a:ext cx="2286000" cy="711200"/>
          </a:xfrm>
          <a:prstGeom prst="roundRect">
            <a:avLst/>
          </a:prstGeom>
          <a:solidFill>
            <a:srgbClr val="FAF3DD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Parser Agent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C2DB3F-1A44-0CAC-ED22-3905145B7BE9}"/>
              </a:ext>
            </a:extLst>
          </p:cNvPr>
          <p:cNvSpPr/>
          <p:nvPr/>
        </p:nvSpPr>
        <p:spPr>
          <a:xfrm>
            <a:off x="3683000" y="2679700"/>
            <a:ext cx="2286000" cy="711200"/>
          </a:xfrm>
          <a:prstGeom prst="roundRect">
            <a:avLst/>
          </a:prstGeom>
          <a:solidFill>
            <a:srgbClr val="FAF3DD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Legal Agent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A277A21-9B74-254D-F648-CD7C1B8D526F}"/>
              </a:ext>
            </a:extLst>
          </p:cNvPr>
          <p:cNvSpPr/>
          <p:nvPr/>
        </p:nvSpPr>
        <p:spPr>
          <a:xfrm>
            <a:off x="6223000" y="2679700"/>
            <a:ext cx="2286000" cy="711200"/>
          </a:xfrm>
          <a:prstGeom prst="roundRect">
            <a:avLst/>
          </a:prstGeom>
          <a:solidFill>
            <a:srgbClr val="FAF3DD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Fraud Agent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DA2943D-369C-7219-35A8-73771D957F14}"/>
              </a:ext>
            </a:extLst>
          </p:cNvPr>
          <p:cNvSpPr/>
          <p:nvPr/>
        </p:nvSpPr>
        <p:spPr>
          <a:xfrm>
            <a:off x="8763000" y="2679700"/>
            <a:ext cx="2286000" cy="711200"/>
          </a:xfrm>
          <a:prstGeom prst="roundRect">
            <a:avLst/>
          </a:prstGeom>
          <a:solidFill>
            <a:srgbClr val="FAF3DD"/>
          </a:solidFill>
          <a:ln w="9525">
            <a:solidFill>
              <a:srgbClr val="DAB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Report Agent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EC4C490-5A75-899E-35C5-92A20CA591D2}"/>
              </a:ext>
            </a:extLst>
          </p:cNvPr>
          <p:cNvCxnSpPr/>
          <p:nvPr/>
        </p:nvCxnSpPr>
        <p:spPr>
          <a:xfrm>
            <a:off x="6096000" y="3390900"/>
            <a:ext cx="0" cy="31750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70FA9F0-3283-F6F4-5F78-B34C5B46C580}"/>
              </a:ext>
            </a:extLst>
          </p:cNvPr>
          <p:cNvSpPr/>
          <p:nvPr/>
        </p:nvSpPr>
        <p:spPr>
          <a:xfrm>
            <a:off x="3556000" y="3708400"/>
            <a:ext cx="5080000" cy="635000"/>
          </a:xfrm>
          <a:prstGeom prst="roundRect">
            <a:avLst/>
          </a:prstGeom>
          <a:solidFill>
            <a:srgbClr val="E6EDF3"/>
          </a:solidFill>
          <a:ln w="9525">
            <a:solidFill>
              <a:srgbClr val="C8D5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Combine and grade findings</a:t>
            </a:r>
          </a:p>
          <a:p>
            <a:pPr algn="ctr"/>
            <a:r>
              <a:rPr lang="en-US" sz="1100" b="1">
                <a:solidFill>
                  <a:srgbClr val="102A43"/>
                </a:solidFill>
                <a:latin typeface="Calibri" panose="020F0502020204030204" pitchFamily="34" charset="0"/>
              </a:rPr>
              <a:t>deduplicate - severity: Low, Medium, High, Critical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9623FC3-58FC-21D9-13CB-512FF3F8D683}"/>
              </a:ext>
            </a:extLst>
          </p:cNvPr>
          <p:cNvCxnSpPr/>
          <p:nvPr/>
        </p:nvCxnSpPr>
        <p:spPr>
          <a:xfrm>
            <a:off x="6096000" y="4343400"/>
            <a:ext cx="0" cy="127000"/>
          </a:xfrm>
          <a:prstGeom prst="straightConnector1">
            <a:avLst/>
          </a:prstGeom>
          <a:ln w="19050">
            <a:solidFill>
              <a:srgbClr val="4A64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C5EABC6-8997-527F-A1C9-7B2AB614D5D1}"/>
              </a:ext>
            </a:extLst>
          </p:cNvPr>
          <p:cNvSpPr/>
          <p:nvPr/>
        </p:nvSpPr>
        <p:spPr>
          <a:xfrm>
            <a:off x="3556000" y="4470400"/>
            <a:ext cx="5080000" cy="584200"/>
          </a:xfrm>
          <a:prstGeom prst="roundRect">
            <a:avLst/>
          </a:prstGeom>
          <a:solidFill>
            <a:srgbClr val="EAF1F8"/>
          </a:solidFill>
          <a:ln w="9525">
            <a:solidFill>
              <a:srgbClr val="C8D8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Final report streamed live to the user</a:t>
            </a:r>
          </a:p>
          <a:p>
            <a:pPr algn="ctr"/>
            <a:r>
              <a:rPr lang="en-US" sz="1100" b="1">
                <a:solidFill>
                  <a:srgbClr val="1F3A5F"/>
                </a:solidFill>
                <a:latin typeface="Calibri" panose="020F0502020204030204" pitchFamily="34" charset="0"/>
              </a:rPr>
              <a:t>property facts - findings - checklist - parties</a:t>
            </a:r>
          </a:p>
        </p:txBody>
      </p:sp>
    </p:spTree>
    <p:extLst>
      <p:ext uri="{BB962C8B-B14F-4D97-AF65-F5344CB8AC3E}">
        <p14:creationId xmlns:p14="http://schemas.microsoft.com/office/powerpoint/2010/main" val="79556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650E-CF1D-C580-05D8-777DDFA5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Agent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DEB98-966B-7884-19F3-E3B35EE53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800">
                <a:latin typeface="Calibri" panose="020F0502020204030204" pitchFamily="34" charset="0"/>
              </a:rPr>
              <a:t>One orchestrator coordinates everything - each agent has only one job</a:t>
            </a:r>
          </a:p>
          <a:p>
            <a:r>
              <a:rPr lang="en-US" sz="1800">
                <a:latin typeface="Calibri" panose="020F0502020204030204" pitchFamily="34" charset="0"/>
              </a:rPr>
              <a:t>Parser runs first; Legal and Fraud run in parallel; Report runs last</a:t>
            </a:r>
          </a:p>
          <a:p>
            <a:r>
              <a:rPr lang="en-US" sz="1800">
                <a:latin typeface="Calibri" panose="020F0502020204030204" pitchFamily="34" charset="0"/>
              </a:rPr>
              <a:t>Every agent uses Gemini 2.5 Flash with its own focused prompt</a:t>
            </a:r>
          </a:p>
          <a:p>
            <a:r>
              <a:rPr lang="en-US" sz="1800">
                <a:latin typeface="Calibri" panose="020F0502020204030204" pitchFamily="34" charset="0"/>
              </a:rPr>
              <a:t>Agents talk to each other through a shared JSON schema</a:t>
            </a:r>
          </a:p>
          <a:p>
            <a:r>
              <a:rPr lang="en-US" sz="1800">
                <a:latin typeface="Calibri" panose="020F0502020204030204" pitchFamily="34" charset="0"/>
              </a:rPr>
              <a:t>Parser reads the PDFs directly - no separate OCR step needed</a:t>
            </a:r>
          </a:p>
          <a:p>
            <a:r>
              <a:rPr lang="en-US" sz="1800">
                <a:latin typeface="Calibri" panose="020F0502020204030204" pitchFamily="34" charset="0"/>
              </a:rPr>
              <a:t>Stateless design means any single agent can be retried without redoing the rest</a:t>
            </a:r>
          </a:p>
          <a:p>
            <a:r>
              <a:rPr lang="en-US" sz="1800">
                <a:latin typeface="Calibri" panose="020F0502020204030204" pitchFamily="34" charset="0"/>
              </a:rPr>
              <a:t>Today they run together for speed and lower cost</a:t>
            </a:r>
          </a:p>
          <a:p>
            <a:r>
              <a:rPr lang="en-US" sz="1800">
                <a:latin typeface="Calibri" panose="020F0502020204030204" pitchFamily="34" charset="0"/>
              </a:rPr>
              <a:t>Any one of them can later be split into its own Cloud Run service if we need to scale it</a:t>
            </a:r>
          </a:p>
        </p:txBody>
      </p:sp>
    </p:spTree>
    <p:extLst>
      <p:ext uri="{BB962C8B-B14F-4D97-AF65-F5344CB8AC3E}">
        <p14:creationId xmlns:p14="http://schemas.microsoft.com/office/powerpoint/2010/main" val="2874459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9771-4E41-97EC-7795-1C2CAD224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Agent Details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FB84DA3-4D6B-F44F-B641-81B118FF7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138905"/>
              </p:ext>
            </p:extLst>
          </p:nvPr>
        </p:nvGraphicFramePr>
        <p:xfrm>
          <a:off x="508000" y="1397000"/>
          <a:ext cx="111760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1606083994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341361676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543403098"/>
                    </a:ext>
                  </a:extLst>
                </a:gridCol>
              </a:tblGrid>
              <a:tr h="677333">
                <a:tc>
                  <a:txBody>
                    <a:bodyPr/>
                    <a:lstStyle/>
                    <a:p>
                      <a:r>
                        <a:rPr lang="en-US" b="1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Google service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849826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Takes the bundle, runs the agents, streams progress, saves results.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FastAPI on Cloud Run + Firestore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206408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Parser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Reads each PDF and pulls out parties, area, stamp duty, dates and registration details.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558906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Legal Rules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Checks the documents against Indian land law and flags any non-compliance.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896642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Fraud Detection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Looks for red flags: name mismatches, broken ownership chain, missing signatures, undervaluation.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7642139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Report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Combines all findings into a short summary, grades severity, suggests next steps.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606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0997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FF8AA-E0E1-8DBD-35ED-DB6446D4A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Deployment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C5EFC-DAEE-F4CF-500E-0D0165D6D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Frontend and backend both run on Cloud Run as Docker containers</a:t>
            </a:r>
          </a:p>
          <a:p>
            <a:r>
              <a:rPr lang="en-US" sz="1800">
                <a:latin typeface="Calibri" panose="020F0502020204030204" pitchFamily="34" charset="0"/>
              </a:rPr>
              <a:t>Push to GitHub triggers Cloud Build to build the images and deploy automatically</a:t>
            </a:r>
          </a:p>
          <a:p>
            <a:r>
              <a:rPr lang="en-US" sz="1800">
                <a:latin typeface="Calibri" panose="020F0502020204030204" pitchFamily="34" charset="0"/>
              </a:rPr>
              <a:t>Docker images are stored in Artifact Registry with vulnerability scanning on</a:t>
            </a:r>
          </a:p>
          <a:p>
            <a:r>
              <a:rPr lang="en-US" sz="1800">
                <a:latin typeface="Calibri" panose="020F0502020204030204" pitchFamily="34" charset="0"/>
              </a:rPr>
              <a:t>Secrets (API keys, Firebase credentials) live in Secret Manager and are loaded at startup</a:t>
            </a:r>
          </a:p>
          <a:p>
            <a:r>
              <a:rPr lang="en-US" sz="1800">
                <a:latin typeface="Calibri" panose="020F0502020204030204" pitchFamily="34" charset="0"/>
              </a:rPr>
              <a:t>Uploaded documents go to Cloud Storage with short-lived signed URLs</a:t>
            </a:r>
          </a:p>
          <a:p>
            <a:r>
              <a:rPr lang="en-US" sz="1800">
                <a:latin typeface="Calibri" panose="020F0502020204030204" pitchFamily="34" charset="0"/>
              </a:rPr>
              <a:t>Analysis results and the audit log are stored in Firestore</a:t>
            </a:r>
          </a:p>
          <a:p>
            <a:r>
              <a:rPr lang="en-US" sz="1800">
                <a:latin typeface="Calibri" panose="020F0502020204030204" pitchFamily="34" charset="0"/>
              </a:rPr>
              <a:t>Cloud Run auto-scales from zero, so we only pay for what we use</a:t>
            </a:r>
          </a:p>
          <a:p>
            <a:r>
              <a:rPr lang="en-US" sz="1800">
                <a:latin typeface="Calibri" panose="020F0502020204030204" pitchFamily="34" charset="0"/>
              </a:rPr>
              <a:t>Each service has its own least-privilege IAM service account</a:t>
            </a:r>
          </a:p>
          <a:p>
            <a:r>
              <a:rPr lang="en-US" sz="1800">
                <a:latin typeface="Calibri" panose="020F0502020204030204" pitchFamily="34" charset="0"/>
              </a:rPr>
              <a:t>Logs and metrics are centralised in Cloud Logging and Monitoring with alerts</a:t>
            </a:r>
          </a:p>
          <a:p>
            <a:r>
              <a:rPr lang="en-US" sz="1800">
                <a:latin typeface="Calibri" panose="020F0502020204030204" pitchFamily="34" charset="0"/>
              </a:rPr>
              <a:t>Every request is protected by Firebase Authentication</a:t>
            </a:r>
          </a:p>
        </p:txBody>
      </p:sp>
    </p:spTree>
    <p:extLst>
      <p:ext uri="{BB962C8B-B14F-4D97-AF65-F5344CB8AC3E}">
        <p14:creationId xmlns:p14="http://schemas.microsoft.com/office/powerpoint/2010/main" val="759315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BCF7-009E-390D-BA5F-07C1092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Google Technology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F3E30-5402-CB47-9FF4-C5547AE0E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Vertex AI Gemini 2.5 - the AI brain that powers every agent</a:t>
            </a:r>
          </a:p>
          <a:p>
            <a:r>
              <a:rPr lang="en-US" sz="1800">
                <a:latin typeface="Calibri" panose="020F0502020204030204" pitchFamily="34" charset="0"/>
              </a:rPr>
              <a:t>Cloud Run - serverless hosting for the backend and the frontend</a:t>
            </a:r>
          </a:p>
          <a:p>
            <a:r>
              <a:rPr lang="en-US" sz="1800">
                <a:latin typeface="Calibri" panose="020F0502020204030204" pitchFamily="34" charset="0"/>
              </a:rPr>
              <a:t>Cloud Storage - keeps the uploaded land documents</a:t>
            </a:r>
          </a:p>
          <a:p>
            <a:r>
              <a:rPr lang="en-US" sz="1800">
                <a:latin typeface="Calibri" panose="020F0502020204030204" pitchFamily="34" charset="0"/>
              </a:rPr>
              <a:t>Firestore - stores analysis results and audit history</a:t>
            </a:r>
          </a:p>
          <a:p>
            <a:r>
              <a:rPr lang="en-US" sz="1800">
                <a:latin typeface="Calibri" panose="020F0502020204030204" pitchFamily="34" charset="0"/>
              </a:rPr>
              <a:t>Firebase Authentication - secure login for every user</a:t>
            </a:r>
          </a:p>
          <a:p>
            <a:r>
              <a:rPr lang="en-US" sz="1800">
                <a:latin typeface="Calibri" panose="020F0502020204030204" pitchFamily="34" charset="0"/>
              </a:rPr>
              <a:t>Cloud Build - automatic build and deploy on every git push</a:t>
            </a:r>
          </a:p>
          <a:p>
            <a:r>
              <a:rPr lang="en-US" sz="1800">
                <a:latin typeface="Calibri" panose="020F0502020204030204" pitchFamily="34" charset="0"/>
              </a:rPr>
              <a:t>Artifact Registry - stores our Docker images</a:t>
            </a:r>
          </a:p>
          <a:p>
            <a:r>
              <a:rPr lang="en-US" sz="1800">
                <a:latin typeface="Calibri" panose="020F0502020204030204" pitchFamily="34" charset="0"/>
              </a:rPr>
              <a:t>Secret Manager - keeps API keys and credentials safe</a:t>
            </a:r>
          </a:p>
          <a:p>
            <a:r>
              <a:rPr lang="en-US" sz="1800">
                <a:latin typeface="Calibri" panose="020F0502020204030204" pitchFamily="34" charset="0"/>
              </a:rPr>
              <a:t>Cloud Logging and Monitoring - shows how the app is performing</a:t>
            </a:r>
          </a:p>
          <a:p>
            <a:r>
              <a:rPr lang="en-US" sz="1800">
                <a:latin typeface="Calibri" panose="020F0502020204030204" pitchFamily="34" charset="0"/>
              </a:rPr>
              <a:t>IAM - controls what each service is allowed to do</a:t>
            </a:r>
          </a:p>
        </p:txBody>
      </p:sp>
    </p:spTree>
    <p:extLst>
      <p:ext uri="{BB962C8B-B14F-4D97-AF65-F5344CB8AC3E}">
        <p14:creationId xmlns:p14="http://schemas.microsoft.com/office/powerpoint/2010/main" val="1205382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8B67F-FBD3-4184-B8DE-06C843E82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How did we arrive at this solution?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F156E7-94BC-66B0-167B-2ED973D1A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Land deals in India use 8 to 10 documents - most buyers cannot verify them on their own</a:t>
            </a:r>
          </a:p>
          <a:p>
            <a:r>
              <a:rPr lang="en-US" sz="1800">
                <a:latin typeface="Calibri" panose="020F0502020204030204" pitchFamily="34" charset="0"/>
              </a:rPr>
              <a:t>Lawyers help, but are slow and expensive - and fraud patterns are hard to spot manually</a:t>
            </a:r>
          </a:p>
          <a:p>
            <a:r>
              <a:rPr lang="en-US" sz="1800">
                <a:latin typeface="Calibri" panose="020F0502020204030204" pitchFamily="34" charset="0"/>
              </a:rPr>
              <a:t>Gemini can read multi-page PDFs directly, which removes the need for any separate OCR step</a:t>
            </a:r>
          </a:p>
          <a:p>
            <a:r>
              <a:rPr lang="en-US" sz="1800">
                <a:latin typeface="Calibri" panose="020F0502020204030204" pitchFamily="34" charset="0"/>
              </a:rPr>
              <a:t>Splitting the job across small focused agents gave us better accuracy than one giant prompt</a:t>
            </a:r>
          </a:p>
          <a:p>
            <a:r>
              <a:rPr lang="en-US" sz="1800">
                <a:latin typeface="Calibri" panose="020F0502020204030204" pitchFamily="34" charset="0"/>
              </a:rPr>
              <a:t>Running the agents in parallel keeps the user experience fast</a:t>
            </a:r>
          </a:p>
          <a:p>
            <a:r>
              <a:rPr lang="en-US" sz="1800">
                <a:latin typeface="Calibri" panose="020F0502020204030204" pitchFamily="34" charset="0"/>
              </a:rPr>
              <a:t>Google Cloud gives us everything in one place - AI, hosting, storage, login and security</a:t>
            </a:r>
          </a:p>
          <a:p>
            <a:r>
              <a:rPr lang="en-US" sz="1800">
                <a:latin typeface="Calibri" panose="020F0502020204030204" pitchFamily="34" charset="0"/>
              </a:rPr>
              <a:t>End result: a non-expert buyer gets a clear answer in under a minute, not weeks</a:t>
            </a:r>
          </a:p>
        </p:txBody>
      </p:sp>
    </p:spTree>
    <p:extLst>
      <p:ext uri="{BB962C8B-B14F-4D97-AF65-F5344CB8AC3E}">
        <p14:creationId xmlns:p14="http://schemas.microsoft.com/office/powerpoint/2010/main" val="2211322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C0590-F077-414D-7AD5-464644BED5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08EFD-4430-5B7C-360F-7B5B061A6D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Landshield - verify your land. Before you sign.</a:t>
            </a:r>
          </a:p>
        </p:txBody>
      </p:sp>
    </p:spTree>
    <p:extLst>
      <p:ext uri="{BB962C8B-B14F-4D97-AF65-F5344CB8AC3E}">
        <p14:creationId xmlns:p14="http://schemas.microsoft.com/office/powerpoint/2010/main" val="409085728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1064</Words>
  <Application>Microsoft Office PowerPoint</Application>
  <PresentationFormat>Custom</PresentationFormat>
  <Paragraphs>129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Gill Sans MT</vt:lpstr>
      <vt:lpstr>Gallery</vt:lpstr>
      <vt:lpstr>Landshield</vt:lpstr>
      <vt:lpstr>Team &amp; Use Case</vt:lpstr>
      <vt:lpstr>Solution Design</vt:lpstr>
      <vt:lpstr>Solution Architecture</vt:lpstr>
      <vt:lpstr>Data Flow</vt:lpstr>
      <vt:lpstr>Flow Diagram</vt:lpstr>
      <vt:lpstr>Agent Design</vt:lpstr>
      <vt:lpstr>Agent Details</vt:lpstr>
      <vt:lpstr>Deployment</vt:lpstr>
      <vt:lpstr>Google Technology Stack</vt:lpstr>
      <vt:lpstr>How did we arrive at this solution?</vt:lpstr>
      <vt:lpstr>Thank You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Partap Singh</dc:creator>
  <cp:lastModifiedBy>Abhishek Partap Singh</cp:lastModifiedBy>
  <cp:revision>1</cp:revision>
  <dcterms:created xsi:type="dcterms:W3CDTF">2026-05-20T18:26:34Z</dcterms:created>
  <dcterms:modified xsi:type="dcterms:W3CDTF">2026-05-20T18:26:35Z</dcterms:modified>
</cp:coreProperties>
</file>