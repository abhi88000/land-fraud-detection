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69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33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14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1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08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6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49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66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05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230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E1F5-79C2-1397-5AC3-9CA0DC2E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004FB-1EC6-CCAB-5BA5-4E6DE2ED6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EF50D-7F40-AD55-33CB-22CCFD12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C1E9-62CB-4DC0-86AE-749DC319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B9062-3D47-5E9D-549A-54AFC2E9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1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3E295-28DF-4E71-9F53-D45207DE286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1970ED4-46CD-4B2B-B2B3-745DA35D2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13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80129-A7F3-4127-6A2D-84B3DF842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Landshield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4CEC4-8417-3B34-D251-AE71F5713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AI-powered due diligence for Indian land documents</a:t>
            </a:r>
          </a:p>
          <a:p>
            <a:r>
              <a:rPr lang="en-US">
                <a:latin typeface="Calibri" panose="020F0502020204030204" pitchFamily="34" charset="0"/>
              </a:rPr>
              <a:t>Infosys Gemini Hackathon 2026 - Team Submission</a:t>
            </a:r>
          </a:p>
        </p:txBody>
      </p:sp>
    </p:spTree>
    <p:extLst>
      <p:ext uri="{BB962C8B-B14F-4D97-AF65-F5344CB8AC3E}">
        <p14:creationId xmlns:p14="http://schemas.microsoft.com/office/powerpoint/2010/main" val="168121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67F9-C11D-515A-460E-8F2147221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Team &amp; Use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7420-A57B-1A32-29CD-A44CA36B3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>
                <a:latin typeface="Calibri" panose="020F0502020204030204" pitchFamily="34" charset="0"/>
              </a:rPr>
              <a:t>Team: Landshield - Member: Abhishek Partap S - DU: AI Altitude</a:t>
            </a:r>
          </a:p>
          <a:p>
            <a:r>
              <a:rPr lang="en-US" sz="1800">
                <a:latin typeface="Calibri" panose="020F0502020204030204" pitchFamily="34" charset="0"/>
              </a:rPr>
              <a:t>Use case: AI-powered land document verification for Indian buyers</a:t>
            </a:r>
          </a:p>
          <a:p>
            <a:r>
              <a:rPr lang="en-US" sz="1800">
                <a:latin typeface="Calibri" panose="020F0502020204030204" pitchFamily="34" charset="0"/>
              </a:rPr>
              <a:t>Domain: Real Estate / Legal Tech - Sub-domain: Document verification, fraud detection, due-diligence assistance</a:t>
            </a:r>
          </a:p>
          <a:p>
            <a:r>
              <a:rPr lang="en-US" sz="1800">
                <a:latin typeface="Calibri" panose="020F0502020204030204" pitchFamily="34" charset="0"/>
              </a:rPr>
              <a:t>What it does: Ingests a bundle of land documents (sale deed, EC, mutation, tax receipt, building plan), extracts structured data, validates against Indian land law (TPA, Roshni Act, tribal-land rules, RERA), flags fraud indicators, and produces a lawyer-style report graded by severity</a:t>
            </a:r>
          </a:p>
          <a:p>
            <a:r>
              <a:rPr lang="en-US" sz="1800">
                <a:latin typeface="Calibri" panose="020F0502020204030204" pitchFamily="34" charset="0"/>
              </a:rPr>
              <a:t>Outcome: Buyer gets a clear go / clarify / stop verdict in seconds instead of weeks of manual due diligence</a:t>
            </a:r>
          </a:p>
        </p:txBody>
      </p:sp>
    </p:spTree>
    <p:extLst>
      <p:ext uri="{BB962C8B-B14F-4D97-AF65-F5344CB8AC3E}">
        <p14:creationId xmlns:p14="http://schemas.microsoft.com/office/powerpoint/2010/main" val="380216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5A2B-DF2E-A2D5-74CB-D7A399C0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Solution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9055-AB7E-B5F9-5708-5318A398C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Calibri" panose="020F0502020204030204" pitchFamily="34" charset="0"/>
              </a:rPr>
              <a:t>Orchestrator (FastAPI on Cloud Run): receives the bundle, fans out parallel agent calls, streams progress via SSE, persists to Firestore</a:t>
            </a:r>
          </a:p>
          <a:p>
            <a:r>
              <a:rPr lang="en-US">
                <a:latin typeface="Calibri" panose="020F0502020204030204" pitchFamily="34" charset="0"/>
              </a:rPr>
              <a:t>Parser Agent (Gemini): reads PDFs natively, extracts parties, area, stamp duty, registration details, chain of title, dates</a:t>
            </a:r>
          </a:p>
          <a:p>
            <a:r>
              <a:rPr lang="en-US">
                <a:latin typeface="Calibri" panose="020F0502020204030204" pitchFamily="34" charset="0"/>
              </a:rPr>
              <a:t>Legal Rules Agent (Gemini): maps extracted data against Indian land law - registration, stamp duty, state restrictions, RERA</a:t>
            </a:r>
          </a:p>
          <a:p>
            <a:r>
              <a:rPr lang="en-US">
                <a:latin typeface="Calibri" panose="020F0502020204030204" pitchFamily="34" charset="0"/>
              </a:rPr>
              <a:t>Fraud Detection Agent (Gemini): flags name mismatches, chain-of-title gaps, undervaluation, fake registration patterns</a:t>
            </a:r>
          </a:p>
          <a:p>
            <a:r>
              <a:rPr lang="en-US">
                <a:latin typeface="Calibri" panose="020F0502020204030204" pitchFamily="34" charset="0"/>
              </a:rPr>
              <a:t>Report Agent (Gemini): consolidates findings into a lawyer-style summary with severity grading and recommendations</a:t>
            </a:r>
          </a:p>
          <a:p>
            <a:r>
              <a:rPr lang="en-US">
                <a:latin typeface="Calibri" panose="020F0502020204030204" pitchFamily="34" charset="0"/>
              </a:rPr>
              <a:t>Storage: GCS for source PDFs (signed URLs), Firestore for analysis state and audit log</a:t>
            </a:r>
          </a:p>
          <a:p>
            <a:r>
              <a:rPr lang="en-US">
                <a:latin typeface="Calibri" panose="020F0502020204030204" pitchFamily="34" charset="0"/>
              </a:rPr>
              <a:t>Frontend (Next.js on Cloud Run): dashboard, upload, real-time progress, report viewer - Firebase Auth gates access</a:t>
            </a:r>
          </a:p>
          <a:p>
            <a:r>
              <a:rPr lang="en-US">
                <a:latin typeface="Calibri" panose="020F0502020204030204" pitchFamily="34" charset="0"/>
              </a:rPr>
              <a:t>Observability: Cloud Logging + Monitoring - structured logs, agent latency, model cost, alerts</a:t>
            </a:r>
          </a:p>
        </p:txBody>
      </p:sp>
    </p:spTree>
    <p:extLst>
      <p:ext uri="{BB962C8B-B14F-4D97-AF65-F5344CB8AC3E}">
        <p14:creationId xmlns:p14="http://schemas.microsoft.com/office/powerpoint/2010/main" val="173019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977E-9183-30CE-987A-45551965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Solution Architecture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B1B94F-7591-FB51-EAEB-121FA56712FF}"/>
              </a:ext>
            </a:extLst>
          </p:cNvPr>
          <p:cNvSpPr/>
          <p:nvPr/>
        </p:nvSpPr>
        <p:spPr>
          <a:xfrm>
            <a:off x="508000" y="1524000"/>
            <a:ext cx="11176000" cy="635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5400" rIns="50800" bIns="25400" rtlCol="0" anchor="ctr"/>
          <a:lstStyle/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PRESENTATION</a:t>
            </a:r>
          </a:p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Next.js frontend on Cloud Run - Firebase Auth - dashboard - upload - real-time progress - report viewer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91654B-A031-CF93-A274-42970767BACB}"/>
              </a:ext>
            </a:extLst>
          </p:cNvPr>
          <p:cNvSpPr/>
          <p:nvPr/>
        </p:nvSpPr>
        <p:spPr>
          <a:xfrm>
            <a:off x="508000" y="2286000"/>
            <a:ext cx="11176000" cy="6350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5400" rIns="50800" bIns="25400" rtlCol="0" anchor="ctr"/>
          <a:lstStyle/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ORCHESTRATION</a:t>
            </a:r>
          </a:p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FastAPI orchestrator on Cloud Run - SSE streaming - fans out parallel agent calls - persists state to Firestore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A010C3-84CE-59EA-A908-C26A8F0FC4C5}"/>
              </a:ext>
            </a:extLst>
          </p:cNvPr>
          <p:cNvSpPr/>
          <p:nvPr/>
        </p:nvSpPr>
        <p:spPr>
          <a:xfrm>
            <a:off x="508000" y="3048000"/>
            <a:ext cx="11176000" cy="1270000"/>
          </a:xfrm>
          <a:prstGeom prst="roundRect">
            <a:avLst/>
          </a:prstGeom>
          <a:solidFill>
            <a:srgbClr val="FAF3DD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01600" rIns="50800" bIns="25400" rtlCol="0" anchor="t"/>
          <a:lstStyle/>
          <a:p>
            <a:r>
              <a:rPr lang="en-US" sz="1100" b="1">
                <a:solidFill>
                  <a:srgbClr val="B8860B"/>
                </a:solidFill>
                <a:latin typeface="Calibri" panose="020F0502020204030204" pitchFamily="34" charset="0"/>
              </a:rPr>
              <a:t>AGENTS (GEMINI 2.5-FLASH)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FFE5E5-A2C4-197F-5E4B-BDA1D1A2E5C8}"/>
              </a:ext>
            </a:extLst>
          </p:cNvPr>
          <p:cNvSpPr/>
          <p:nvPr/>
        </p:nvSpPr>
        <p:spPr>
          <a:xfrm>
            <a:off x="762000" y="3454400"/>
            <a:ext cx="2540000" cy="711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Parser</a:t>
            </a:r>
          </a:p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76CF58-B15F-B8BF-8DDC-C4EC812862E4}"/>
              </a:ext>
            </a:extLst>
          </p:cNvPr>
          <p:cNvSpPr/>
          <p:nvPr/>
        </p:nvSpPr>
        <p:spPr>
          <a:xfrm>
            <a:off x="3429000" y="3454400"/>
            <a:ext cx="2540000" cy="711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Legal Rules</a:t>
            </a:r>
          </a:p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31C2DA-28C1-882B-7BE1-6BD6E6E657FB}"/>
              </a:ext>
            </a:extLst>
          </p:cNvPr>
          <p:cNvSpPr/>
          <p:nvPr/>
        </p:nvSpPr>
        <p:spPr>
          <a:xfrm>
            <a:off x="6096000" y="3454400"/>
            <a:ext cx="2540000" cy="711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Fraud Detection</a:t>
            </a:r>
          </a:p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C632A2-D704-0F4A-1C30-46F0EE4A01E3}"/>
              </a:ext>
            </a:extLst>
          </p:cNvPr>
          <p:cNvSpPr/>
          <p:nvPr/>
        </p:nvSpPr>
        <p:spPr>
          <a:xfrm>
            <a:off x="8763000" y="3454400"/>
            <a:ext cx="2540000" cy="711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Report</a:t>
            </a:r>
          </a:p>
          <a:p>
            <a:pPr algn="ctr"/>
            <a:r>
              <a:rPr lang="en-US" sz="12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D1A91E-AC68-81DE-366F-3DDD81DB5F20}"/>
              </a:ext>
            </a:extLst>
          </p:cNvPr>
          <p:cNvSpPr/>
          <p:nvPr/>
        </p:nvSpPr>
        <p:spPr>
          <a:xfrm>
            <a:off x="508000" y="4445000"/>
            <a:ext cx="5334000" cy="635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B8C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5400" rIns="50800" bIns="25400" rtlCol="0" anchor="ctr"/>
          <a:lstStyle/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DATA</a:t>
            </a:r>
          </a:p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GCS (PDFs, signed URLs) - Firestore (findings, audit log)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B587ED-6818-D6C6-01A5-AA85C2229F76}"/>
              </a:ext>
            </a:extLst>
          </p:cNvPr>
          <p:cNvSpPr/>
          <p:nvPr/>
        </p:nvSpPr>
        <p:spPr>
          <a:xfrm>
            <a:off x="6350000" y="4445000"/>
            <a:ext cx="5334000" cy="635000"/>
          </a:xfrm>
          <a:prstGeom prst="roundRect">
            <a:avLst/>
          </a:prstGeom>
          <a:solidFill>
            <a:srgbClr val="E6EDF3"/>
          </a:solidFill>
          <a:ln w="9525">
            <a:solidFill>
              <a:srgbClr val="C8D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25400" rIns="50800" bIns="25400" rtlCol="0" anchor="ctr"/>
          <a:lstStyle/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CROSS-CUTTING</a:t>
            </a:r>
          </a:p>
          <a:p>
            <a:r>
              <a:rPr lang="en-US" sz="1100">
                <a:solidFill>
                  <a:srgbClr val="102A43"/>
                </a:solidFill>
                <a:latin typeface="Calibri" panose="020F0502020204030204" pitchFamily="34" charset="0"/>
              </a:rPr>
              <a:t>Cloud Logging - Monitoring - IAM - Secret Manager - Artifact Registry</a:t>
            </a:r>
          </a:p>
        </p:txBody>
      </p:sp>
    </p:spTree>
    <p:extLst>
      <p:ext uri="{BB962C8B-B14F-4D97-AF65-F5344CB8AC3E}">
        <p14:creationId xmlns:p14="http://schemas.microsoft.com/office/powerpoint/2010/main" val="3385334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F0DB-4810-CC5D-F50D-2D205C72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5D678-AAF4-B438-2301-939B4765B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>
                <a:latin typeface="Calibri" panose="020F0502020204030204" pitchFamily="34" charset="0"/>
              </a:rPr>
              <a:t>User uploads a bundle of land documents and selects state + land type</a:t>
            </a:r>
          </a:p>
          <a:p>
            <a:r>
              <a:rPr lang="en-US">
                <a:latin typeface="Calibri" panose="020F0502020204030204" pitchFamily="34" charset="0"/>
              </a:rPr>
              <a:t>Frontend pushes files to backend; backend stores them in GCS and creates a Firestore record</a:t>
            </a:r>
          </a:p>
          <a:p>
            <a:r>
              <a:rPr lang="en-US">
                <a:latin typeface="Calibri" panose="020F0502020204030204" pitchFamily="34" charset="0"/>
              </a:rPr>
              <a:t>Orchestrator triggers Parser Agent; Gemini reads each PDF and extracts structured fields</a:t>
            </a:r>
          </a:p>
          <a:p>
            <a:r>
              <a:rPr lang="en-US">
                <a:latin typeface="Calibri" panose="020F0502020204030204" pitchFamily="34" charset="0"/>
              </a:rPr>
              <a:t>Legal Rules Agent and Fraud Detection Agent run in parallel on the extracted data</a:t>
            </a:r>
          </a:p>
          <a:p>
            <a:r>
              <a:rPr lang="en-US">
                <a:latin typeface="Calibri" panose="020F0502020204030204" pitchFamily="34" charset="0"/>
              </a:rPr>
              <a:t>Findings are normalised, deduplicated, consolidated, and graded by severity</a:t>
            </a:r>
          </a:p>
          <a:p>
            <a:r>
              <a:rPr lang="en-US">
                <a:latin typeface="Calibri" panose="020F0502020204030204" pitchFamily="34" charset="0"/>
              </a:rPr>
              <a:t>Report Agent generates a lawyer-style summary with severity counts and recommended actions</a:t>
            </a:r>
          </a:p>
          <a:p>
            <a:r>
              <a:rPr lang="en-US">
                <a:latin typeface="Calibri" panose="020F0502020204030204" pitchFamily="34" charset="0"/>
              </a:rPr>
              <a:t>Backend persists the report to Firestore and streams progress to the frontend via SSE</a:t>
            </a:r>
          </a:p>
          <a:p>
            <a:r>
              <a:rPr lang="en-US">
                <a:latin typeface="Calibri" panose="020F0502020204030204" pitchFamily="34" charset="0"/>
              </a:rPr>
              <a:t>User views the report: property facts, findings, checklist, parties, document inventory</a:t>
            </a:r>
          </a:p>
          <a:p>
            <a:r>
              <a:rPr lang="en-US">
                <a:latin typeface="Calibri" panose="020F0502020204030204" pitchFamily="34" charset="0"/>
              </a:rPr>
              <a:t>Cloud Logging and Monitoring capture latency, errors, and cost throughout</a:t>
            </a:r>
          </a:p>
        </p:txBody>
      </p:sp>
    </p:spTree>
    <p:extLst>
      <p:ext uri="{BB962C8B-B14F-4D97-AF65-F5344CB8AC3E}">
        <p14:creationId xmlns:p14="http://schemas.microsoft.com/office/powerpoint/2010/main" val="305955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907F-3C46-AF81-9FD8-291E7A77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Flow Diagram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9C9E20-4D07-3896-7A37-B2C847087538}"/>
              </a:ext>
            </a:extLst>
          </p:cNvPr>
          <p:cNvSpPr/>
          <p:nvPr/>
        </p:nvSpPr>
        <p:spPr>
          <a:xfrm>
            <a:off x="508000" y="1524000"/>
            <a:ext cx="1778000" cy="7112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F3A5F"/>
                </a:solidFill>
                <a:latin typeface="Calibri" panose="020F0502020204030204" pitchFamily="34" charset="0"/>
              </a:rPr>
              <a:t>User</a:t>
            </a:r>
          </a:p>
          <a:p>
            <a:pPr algn="ctr"/>
            <a:endParaRPr lang="en-US" sz="1100" b="1">
              <a:solidFill>
                <a:srgbClr val="1F3A5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5264C1-02B1-6125-DA54-4AB33E126A04}"/>
              </a:ext>
            </a:extLst>
          </p:cNvPr>
          <p:cNvSpPr/>
          <p:nvPr/>
        </p:nvSpPr>
        <p:spPr>
          <a:xfrm>
            <a:off x="2603500" y="1524000"/>
            <a:ext cx="1778000" cy="7112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F3A5F"/>
                </a:solidFill>
                <a:latin typeface="Calibri" panose="020F0502020204030204" pitchFamily="34" charset="0"/>
              </a:rPr>
              <a:t>Next.js</a:t>
            </a:r>
          </a:p>
          <a:p>
            <a:pPr algn="ctr"/>
            <a:r>
              <a:rPr lang="en-US" sz="1100" b="1">
                <a:solidFill>
                  <a:srgbClr val="1F3A5F"/>
                </a:solidFill>
                <a:latin typeface="Calibri" panose="020F0502020204030204" pitchFamily="34" charset="0"/>
              </a:rPr>
              <a:t>Frontend / Cloud Run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F930C6-EE54-4E91-E136-2CCBD5A1BF06}"/>
              </a:ext>
            </a:extLst>
          </p:cNvPr>
          <p:cNvSpPr/>
          <p:nvPr/>
        </p:nvSpPr>
        <p:spPr>
          <a:xfrm>
            <a:off x="4699000" y="1524000"/>
            <a:ext cx="1778000" cy="7112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Orchestrator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FastAPI / Cloud Run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ACC94-1DAC-485A-DF6E-AAF53B6D7BF5}"/>
              </a:ext>
            </a:extLst>
          </p:cNvPr>
          <p:cNvSpPr/>
          <p:nvPr/>
        </p:nvSpPr>
        <p:spPr>
          <a:xfrm>
            <a:off x="6794500" y="1524000"/>
            <a:ext cx="1778000" cy="7112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B8C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GCS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PDFs (signed URL)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5725B8-A8CB-4A57-041D-71ED927CC504}"/>
              </a:ext>
            </a:extLst>
          </p:cNvPr>
          <p:cNvSpPr/>
          <p:nvPr/>
        </p:nvSpPr>
        <p:spPr>
          <a:xfrm>
            <a:off x="8890000" y="1524000"/>
            <a:ext cx="1778000" cy="7112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B8C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Firestore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Findings + audit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BED2DC-2B89-05A2-6613-C5B4656817A1}"/>
              </a:ext>
            </a:extLst>
          </p:cNvPr>
          <p:cNvCxnSpPr/>
          <p:nvPr/>
        </p:nvCxnSpPr>
        <p:spPr>
          <a:xfrm>
            <a:off x="2286000" y="1879600"/>
            <a:ext cx="317500" cy="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D5118F-D376-28B7-27FF-73CC1F031350}"/>
              </a:ext>
            </a:extLst>
          </p:cNvPr>
          <p:cNvCxnSpPr/>
          <p:nvPr/>
        </p:nvCxnSpPr>
        <p:spPr>
          <a:xfrm>
            <a:off x="4381500" y="1879600"/>
            <a:ext cx="317500" cy="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603237-C7E7-0BD3-ADBA-0A00EBB80199}"/>
              </a:ext>
            </a:extLst>
          </p:cNvPr>
          <p:cNvCxnSpPr/>
          <p:nvPr/>
        </p:nvCxnSpPr>
        <p:spPr>
          <a:xfrm>
            <a:off x="6477000" y="1879600"/>
            <a:ext cx="317500" cy="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611FDD-5319-E823-F116-9B4E65133932}"/>
              </a:ext>
            </a:extLst>
          </p:cNvPr>
          <p:cNvCxnSpPr/>
          <p:nvPr/>
        </p:nvCxnSpPr>
        <p:spPr>
          <a:xfrm>
            <a:off x="8572500" y="1879600"/>
            <a:ext cx="317500" cy="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F71E07-DB58-92E8-BCD6-B17C29842266}"/>
              </a:ext>
            </a:extLst>
          </p:cNvPr>
          <p:cNvCxnSpPr/>
          <p:nvPr/>
        </p:nvCxnSpPr>
        <p:spPr>
          <a:xfrm>
            <a:off x="5588000" y="2235200"/>
            <a:ext cx="0" cy="38100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6AD73B-A9E0-437D-60E1-8602DD3777A3}"/>
              </a:ext>
            </a:extLst>
          </p:cNvPr>
          <p:cNvSpPr/>
          <p:nvPr/>
        </p:nvSpPr>
        <p:spPr>
          <a:xfrm>
            <a:off x="1143000" y="2679700"/>
            <a:ext cx="2286000" cy="711200"/>
          </a:xfrm>
          <a:prstGeom prst="roundRect">
            <a:avLst/>
          </a:prstGeom>
          <a:solidFill>
            <a:srgbClr val="FAF3DD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Parser Agent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292360-2995-0159-9F6E-76B662604D80}"/>
              </a:ext>
            </a:extLst>
          </p:cNvPr>
          <p:cNvSpPr/>
          <p:nvPr/>
        </p:nvSpPr>
        <p:spPr>
          <a:xfrm>
            <a:off x="3683000" y="2679700"/>
            <a:ext cx="2286000" cy="711200"/>
          </a:xfrm>
          <a:prstGeom prst="roundRect">
            <a:avLst/>
          </a:prstGeom>
          <a:solidFill>
            <a:srgbClr val="FAF3DD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Legal Agent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219D2D-36EF-9869-F98D-6CD76C47DCC3}"/>
              </a:ext>
            </a:extLst>
          </p:cNvPr>
          <p:cNvSpPr/>
          <p:nvPr/>
        </p:nvSpPr>
        <p:spPr>
          <a:xfrm>
            <a:off x="6223000" y="2679700"/>
            <a:ext cx="2286000" cy="711200"/>
          </a:xfrm>
          <a:prstGeom prst="roundRect">
            <a:avLst/>
          </a:prstGeom>
          <a:solidFill>
            <a:srgbClr val="FAF3DD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Fraud Agent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C71164-E0C8-B153-A627-4328AF001712}"/>
              </a:ext>
            </a:extLst>
          </p:cNvPr>
          <p:cNvSpPr/>
          <p:nvPr/>
        </p:nvSpPr>
        <p:spPr>
          <a:xfrm>
            <a:off x="8763000" y="2679700"/>
            <a:ext cx="2286000" cy="711200"/>
          </a:xfrm>
          <a:prstGeom prst="roundRect">
            <a:avLst/>
          </a:prstGeom>
          <a:solidFill>
            <a:srgbClr val="FAF3DD"/>
          </a:solidFill>
          <a:ln w="9525">
            <a:solidFill>
              <a:srgbClr val="DAB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Report Agent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Gemini 2.5-flash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4E1C21-CDEA-7717-29A1-E3BA0374A85C}"/>
              </a:ext>
            </a:extLst>
          </p:cNvPr>
          <p:cNvCxnSpPr/>
          <p:nvPr/>
        </p:nvCxnSpPr>
        <p:spPr>
          <a:xfrm>
            <a:off x="6096000" y="3390900"/>
            <a:ext cx="0" cy="31750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966B17-8B8F-CE38-7844-8B6A79D88C11}"/>
              </a:ext>
            </a:extLst>
          </p:cNvPr>
          <p:cNvSpPr/>
          <p:nvPr/>
        </p:nvSpPr>
        <p:spPr>
          <a:xfrm>
            <a:off x="3556000" y="3708400"/>
            <a:ext cx="5080000" cy="635000"/>
          </a:xfrm>
          <a:prstGeom prst="roundRect">
            <a:avLst/>
          </a:prstGeom>
          <a:solidFill>
            <a:srgbClr val="E6EDF3"/>
          </a:solidFill>
          <a:ln w="9525">
            <a:solidFill>
              <a:srgbClr val="C8D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Consolidation + Severity Grading</a:t>
            </a:r>
          </a:p>
          <a:p>
            <a:pPr algn="ctr"/>
            <a:r>
              <a:rPr lang="en-US" sz="1100" b="1">
                <a:solidFill>
                  <a:srgbClr val="102A43"/>
                </a:solidFill>
                <a:latin typeface="Calibri" panose="020F0502020204030204" pitchFamily="34" charset="0"/>
              </a:rPr>
              <a:t>dedupe - combine related - grade low/medium/high/critical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D9E72-68B8-25F8-DCBE-0912B4C6B9A1}"/>
              </a:ext>
            </a:extLst>
          </p:cNvPr>
          <p:cNvCxnSpPr/>
          <p:nvPr/>
        </p:nvCxnSpPr>
        <p:spPr>
          <a:xfrm>
            <a:off x="6096000" y="4343400"/>
            <a:ext cx="0" cy="127000"/>
          </a:xfrm>
          <a:prstGeom prst="straightConnector1">
            <a:avLst/>
          </a:prstGeom>
          <a:ln w="19050">
            <a:solidFill>
              <a:srgbClr val="4A64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2B666F-CE10-865F-C4D7-4A80EE30C76C}"/>
              </a:ext>
            </a:extLst>
          </p:cNvPr>
          <p:cNvSpPr/>
          <p:nvPr/>
        </p:nvSpPr>
        <p:spPr>
          <a:xfrm>
            <a:off x="3556000" y="4470400"/>
            <a:ext cx="5080000" cy="584200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C8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sz="1100" b="1">
                <a:solidFill>
                  <a:srgbClr val="1F3A5F"/>
                </a:solidFill>
                <a:latin typeface="Calibri" panose="020F0502020204030204" pitchFamily="34" charset="0"/>
              </a:rPr>
              <a:t>Final Report streamed to Frontend (SSE)</a:t>
            </a:r>
          </a:p>
          <a:p>
            <a:pPr algn="ctr"/>
            <a:r>
              <a:rPr lang="en-US" sz="1100" b="1">
                <a:solidFill>
                  <a:srgbClr val="1F3A5F"/>
                </a:solidFill>
                <a:latin typeface="Calibri" panose="020F0502020204030204" pitchFamily="34" charset="0"/>
              </a:rPr>
              <a:t>property facts - findings - checklist - parties</a:t>
            </a:r>
          </a:p>
        </p:txBody>
      </p:sp>
    </p:spTree>
    <p:extLst>
      <p:ext uri="{BB962C8B-B14F-4D97-AF65-F5344CB8AC3E}">
        <p14:creationId xmlns:p14="http://schemas.microsoft.com/office/powerpoint/2010/main" val="398572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0E1C-8A6A-C68F-2655-3E3FF3BD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Agent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AA307-163D-114F-6FC9-F45D22F63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latin typeface="Calibri" panose="020F0502020204030204" pitchFamily="34" charset="0"/>
              </a:rPr>
              <a:t>Orchestrator (controller): primary entry point - validates the bundle and coordinates the rest</a:t>
            </a:r>
          </a:p>
          <a:p>
            <a:r>
              <a:rPr lang="en-US" sz="1800">
                <a:latin typeface="Calibri" panose="020F0502020204030204" pitchFamily="34" charset="0"/>
              </a:rPr>
              <a:t>Fan-out: Parser first, then Legal + Fraud in parallel, then Report - progress streamed via SSE</a:t>
            </a:r>
          </a:p>
          <a:p>
            <a:r>
              <a:rPr lang="en-US" sz="1800">
                <a:latin typeface="Calibri" panose="020F0502020204030204" pitchFamily="34" charset="0"/>
              </a:rPr>
              <a:t>Each specialised Gemini agent has its own focused system prompt and JSON output schema</a:t>
            </a:r>
          </a:p>
          <a:p>
            <a:r>
              <a:rPr lang="en-US" sz="1800">
                <a:latin typeface="Calibri" panose="020F0502020204030204" pitchFamily="34" charset="0"/>
              </a:rPr>
              <a:t>Parser is multimodal (reads PDFs natively); the rest consume structured JSON</a:t>
            </a:r>
          </a:p>
          <a:p>
            <a:r>
              <a:rPr lang="en-US" sz="1800">
                <a:latin typeface="Calibri" panose="020F0502020204030204" pitchFamily="34" charset="0"/>
              </a:rPr>
              <a:t>Stateless agents exchange JSON, allowing easy retry and parallelism</a:t>
            </a:r>
          </a:p>
          <a:p>
            <a:r>
              <a:rPr lang="en-US" sz="1800">
                <a:latin typeface="Calibri" panose="020F0502020204030204" pitchFamily="34" charset="0"/>
              </a:rPr>
              <a:t>In-process Python calls today (sub-second latency, lower cost)</a:t>
            </a:r>
          </a:p>
          <a:p>
            <a:r>
              <a:rPr lang="en-US" sz="1800">
                <a:latin typeface="Calibri" panose="020F0502020204030204" pitchFamily="34" charset="0"/>
              </a:rPr>
              <a:t>Designed so any agent can be promoted to its own Cloud Run service via HTTP/JSON</a:t>
            </a:r>
          </a:p>
          <a:p>
            <a:r>
              <a:rPr lang="en-US" sz="1800">
                <a:latin typeface="Calibri" panose="020F0502020204030204" pitchFamily="34" charset="0"/>
              </a:rPr>
              <a:t>A shared ExtractedData schema keeps contracts stable across agents</a:t>
            </a:r>
          </a:p>
        </p:txBody>
      </p:sp>
    </p:spTree>
    <p:extLst>
      <p:ext uri="{BB962C8B-B14F-4D97-AF65-F5344CB8AC3E}">
        <p14:creationId xmlns:p14="http://schemas.microsoft.com/office/powerpoint/2010/main" val="372024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7816-BF34-DCFC-D606-9A7392B3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Agent Details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374C98-B451-4AA2-9657-FE2047DEE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02998"/>
              </p:ext>
            </p:extLst>
          </p:nvPr>
        </p:nvGraphicFramePr>
        <p:xfrm>
          <a:off x="508000" y="1397000"/>
          <a:ext cx="11176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795509212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39915106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79695251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r>
                        <a:rPr lang="en-US" b="1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Google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93789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Receives the bundle, fans out parallel agent calls, streams progress, persists state.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FastAPI / Cloud Run + Firestore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374324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Parser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Reads PDFs natively. Extracts parties, area, stamp duty, registration details, chain of title.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Vertex AI Gemini 2.5-flash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0495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Legal Rules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Maps extracted data against Indian land law. Flags only concrete document-specific issues.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Vertex AI Gemini 2.5-flash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14866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Fraud Detection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Detects name mismatches, chain-of-title gaps, undervaluation. Consolidates related observations.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Vertex AI Gemini 2.5-flash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786509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r>
                        <a:rPr lang="en-US"/>
                        <a:t>Report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Synthesises findings into a lawyer-style summary, grades severity, and recommends next steps.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Vertex AI Gemini 2.5-flash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29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6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9C42-5090-F908-DF22-F73580CC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22569-1269-DA4E-8065-B43F8C4B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Calibri" panose="020F0502020204030204" pitchFamily="34" charset="0"/>
              </a:rPr>
              <a:t>Frontend (Next.js): Dockerised, deployed to Cloud Run, CDN-cached static assets</a:t>
            </a:r>
          </a:p>
          <a:p>
            <a:r>
              <a:rPr lang="en-US">
                <a:latin typeface="Calibri" panose="020F0502020204030204" pitchFamily="34" charset="0"/>
              </a:rPr>
              <a:t>Backend (FastAPI): Dockerised, deployed to Cloud Run, auto-scales 0 -&gt; N, Gunicorn + Uvicorn workers</a:t>
            </a:r>
          </a:p>
          <a:p>
            <a:r>
              <a:rPr lang="en-US">
                <a:latin typeface="Calibri" panose="020F0502020204030204" pitchFamily="34" charset="0"/>
              </a:rPr>
              <a:t>CI/CD: GitHub push -&gt; Cloud Build -&gt; builds both images -&gt; Artifact Registry -&gt; deploys to Cloud Run</a:t>
            </a:r>
          </a:p>
          <a:p>
            <a:r>
              <a:rPr lang="en-US">
                <a:latin typeface="Calibri" panose="020F0502020204030204" pitchFamily="34" charset="0"/>
              </a:rPr>
              <a:t>Artifact Registry: stores backend + frontend Docker images, vulnerability scanning enabled</a:t>
            </a:r>
          </a:p>
          <a:p>
            <a:r>
              <a:rPr lang="en-US">
                <a:latin typeface="Calibri" panose="020F0502020204030204" pitchFamily="34" charset="0"/>
              </a:rPr>
              <a:t>Secret Manager: holds Gemini API keys and Firebase admin credentials; Cloud Run reads at startup</a:t>
            </a:r>
          </a:p>
          <a:p>
            <a:r>
              <a:rPr lang="en-US">
                <a:latin typeface="Calibri" panose="020F0502020204030204" pitchFamily="34" charset="0"/>
              </a:rPr>
              <a:t>Cloud Storage: bucket for uploaded documents, signed URLs with short TTL, lifecycle expiry</a:t>
            </a:r>
          </a:p>
          <a:p>
            <a:r>
              <a:rPr lang="en-US">
                <a:latin typeface="Calibri" panose="020F0502020204030204" pitchFamily="34" charset="0"/>
              </a:rPr>
              <a:t>Firestore: native-mode database, stores analysis records, findings, audit log</a:t>
            </a:r>
          </a:p>
          <a:p>
            <a:r>
              <a:rPr lang="en-US">
                <a:latin typeface="Calibri" panose="020F0502020204030204" pitchFamily="34" charset="0"/>
              </a:rPr>
              <a:t>IAM: dedicated service account per Cloud Run service, least-privilege on Firestore / GCS / Secret Manager</a:t>
            </a:r>
          </a:p>
          <a:p>
            <a:r>
              <a:rPr lang="en-US">
                <a:latin typeface="Calibri" panose="020F0502020204030204" pitchFamily="34" charset="0"/>
              </a:rPr>
              <a:t>Logging &amp; Monitoring: structured JSON logs, alerts on error rate and Gemini latency</a:t>
            </a:r>
          </a:p>
          <a:p>
            <a:r>
              <a:rPr lang="en-US">
                <a:latin typeface="Calibri" panose="020F0502020204030204" pitchFamily="34" charset="0"/>
              </a:rPr>
              <a:t>Firebase Auth: email/password and Google sign-in, ID tokens verified server-side per request</a:t>
            </a:r>
          </a:p>
        </p:txBody>
      </p:sp>
    </p:spTree>
    <p:extLst>
      <p:ext uri="{BB962C8B-B14F-4D97-AF65-F5344CB8AC3E}">
        <p14:creationId xmlns:p14="http://schemas.microsoft.com/office/powerpoint/2010/main" val="3107219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46CF-605A-5B1E-1405-717D207C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Google 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AF5ED-8046-B8B5-E045-66F151B6D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latin typeface="Calibri" panose="020F0502020204030204" pitchFamily="34" charset="0"/>
              </a:rPr>
              <a:t>Vertex AI Gemini 2.5 - multimodal reasoning for parsing, legal analysis, fraud detection, report synthesis</a:t>
            </a:r>
          </a:p>
          <a:p>
            <a:r>
              <a:rPr lang="en-US">
                <a:latin typeface="Calibri" panose="020F0502020204030204" pitchFamily="34" charset="0"/>
              </a:rPr>
              <a:t>Cloud Run - serverless container hosting for FastAPI backend and Next.js frontend; auto-scales per request</a:t>
            </a:r>
          </a:p>
          <a:p>
            <a:r>
              <a:rPr lang="en-US">
                <a:latin typeface="Calibri" panose="020F0502020204030204" pitchFamily="34" charset="0"/>
              </a:rPr>
              <a:t>Cloud Storage - signed-URL storage for uploaded land documents</a:t>
            </a:r>
          </a:p>
          <a:p>
            <a:r>
              <a:rPr lang="en-US">
                <a:latin typeface="Calibri" panose="020F0502020204030204" pitchFamily="34" charset="0"/>
              </a:rPr>
              <a:t>Firestore - document database for analysis state, bundles, findings, audit trail</a:t>
            </a:r>
          </a:p>
          <a:p>
            <a:r>
              <a:rPr lang="en-US">
                <a:latin typeface="Calibri" panose="020F0502020204030204" pitchFamily="34" charset="0"/>
              </a:rPr>
              <a:t>Firebase Authentication - email/password and Google sign-in with secure tokens to the backend</a:t>
            </a:r>
          </a:p>
          <a:p>
            <a:r>
              <a:rPr lang="en-US">
                <a:latin typeface="Calibri" panose="020F0502020204030204" pitchFamily="34" charset="0"/>
              </a:rPr>
              <a:t>Cloud Build - GitHub push triggers Docker build, image push, Cloud Run deploy</a:t>
            </a:r>
          </a:p>
          <a:p>
            <a:r>
              <a:rPr lang="en-US">
                <a:latin typeface="Calibri" panose="020F0502020204030204" pitchFamily="34" charset="0"/>
              </a:rPr>
              <a:t>Artifact Registry - container image storage for backend and frontend</a:t>
            </a:r>
          </a:p>
          <a:p>
            <a:r>
              <a:rPr lang="en-US">
                <a:latin typeface="Calibri" panose="020F0502020204030204" pitchFamily="34" charset="0"/>
              </a:rPr>
              <a:t>Secret Manager - Gemini API keys and Firebase admin credentials at rest</a:t>
            </a:r>
          </a:p>
          <a:p>
            <a:r>
              <a:rPr lang="en-US">
                <a:latin typeface="Calibri" panose="020F0502020204030204" pitchFamily="34" charset="0"/>
              </a:rPr>
              <a:t>Cloud Logging &amp; Monitoring - centralised structured logs, latency metrics, error alerting</a:t>
            </a:r>
          </a:p>
          <a:p>
            <a:r>
              <a:rPr lang="en-US">
                <a:latin typeface="Calibri" panose="020F0502020204030204" pitchFamily="34" charset="0"/>
              </a:rPr>
              <a:t>IAM - least-privilege service accounts for Cloud Run, Firestore, and GCS</a:t>
            </a:r>
          </a:p>
        </p:txBody>
      </p:sp>
    </p:spTree>
    <p:extLst>
      <p:ext uri="{BB962C8B-B14F-4D97-AF65-F5344CB8AC3E}">
        <p14:creationId xmlns:p14="http://schemas.microsoft.com/office/powerpoint/2010/main" val="205641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160E-548B-9B03-C0F2-ED881EF1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How did we arrive at this solution?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20687-932F-1C37-E6FF-90927195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latin typeface="Calibri" panose="020F0502020204030204" pitchFamily="34" charset="0"/>
              </a:rPr>
              <a:t>Problem observed: Indian land transactions involve 8-10 documents per deal; buyers cannot verify them alone</a:t>
            </a:r>
          </a:p>
          <a:p>
            <a:r>
              <a:rPr lang="en-US" sz="1800">
                <a:latin typeface="Calibri" panose="020F0502020204030204" pitchFamily="34" charset="0"/>
              </a:rPr>
              <a:t>Lawyers are expensive and slow; fraud patterns (Roshni Act, tribal land, benami) are hard to spot manually</a:t>
            </a:r>
          </a:p>
          <a:p>
            <a:r>
              <a:rPr lang="en-US" sz="1800">
                <a:latin typeface="Calibri" panose="020F0502020204030204" pitchFamily="34" charset="0"/>
              </a:rPr>
              <a:t>Why an AI agent: Gemini 2.5 reads multi-page PDFs natively and extracts structured fields with high accuracy</a:t>
            </a:r>
          </a:p>
          <a:p>
            <a:r>
              <a:rPr lang="en-US" sz="1800">
                <a:latin typeface="Calibri" panose="020F0502020204030204" pitchFamily="34" charset="0"/>
              </a:rPr>
              <a:t>A multi-agent layout runs parser, legal, fraud, and report agents in parallel with focused prompts</a:t>
            </a:r>
          </a:p>
          <a:p>
            <a:r>
              <a:rPr lang="en-US" sz="1800">
                <a:latin typeface="Calibri" panose="020F0502020204030204" pitchFamily="34" charset="0"/>
              </a:rPr>
              <a:t>Findings are consolidated and graded, so the user gets a lawyer-style summary, not raw text</a:t>
            </a:r>
          </a:p>
          <a:p>
            <a:r>
              <a:rPr lang="en-US" sz="1800">
                <a:latin typeface="Calibri" panose="020F0502020204030204" pitchFamily="34" charset="0"/>
              </a:rPr>
              <a:t>Why Google Cloud: Vertex AI Gemini gives best-in-class multimodal reasoning without managing models ourselves</a:t>
            </a:r>
          </a:p>
          <a:p>
            <a:r>
              <a:rPr lang="en-US" sz="1800">
                <a:latin typeface="Calibri" panose="020F0502020204030204" pitchFamily="34" charset="0"/>
              </a:rPr>
              <a:t>Cloud Run + Firestore scales from one document to thousands without infra work</a:t>
            </a:r>
          </a:p>
          <a:p>
            <a:r>
              <a:rPr lang="en-US" sz="1800">
                <a:latin typeface="Calibri" panose="020F0502020204030204" pitchFamily="34" charset="0"/>
              </a:rPr>
              <a:t>Firebase Auth + IAM gives a clean security boundary for sensitive land data</a:t>
            </a:r>
          </a:p>
        </p:txBody>
      </p:sp>
    </p:spTree>
    <p:extLst>
      <p:ext uri="{BB962C8B-B14F-4D97-AF65-F5344CB8AC3E}">
        <p14:creationId xmlns:p14="http://schemas.microsoft.com/office/powerpoint/2010/main" val="2951519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0D0E-ED1D-DA09-5128-9FE6564C8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6D22F-AB46-628C-4B6F-F4A8A6016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</a:rPr>
              <a:t>Landshield - verify your land. Before you sign.</a:t>
            </a:r>
          </a:p>
        </p:txBody>
      </p:sp>
    </p:spTree>
    <p:extLst>
      <p:ext uri="{BB962C8B-B14F-4D97-AF65-F5344CB8AC3E}">
        <p14:creationId xmlns:p14="http://schemas.microsoft.com/office/powerpoint/2010/main" val="8009177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1281</Words>
  <Application>Microsoft Office PowerPoint</Application>
  <PresentationFormat>Custom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Gill Sans MT</vt:lpstr>
      <vt:lpstr>Gallery</vt:lpstr>
      <vt:lpstr>Landshield</vt:lpstr>
      <vt:lpstr>Team &amp; Use Case</vt:lpstr>
      <vt:lpstr>Solution Design</vt:lpstr>
      <vt:lpstr>Solution Architecture</vt:lpstr>
      <vt:lpstr>Data Flow</vt:lpstr>
      <vt:lpstr>Flow Diagram</vt:lpstr>
      <vt:lpstr>Agent Design</vt:lpstr>
      <vt:lpstr>Agent Details</vt:lpstr>
      <vt:lpstr>Deployment</vt:lpstr>
      <vt:lpstr>Google Technology Stack</vt:lpstr>
      <vt:lpstr>How did we arrive at this solution?</vt:lpstr>
      <vt:lpstr>Thank You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Partap Singh</dc:creator>
  <cp:lastModifiedBy>Abhishek Partap Singh</cp:lastModifiedBy>
  <cp:revision>1</cp:revision>
  <dcterms:created xsi:type="dcterms:W3CDTF">2026-05-20T17:02:47Z</dcterms:created>
  <dcterms:modified xsi:type="dcterms:W3CDTF">2026-05-20T17:02:48Z</dcterms:modified>
</cp:coreProperties>
</file>